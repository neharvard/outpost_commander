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01 WHO" id="{C5597779-0602-5487-9822-E9EADB877031}">
          <p14:sldIdLst>
            <p14:sldId id="256"/>
            <p14:sldId id="257"/>
            <p14:sldId id="258"/>
            <p14:sldId id="259"/>
          </p14:sldIdLst>
        </p14:section>
        <p14:section name="02 WHY" id="{27C583DC-F9C3-6D4E-B7CD-E740F4BA413D}">
          <p14:sldIdLst>
            <p14:sldId id="260"/>
            <p14:sldId id="261"/>
            <p14:sldId id="262"/>
          </p14:sldIdLst>
        </p14:section>
        <p14:section name="03 WHAT" id="{31550E77-AF4A-4605-8A7C-A89F238ADA95}">
          <p14:sldIdLst>
            <p14:sldId id="263"/>
            <p14:sldId id="264"/>
            <p14:sldId id="265"/>
            <p14:sldId id="266"/>
            <p14:sldId id="267"/>
            <p14:sldId id="268"/>
          </p14:sldIdLst>
        </p14:section>
        <p14:section name="04 HOW" id="{26CB9702-3F3A-466B-E41E-35CBC49900F3}">
          <p14:sldIdLst>
            <p14:sldId id="269"/>
            <p14:sldId id="270"/>
            <p14:sldId id="271"/>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1" d="100"/>
          <a:sy n="121" d="100"/>
        </p:scale>
        <p:origin x="34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358188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0:00-0:15 | HOOK
VOICE-OVER: "Could you keep four astronauts alive on the Moon for 30 days? Not by luck. By power, air, water, food, and a plan. Today, you will try."
VISUAL: Dark space, slow zoom to the Moon. Four gold dots appear one by one under it, then a 30-day counter ticks up. Music: soft, hopeful, low.</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0:15-0:25 | TITLE
VOICE-OVER: "This is Outpost Commander, a free game where you run a Moon or Mars base."
VISUAL: Title text animates in over slowly orbiting rings. No NASA logos.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0:25-0:42 | TEAM INTRO
VOICE-OVER: "We are Team Hope. Tasnimul Jannat Niha, our team leader, and Umme Kulsum Neha, our developer. We built this game for the NASA Space Apps Challenge."
VISUAL: Replace the two dashed circles with your profile pictures (right-click &gt; Change Picture, or drop a circle-cropped image on top). Names fade in under each photo.</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0:42-1:00 | WHY WE BUILT IT (say it with passion)
VOICE-OVER: "Space is one of humanity's biggest efforts, yet most people never learn why living on the Moon or Mars is so hard. We wanted to change that. So we turned it into a game, free for everyone."
VISUAL: Three cards slide in left to right, gold arrows pulse between them.</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1:00-1:25 | THE PROBLEM
VOICE-OVER: "The problem has three parts. First, space survival is hard to picture. Radiation, power and life support feel like abstract ideas. Second, there are few safe places to practise planning on a budget, make a mistake, and try again. Third, many learning tools need money or fast internet."
VISUAL: Each card lights up as its part is spoken (about 8 seconds each).</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1:25-1:45 | WHO IT AFFECTS
VOICE-OVER: "This affects children and students, teachers, families and science clubs, and most of all, communities with fewer resources. If a tool needs a paid account or fast internet, they are left out."
VISUAL: The four tiles appear one by one; the last tile (low-resource communities) glows orange.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1:45-2:00 | ONE SHORT STORY (no characters)
VOICE-OVER: "Imagine one dusty week. The Sun is hidden. Power falls. One machine breaks. And a whole crew is in danger. Without a backup plan, small problems grow fast. That is what we want everyone to feel, and to learn."
VISUAL: The power bars shrink step by step as each line is spoken. Soft music dips, then rises on the last line.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2:00-2:07 | WHAT IT IS
VOICE-OVER: "Outpost Commander is a browser game. One file. No install. It even works offline."
VISUAL: Browser frame appears, the four features tick on one by one.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2:07-2:19 | ANIMATED FLOW (3 steps, daily loop, report)
VOICE-OVER: "Pick a world. Build your base. Launch. Then every day, an event may hit, systems update, and a short lesson explains why it matters. At the end, you get a report."
VISUAL: Steps light up in order, the loop arrows spin once per beat, the gold report pill glows last.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2:19-2:31 | DEMO: PICK WORLD + BUILD
VOICE-OVER: "Spend 100 launch points on eight parts, from solar panels to radiation shields. A forecast marks each need Safe, Close, or Not enough."
VISUAL: Play your screen recording of choosing Moon/Mars and building the base in the dashed frame. Parts list stays beside it.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2:31-2:41 | DEMO: DAILY SIMULATION
VOICE-OVER: "Then survive 30 days, watching six meters. The Moon has a 15-day night. Mars has dust storms. Solar flares and life support faults can strike."
VISUAL: Screen recording of pressing Next day, meters moving, an event popping up and the green "Why it matters" line.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2:41-2:51 | DEMO: SOLAR FLARE CHOICE
VOICE-OVER: "When a solar flare hits, you choose: shelter, or keep working. Sheltering cuts radiation, but nobody tends the greenhouse that day. Every choice has a trade-off."
VISUAL: Screen recording of the flare pop-up and the player picking an option.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2:51-3:00 | DEMO: END REPORT
VOICE-OVER: "At the end, your report shows your score, what went wrong, and what you learned. Then you try again."
VISUAL: Screen recording of the end screen with score, stars and lessons.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3:00-3:15 | IMPACT: WHAT PLAYERS LEARN
VOICE-OVER: "Players learn that power runs everything. Radiation is real. You cannot bring everything. And every world is different."
VISUAL: Four cards pop in on the beat of each sentence.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3:15-3:28 | SKILLS AND REACH
VOICE-OVER: "They practise planning, trade-offs and backup thinking, and it sparks curiosity in young people. And because it is free and offline, it reaches children, teachers, clubs, families, and low-resource communities."
VISUAL: Left list ticks on, then right pills slide in; last pill glows orange.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3:28-3:40 | FUTURE
VOICE-OVER: "Next: more worlds, real NASA data, many languages, classroom tools, multiplayer, and accessibility."
VISUAL: Six tiles appear in a quick left-to-right cascade.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3:40-3:48 | WHAT WE NEED NEXT
VOICE-OVER: "To get there, we need mentoring, classroom testing, and translation help."
NOTE: These three are placeholders from your brief (the [FILL IN] examples). Edit the three cards and this line if your real needs are different.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3:48-4:00 | CLOSE
VOICE-OVER: "Learn space by running it. We are Team Hope: Tasnimul Jannat Niha and Umme Kulsum Neha. Play it free at neharvard.github.io/Outpost_Commander."
VISUAL: Title line, both names, link. If you add the gameplay video afterwards, place it after this slide.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457200" y="4754880"/>
            <a:ext cx="4572000" cy="228600"/>
          </a:xfrm>
          <a:prstGeom prst="rect">
            <a:avLst/>
          </a:prstGeom>
          <a:noFill/>
          <a:ln/>
        </p:spPr>
        <p:txBody>
          <a:bodyPr wrap="square" lIns="0" tIns="0" rIns="0" bIns="0" rtlCol="0" anchor="ctr"/>
          <a:lstStyle/>
          <a:p>
            <a:pPr marL="0" indent="0">
              <a:buNone/>
            </a:pPr>
            <a:r>
              <a:rPr lang="en-US" sz="1000" dirty="0">
                <a:solidFill>
                  <a:schemeClr val="accent6"/>
                </a:solidFill>
              </a:rPr>
              <a:t>Outpost Commander  |  Team Hope</a:t>
            </a:r>
            <a:endParaRPr lang="en-US" sz="1000" dirty="0"/>
          </a:p>
        </p:txBody>
      </p:sp>
      <p:sp>
        <p:nvSpPr>
          <p:cNvPr id="3" name="Text 1"/>
          <p:cNvSpPr>
            <a:spLocks noGrp="1"/>
          </p:cNvSpPr>
          <p:nvPr>
            <p:ph type="title" idx="101" hasCustomPrompt="1"/>
          </p:nvPr>
        </p:nvSpPr>
        <p:spPr>
          <a:xfrm>
            <a:off x="457200" y="731520"/>
            <a:ext cx="8229600" cy="731520"/>
          </a:xfrm>
          <a:prstGeom prst="rect">
            <a:avLst/>
          </a:prstGeom>
          <a:noFill/>
          <a:ln/>
        </p:spPr>
        <p:txBody>
          <a:bodyPr wrap="square" rtlCol="0"/>
          <a:lstStyle>
            <a:lvl1pPr marL="0" indent="0" algn="l">
              <a:buNone/>
              <a:defRPr lang="en-US" sz="3600" b="1" dirty="0">
                <a:solidFill>
                  <a:schemeClr val="bg1"/>
                </a:solidFill>
              </a:defRPr>
            </a:lvl1pPr>
          </a:lstStyle>
          <a:p>
            <a:pPr marL="0" indent="0" algn="l">
              <a:buNone/>
            </a:pPr>
            <a:endParaRPr lang="en-US" sz="3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22.png"/></Relationships>
</file>

<file path=ppt/slides/_rels/slide10.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3.png"/><Relationship Id="rId7" Type="http://schemas.openxmlformats.org/officeDocument/2006/relationships/image" Target="../media/image26.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6.png"/><Relationship Id="rId11" Type="http://schemas.openxmlformats.org/officeDocument/2006/relationships/image" Target="../media/image30.png"/><Relationship Id="rId5" Type="http://schemas.openxmlformats.org/officeDocument/2006/relationships/image" Target="../media/image25.png"/><Relationship Id="rId10" Type="http://schemas.openxmlformats.org/officeDocument/2006/relationships/image" Target="../media/image29.png"/><Relationship Id="rId4" Type="http://schemas.openxmlformats.org/officeDocument/2006/relationships/image" Target="../media/image24.png"/><Relationship Id="rId9" Type="http://schemas.openxmlformats.org/officeDocument/2006/relationships/image" Target="../media/image28.png"/></Relationships>
</file>

<file path=ppt/slides/_rels/slide11.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31.png"/><Relationship Id="rId7" Type="http://schemas.openxmlformats.org/officeDocument/2006/relationships/image" Target="../media/image32.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16.png"/><Relationship Id="rId9" Type="http://schemas.openxmlformats.org/officeDocument/2006/relationships/image" Target="../media/image34.png"/></Relationships>
</file>

<file path=ppt/slides/_rels/slide1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37.png"/><Relationship Id="rId4" Type="http://schemas.openxmlformats.org/officeDocument/2006/relationships/image" Target="../media/image36.png"/></Relationships>
</file>

<file path=ppt/slides/_rels/slide13.xml.rels><?xml version="1.0" encoding="UTF-8" standalone="yes"?>
<Relationships xmlns="http://schemas.openxmlformats.org/package/2006/relationships"><Relationship Id="rId3" Type="http://schemas.openxmlformats.org/officeDocument/2006/relationships/image" Target="../media/image38.png"/><Relationship Id="rId7" Type="http://schemas.openxmlformats.org/officeDocument/2006/relationships/image" Target="../media/image42.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1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45.png"/><Relationship Id="rId4" Type="http://schemas.openxmlformats.org/officeDocument/2006/relationships/image" Target="../media/image44.png"/></Relationships>
</file>

<file path=ppt/slides/_rels/slide1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image" Target="../media/image47.png"/><Relationship Id="rId7" Type="http://schemas.openxmlformats.org/officeDocument/2006/relationships/image" Target="../media/image50.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49.png"/><Relationship Id="rId4" Type="http://schemas.openxmlformats.org/officeDocument/2006/relationships/image" Target="../media/image48.png"/></Relationships>
</file>

<file path=ppt/slides/_rels/slide17.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49.png"/><Relationship Id="rId4" Type="http://schemas.openxmlformats.org/officeDocument/2006/relationships/image" Target="../media/image53.png"/></Relationships>
</file>

<file path=ppt/slides/_rels/slide18.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457200" y="292608"/>
            <a:ext cx="1280160" cy="329184"/>
          </a:xfrm>
          <a:prstGeom prst="roundRect">
            <a:avLst>
              <a:gd name="adj" fmla="val 50000"/>
            </a:avLst>
          </a:prstGeom>
          <a:solidFill>
            <a:schemeClr val="accent1"/>
          </a:solidFill>
          <a:ln w="12700">
            <a:solidFill>
              <a:schemeClr val="accent1"/>
            </a:solidFill>
            <a:prstDash val="solid"/>
          </a:ln>
        </p:spPr>
      </p:sp>
      <p:sp>
        <p:nvSpPr>
          <p:cNvPr id="3" name="Text 1"/>
          <p:cNvSpPr txBox="1"/>
          <p:nvPr/>
        </p:nvSpPr>
        <p:spPr>
          <a:xfrm>
            <a:off x="457200" y="292608"/>
            <a:ext cx="1280160" cy="329184"/>
          </a:xfrm>
          <a:prstGeom prst="rect">
            <a:avLst/>
          </a:prstGeom>
          <a:noFill/>
          <a:ln/>
        </p:spPr>
        <p:txBody>
          <a:bodyPr wrap="square" lIns="0" tIns="0" rIns="0" bIns="0" rtlCol="0" anchor="ctr"/>
          <a:lstStyle/>
          <a:p>
            <a:pPr marL="0" indent="0" algn="ctr">
              <a:buNone/>
            </a:pPr>
            <a:r>
              <a:rPr lang="en-US" sz="1300" b="1" kern="0" spc="100" dirty="0">
                <a:solidFill>
                  <a:schemeClr val="tx1"/>
                </a:solidFill>
              </a:rPr>
              <a:t>01  WHO</a:t>
            </a:r>
            <a:endParaRPr lang="en-US" sz="1300" dirty="0"/>
          </a:p>
        </p:txBody>
      </p:sp>
      <p:sp>
        <p:nvSpPr>
          <p:cNvPr id="5" name="Text 3"/>
          <p:cNvSpPr txBox="1"/>
          <p:nvPr/>
        </p:nvSpPr>
        <p:spPr>
          <a:xfrm>
            <a:off x="457200" y="1005840"/>
            <a:ext cx="5303520" cy="2926080"/>
          </a:xfrm>
          <a:prstGeom prst="rect">
            <a:avLst/>
          </a:prstGeom>
          <a:noFill/>
          <a:ln/>
        </p:spPr>
        <p:txBody>
          <a:bodyPr wrap="square" lIns="0" tIns="0" rIns="0" bIns="0" rtlCol="0" anchor="ctr"/>
          <a:lstStyle/>
          <a:p>
            <a:pPr marL="0" indent="0">
              <a:buNone/>
            </a:pPr>
            <a:r>
              <a:rPr lang="en-US" sz="3800" b="1" dirty="0">
                <a:solidFill>
                  <a:schemeClr val="bg1"/>
                </a:solidFill>
              </a:rPr>
              <a:t>Could you keep </a:t>
            </a:r>
            <a:r>
              <a:rPr lang="en-US" sz="3800" b="1" dirty="0">
                <a:solidFill>
                  <a:schemeClr val="accent2"/>
                </a:solidFill>
              </a:rPr>
              <a:t>four astronauts</a:t>
            </a:r>
            <a:r>
              <a:rPr lang="en-US" sz="3800" b="1" dirty="0">
                <a:solidFill>
                  <a:schemeClr val="bg1"/>
                </a:solidFill>
              </a:rPr>
              <a:t> alive on the Moon for </a:t>
            </a:r>
            <a:r>
              <a:rPr lang="en-US" sz="3800" b="1" dirty="0">
                <a:solidFill>
                  <a:schemeClr val="accent1"/>
                </a:solidFill>
              </a:rPr>
              <a:t>30 days?</a:t>
            </a:r>
            <a:endParaRPr lang="en-US" sz="3800" dirty="0"/>
          </a:p>
        </p:txBody>
      </p:sp>
      <p:sp>
        <p:nvSpPr>
          <p:cNvPr id="6" name="Shape 4"/>
          <p:cNvSpPr/>
          <p:nvPr/>
        </p:nvSpPr>
        <p:spPr>
          <a:xfrm>
            <a:off x="6172200" y="1234440"/>
            <a:ext cx="2468880" cy="2468880"/>
          </a:xfrm>
          <a:prstGeom prst="ellipse">
            <a:avLst/>
          </a:prstGeom>
          <a:solidFill>
            <a:schemeClr val="bg2"/>
          </a:solidFill>
          <a:ln w="12700">
            <a:solidFill>
              <a:schemeClr val="accent6"/>
            </a:solidFill>
            <a:prstDash val="solid"/>
          </a:ln>
        </p:spPr>
      </p:sp>
      <p:sp>
        <p:nvSpPr>
          <p:cNvPr id="7" name="Shape 5"/>
          <p:cNvSpPr/>
          <p:nvPr/>
        </p:nvSpPr>
        <p:spPr>
          <a:xfrm>
            <a:off x="6446520" y="1645920"/>
            <a:ext cx="640080" cy="640080"/>
          </a:xfrm>
          <a:prstGeom prst="ellipse">
            <a:avLst/>
          </a:prstGeom>
          <a:solidFill>
            <a:schemeClr val="accent6"/>
          </a:solidFill>
          <a:ln w="12700">
            <a:solidFill>
              <a:schemeClr val="accent6"/>
            </a:solidFill>
            <a:prstDash val="solid"/>
          </a:ln>
        </p:spPr>
      </p:sp>
      <p:sp>
        <p:nvSpPr>
          <p:cNvPr id="8" name="Shape 6"/>
          <p:cNvSpPr/>
          <p:nvPr/>
        </p:nvSpPr>
        <p:spPr>
          <a:xfrm>
            <a:off x="7498080" y="2011680"/>
            <a:ext cx="457200" cy="457200"/>
          </a:xfrm>
          <a:prstGeom prst="ellipse">
            <a:avLst/>
          </a:prstGeom>
          <a:solidFill>
            <a:schemeClr val="accent6"/>
          </a:solidFill>
          <a:ln w="12700">
            <a:solidFill>
              <a:schemeClr val="accent6"/>
            </a:solidFill>
            <a:prstDash val="solid"/>
          </a:ln>
        </p:spPr>
      </p:sp>
      <p:sp>
        <p:nvSpPr>
          <p:cNvPr id="9" name="Shape 7"/>
          <p:cNvSpPr/>
          <p:nvPr/>
        </p:nvSpPr>
        <p:spPr>
          <a:xfrm>
            <a:off x="6949440" y="2834640"/>
            <a:ext cx="731520" cy="731520"/>
          </a:xfrm>
          <a:prstGeom prst="ellipse">
            <a:avLst/>
          </a:prstGeom>
          <a:solidFill>
            <a:schemeClr val="accent6"/>
          </a:solidFill>
          <a:ln w="12700">
            <a:solidFill>
              <a:schemeClr val="accent6"/>
            </a:solidFill>
            <a:prstDash val="solid"/>
          </a:ln>
        </p:spPr>
      </p:sp>
      <p:sp>
        <p:nvSpPr>
          <p:cNvPr id="10" name="Shape 8"/>
          <p:cNvSpPr/>
          <p:nvPr/>
        </p:nvSpPr>
        <p:spPr>
          <a:xfrm>
            <a:off x="7726680" y="3017520"/>
            <a:ext cx="320040" cy="320040"/>
          </a:xfrm>
          <a:prstGeom prst="ellipse">
            <a:avLst/>
          </a:prstGeom>
          <a:solidFill>
            <a:schemeClr val="accent6"/>
          </a:solidFill>
          <a:ln w="12700">
            <a:solidFill>
              <a:schemeClr val="accent6"/>
            </a:solidFill>
            <a:prstDash val="solid"/>
          </a:ln>
        </p:spPr>
      </p:sp>
      <p:sp>
        <p:nvSpPr>
          <p:cNvPr id="11" name="Shape 9"/>
          <p:cNvSpPr/>
          <p:nvPr/>
        </p:nvSpPr>
        <p:spPr>
          <a:xfrm>
            <a:off x="6400800" y="3977640"/>
            <a:ext cx="274320" cy="274320"/>
          </a:xfrm>
          <a:prstGeom prst="ellipse">
            <a:avLst/>
          </a:prstGeom>
          <a:solidFill>
            <a:schemeClr val="accent2"/>
          </a:solidFill>
          <a:ln w="12700">
            <a:solidFill>
              <a:schemeClr val="accent2"/>
            </a:solidFill>
            <a:prstDash val="solid"/>
          </a:ln>
        </p:spPr>
      </p:sp>
      <p:sp>
        <p:nvSpPr>
          <p:cNvPr id="12" name="Shape 10"/>
          <p:cNvSpPr/>
          <p:nvPr/>
        </p:nvSpPr>
        <p:spPr>
          <a:xfrm>
            <a:off x="6858000" y="3977640"/>
            <a:ext cx="274320" cy="274320"/>
          </a:xfrm>
          <a:prstGeom prst="ellipse">
            <a:avLst/>
          </a:prstGeom>
          <a:solidFill>
            <a:schemeClr val="accent2"/>
          </a:solidFill>
          <a:ln w="12700">
            <a:solidFill>
              <a:schemeClr val="accent2"/>
            </a:solidFill>
            <a:prstDash val="solid"/>
          </a:ln>
        </p:spPr>
      </p:sp>
      <p:sp>
        <p:nvSpPr>
          <p:cNvPr id="13" name="Shape 11"/>
          <p:cNvSpPr/>
          <p:nvPr/>
        </p:nvSpPr>
        <p:spPr>
          <a:xfrm>
            <a:off x="7315200" y="3977640"/>
            <a:ext cx="274320" cy="274320"/>
          </a:xfrm>
          <a:prstGeom prst="ellipse">
            <a:avLst/>
          </a:prstGeom>
          <a:solidFill>
            <a:schemeClr val="accent2"/>
          </a:solidFill>
          <a:ln w="12700">
            <a:solidFill>
              <a:schemeClr val="accent2"/>
            </a:solidFill>
            <a:prstDash val="solid"/>
          </a:ln>
        </p:spPr>
      </p:sp>
      <p:sp>
        <p:nvSpPr>
          <p:cNvPr id="14" name="Shape 12"/>
          <p:cNvSpPr/>
          <p:nvPr/>
        </p:nvSpPr>
        <p:spPr>
          <a:xfrm>
            <a:off x="7772400" y="3977640"/>
            <a:ext cx="274320" cy="274320"/>
          </a:xfrm>
          <a:prstGeom prst="ellipse">
            <a:avLst/>
          </a:prstGeom>
          <a:solidFill>
            <a:schemeClr val="accent2"/>
          </a:solidFill>
          <a:ln w="12700">
            <a:solidFill>
              <a:schemeClr val="accent2"/>
            </a:solidFill>
            <a:prstDash val="solid"/>
          </a:ln>
        </p:spPr>
      </p:sp>
      <p:sp>
        <p:nvSpPr>
          <p:cNvPr id="15" name="Text 13"/>
          <p:cNvSpPr txBox="1"/>
          <p:nvPr/>
        </p:nvSpPr>
        <p:spPr>
          <a:xfrm>
            <a:off x="6172200" y="4343400"/>
            <a:ext cx="2468880" cy="274320"/>
          </a:xfrm>
          <a:prstGeom prst="rect">
            <a:avLst/>
          </a:prstGeom>
          <a:noFill/>
          <a:ln/>
        </p:spPr>
        <p:txBody>
          <a:bodyPr wrap="square" lIns="0" tIns="0" rIns="0" bIns="0" rtlCol="0" anchor="ctr"/>
          <a:lstStyle/>
          <a:p>
            <a:pPr marL="0" indent="0" algn="ctr">
              <a:buNone/>
            </a:pPr>
            <a:r>
              <a:rPr lang="en-US" sz="1400" dirty="0">
                <a:solidFill>
                  <a:schemeClr val="accent6"/>
                </a:solidFill>
              </a:rPr>
              <a:t>4 crew  |  30 days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457200" y="292608"/>
            <a:ext cx="1280160" cy="329184"/>
          </a:xfrm>
          <a:prstGeom prst="roundRect">
            <a:avLst>
              <a:gd name="adj" fmla="val 50000"/>
            </a:avLst>
          </a:prstGeom>
          <a:solidFill>
            <a:schemeClr val="accent1"/>
          </a:solidFill>
          <a:ln w="12700">
            <a:solidFill>
              <a:schemeClr val="accent1"/>
            </a:solidFill>
            <a:prstDash val="solid"/>
          </a:ln>
        </p:spPr>
      </p:sp>
      <p:sp>
        <p:nvSpPr>
          <p:cNvPr id="3" name="Text 1"/>
          <p:cNvSpPr txBox="1"/>
          <p:nvPr/>
        </p:nvSpPr>
        <p:spPr>
          <a:xfrm>
            <a:off x="457200" y="292608"/>
            <a:ext cx="1280160" cy="329184"/>
          </a:xfrm>
          <a:prstGeom prst="rect">
            <a:avLst/>
          </a:prstGeom>
          <a:noFill/>
          <a:ln/>
        </p:spPr>
        <p:txBody>
          <a:bodyPr wrap="square" lIns="0" tIns="0" rIns="0" bIns="0" rtlCol="0" anchor="ctr"/>
          <a:lstStyle/>
          <a:p>
            <a:pPr marL="0" indent="0" algn="ctr">
              <a:buNone/>
            </a:pPr>
            <a:r>
              <a:rPr lang="en-US" sz="1300" b="1" kern="0" spc="100" dirty="0">
                <a:solidFill>
                  <a:schemeClr val="tx1"/>
                </a:solidFill>
              </a:rPr>
              <a:t>01  WHO</a:t>
            </a:r>
            <a:endParaRPr lang="en-US" sz="1300" dirty="0"/>
          </a:p>
        </p:txBody>
      </p:sp>
      <p:sp>
        <p:nvSpPr>
          <p:cNvPr id="5" name="Text 3"/>
          <p:cNvSpPr txBox="1"/>
          <p:nvPr/>
        </p:nvSpPr>
        <p:spPr>
          <a:xfrm>
            <a:off x="457200" y="1188720"/>
            <a:ext cx="5029200" cy="274320"/>
          </a:xfrm>
          <a:prstGeom prst="rect">
            <a:avLst/>
          </a:prstGeom>
          <a:noFill/>
          <a:ln/>
        </p:spPr>
        <p:txBody>
          <a:bodyPr wrap="square" lIns="0" tIns="0" rIns="0" bIns="0" rtlCol="0" anchor="ctr"/>
          <a:lstStyle/>
          <a:p>
            <a:pPr marL="0" indent="0">
              <a:buNone/>
            </a:pPr>
            <a:r>
              <a:rPr lang="en-US" sz="1400" b="1" kern="0" spc="400" dirty="0">
                <a:solidFill>
                  <a:schemeClr val="accent2"/>
                </a:solidFill>
              </a:rPr>
              <a:t>TEAM HOPE PRESENTS</a:t>
            </a:r>
            <a:endParaRPr lang="en-US" sz="1400" dirty="0"/>
          </a:p>
        </p:txBody>
      </p:sp>
      <p:sp>
        <p:nvSpPr>
          <p:cNvPr id="6" name="Text 4"/>
          <p:cNvSpPr txBox="1"/>
          <p:nvPr/>
        </p:nvSpPr>
        <p:spPr>
          <a:xfrm>
            <a:off x="457200" y="1554480"/>
            <a:ext cx="5303520" cy="1737360"/>
          </a:xfrm>
          <a:prstGeom prst="rect">
            <a:avLst/>
          </a:prstGeom>
          <a:noFill/>
          <a:ln/>
        </p:spPr>
        <p:txBody>
          <a:bodyPr wrap="square" lIns="0" tIns="0" rIns="0" bIns="0" rtlCol="0" anchor="t"/>
          <a:lstStyle/>
          <a:p>
            <a:pPr marL="0" indent="0">
              <a:buNone/>
            </a:pPr>
            <a:r>
              <a:rPr lang="en-US" sz="5600" b="1" dirty="0">
                <a:solidFill>
                  <a:schemeClr val="bg1"/>
                </a:solidFill>
                <a:latin typeface="Arial" pitchFamily="34" charset="0"/>
                <a:ea typeface="Arial" pitchFamily="34" charset="-122"/>
                <a:cs typeface="Arial" pitchFamily="34" charset="-120"/>
              </a:rPr>
              <a:t>OUTPOST</a:t>
            </a:r>
            <a:endParaRPr lang="en-US" sz="5600" dirty="0"/>
          </a:p>
          <a:p>
            <a:pPr marL="0" indent="0">
              <a:buNone/>
            </a:pPr>
            <a:r>
              <a:rPr lang="en-US" sz="5600" b="1" dirty="0">
                <a:solidFill>
                  <a:schemeClr val="bg1"/>
                </a:solidFill>
                <a:latin typeface="Arial" pitchFamily="34" charset="0"/>
                <a:ea typeface="Arial" pitchFamily="34" charset="-122"/>
                <a:cs typeface="Arial" pitchFamily="34" charset="-120"/>
              </a:rPr>
              <a:t>COMMANDER</a:t>
            </a:r>
            <a:endParaRPr lang="en-US" sz="5600" dirty="0"/>
          </a:p>
        </p:txBody>
      </p:sp>
      <p:sp>
        <p:nvSpPr>
          <p:cNvPr id="7" name="Text 5"/>
          <p:cNvSpPr txBox="1"/>
          <p:nvPr/>
        </p:nvSpPr>
        <p:spPr>
          <a:xfrm>
            <a:off x="457200" y="3383280"/>
            <a:ext cx="4754880" cy="640080"/>
          </a:xfrm>
          <a:prstGeom prst="rect">
            <a:avLst/>
          </a:prstGeom>
          <a:noFill/>
          <a:ln/>
        </p:spPr>
        <p:txBody>
          <a:bodyPr wrap="square" lIns="0" tIns="0" rIns="0" bIns="0" rtlCol="0" anchor="ctr"/>
          <a:lstStyle/>
          <a:p>
            <a:pPr marL="0" indent="0">
              <a:buNone/>
            </a:pPr>
            <a:r>
              <a:rPr lang="en-US" sz="1800" dirty="0">
                <a:solidFill>
                  <a:schemeClr val="accent6"/>
                </a:solidFill>
              </a:rPr>
              <a:t>Run a Moon or Mars base. Learn what keeps astronauts alive.</a:t>
            </a:r>
            <a:endParaRPr lang="en-US" sz="1800" dirty="0"/>
          </a:p>
        </p:txBody>
      </p:sp>
      <p:sp>
        <p:nvSpPr>
          <p:cNvPr id="8" name="Text 6"/>
          <p:cNvSpPr txBox="1"/>
          <p:nvPr/>
        </p:nvSpPr>
        <p:spPr>
          <a:xfrm>
            <a:off x="457200" y="4206240"/>
            <a:ext cx="5029200" cy="274320"/>
          </a:xfrm>
          <a:prstGeom prst="rect">
            <a:avLst/>
          </a:prstGeom>
          <a:noFill/>
          <a:ln/>
        </p:spPr>
        <p:txBody>
          <a:bodyPr wrap="square" lIns="0" tIns="0" rIns="0" bIns="0" rtlCol="0" anchor="ctr"/>
          <a:lstStyle/>
          <a:p>
            <a:pPr marL="0" indent="0">
              <a:buNone/>
            </a:pPr>
            <a:r>
              <a:rPr lang="en-US" sz="1400" b="1" dirty="0">
                <a:solidFill>
                  <a:schemeClr val="accent1"/>
                </a:solidFill>
              </a:rPr>
              <a:t>NASA Space Apps Challenge  |  Bangladesh</a:t>
            </a:r>
            <a:endParaRPr lang="en-US" sz="1400" dirty="0"/>
          </a:p>
        </p:txBody>
      </p:sp>
      <p:sp>
        <p:nvSpPr>
          <p:cNvPr id="9" name="Shape 7"/>
          <p:cNvSpPr/>
          <p:nvPr/>
        </p:nvSpPr>
        <p:spPr>
          <a:xfrm>
            <a:off x="5486400" y="914400"/>
            <a:ext cx="3474720" cy="3474720"/>
          </a:xfrm>
          <a:prstGeom prst="ellipse">
            <a:avLst/>
          </a:prstGeom>
          <a:ln w="19050">
            <a:solidFill>
              <a:schemeClr val="accent3"/>
            </a:solidFill>
            <a:prstDash val="solid"/>
          </a:ln>
        </p:spPr>
      </p:sp>
      <p:sp>
        <p:nvSpPr>
          <p:cNvPr id="10" name="Shape 8"/>
          <p:cNvSpPr/>
          <p:nvPr/>
        </p:nvSpPr>
        <p:spPr>
          <a:xfrm>
            <a:off x="6035040" y="1463040"/>
            <a:ext cx="2377440" cy="2377440"/>
          </a:xfrm>
          <a:prstGeom prst="ellipse">
            <a:avLst/>
          </a:prstGeom>
          <a:ln w="19050">
            <a:solidFill>
              <a:schemeClr val="accent3"/>
            </a:solidFill>
            <a:prstDash val="solid"/>
          </a:ln>
        </p:spPr>
      </p:sp>
      <p:sp>
        <p:nvSpPr>
          <p:cNvPr id="11" name="Shape 9"/>
          <p:cNvSpPr/>
          <p:nvPr/>
        </p:nvSpPr>
        <p:spPr>
          <a:xfrm>
            <a:off x="6583680" y="2011680"/>
            <a:ext cx="1280160" cy="1280160"/>
          </a:xfrm>
          <a:prstGeom prst="ellipse">
            <a:avLst/>
          </a:prstGeom>
          <a:ln w="19050">
            <a:solidFill>
              <a:schemeClr val="accent3"/>
            </a:solidFill>
            <a:prstDash val="solid"/>
          </a:ln>
        </p:spPr>
      </p:sp>
      <p:sp>
        <p:nvSpPr>
          <p:cNvPr id="12" name="Shape 10"/>
          <p:cNvSpPr/>
          <p:nvPr/>
        </p:nvSpPr>
        <p:spPr>
          <a:xfrm>
            <a:off x="6858000" y="2286000"/>
            <a:ext cx="731520" cy="731520"/>
          </a:xfrm>
          <a:prstGeom prst="ellipse">
            <a:avLst/>
          </a:prstGeom>
          <a:solidFill>
            <a:schemeClr val="accent1"/>
          </a:solidFill>
          <a:ln w="12700">
            <a:solidFill>
              <a:schemeClr val="accent1"/>
            </a:solidFill>
            <a:prstDash val="solid"/>
          </a:ln>
        </p:spPr>
      </p:sp>
      <p:sp>
        <p:nvSpPr>
          <p:cNvPr id="13" name="Shape 11"/>
          <p:cNvSpPr/>
          <p:nvPr/>
        </p:nvSpPr>
        <p:spPr>
          <a:xfrm>
            <a:off x="8293608" y="2532888"/>
            <a:ext cx="237744" cy="237744"/>
          </a:xfrm>
          <a:prstGeom prst="ellipse">
            <a:avLst/>
          </a:prstGeom>
          <a:solidFill>
            <a:schemeClr val="accent2"/>
          </a:solidFill>
          <a:ln w="12700">
            <a:solidFill>
              <a:schemeClr val="accent2"/>
            </a:solidFill>
            <a:prstDash val="solid"/>
          </a:ln>
        </p:spPr>
      </p:sp>
      <p:sp>
        <p:nvSpPr>
          <p:cNvPr id="14" name="Shape 12"/>
          <p:cNvSpPr/>
          <p:nvPr/>
        </p:nvSpPr>
        <p:spPr>
          <a:xfrm>
            <a:off x="6291072" y="3401568"/>
            <a:ext cx="182880" cy="182880"/>
          </a:xfrm>
          <a:prstGeom prst="ellipse">
            <a:avLst/>
          </a:prstGeom>
          <a:solidFill>
            <a:schemeClr val="accent6"/>
          </a:solidFill>
          <a:ln w="12700">
            <a:solidFill>
              <a:schemeClr val="accent6"/>
            </a:solidFill>
            <a:prstDash val="solid"/>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457200" y="292608"/>
            <a:ext cx="1280160" cy="329184"/>
          </a:xfrm>
          <a:prstGeom prst="roundRect">
            <a:avLst>
              <a:gd name="adj" fmla="val 50000"/>
            </a:avLst>
          </a:prstGeom>
          <a:solidFill>
            <a:schemeClr val="accent1"/>
          </a:solidFill>
          <a:ln w="12700">
            <a:solidFill>
              <a:schemeClr val="accent1"/>
            </a:solidFill>
            <a:prstDash val="solid"/>
          </a:ln>
        </p:spPr>
      </p:sp>
      <p:sp>
        <p:nvSpPr>
          <p:cNvPr id="3" name="Text 1"/>
          <p:cNvSpPr txBox="1"/>
          <p:nvPr/>
        </p:nvSpPr>
        <p:spPr>
          <a:xfrm>
            <a:off x="457200" y="292608"/>
            <a:ext cx="1280160" cy="329184"/>
          </a:xfrm>
          <a:prstGeom prst="rect">
            <a:avLst/>
          </a:prstGeom>
          <a:noFill/>
          <a:ln/>
        </p:spPr>
        <p:txBody>
          <a:bodyPr wrap="square" lIns="0" tIns="0" rIns="0" bIns="0" rtlCol="0" anchor="ctr"/>
          <a:lstStyle/>
          <a:p>
            <a:pPr marL="0" indent="0" algn="ctr">
              <a:buNone/>
            </a:pPr>
            <a:r>
              <a:rPr lang="en-US" sz="1300" b="1" kern="0" spc="100" dirty="0">
                <a:solidFill>
                  <a:schemeClr val="tx1"/>
                </a:solidFill>
              </a:rPr>
              <a:t>01  WHO</a:t>
            </a:r>
            <a:endParaRPr lang="en-US" sz="1300" dirty="0"/>
          </a:p>
        </p:txBody>
      </p:sp>
      <p:sp>
        <p:nvSpPr>
          <p:cNvPr id="5" name="Text 1"/>
          <p:cNvSpPr>
            <a:spLocks noGrp="1"/>
          </p:cNvSpPr>
          <p:nvPr>
            <p:ph type="title" idx="101" hasCustomPrompt="1"/>
          </p:nvPr>
        </p:nvSpPr>
        <p:spPr>
          <a:xfrm>
            <a:off x="457200" y="731520"/>
            <a:ext cx="8229600" cy="731520"/>
          </a:xfrm>
          <a:prstGeom prst="rect">
            <a:avLst/>
          </a:prstGeom>
          <a:noFill/>
          <a:ln/>
        </p:spPr>
        <p:txBody>
          <a:bodyPr wrap="square" lIns="0" tIns="0" rIns="0" bIns="0" rtlCol="0" anchor="ctr"/>
          <a:lstStyle/>
          <a:p>
            <a:pPr marL="0" indent="0" algn="l">
              <a:buNone/>
            </a:pPr>
            <a:r>
              <a:rPr lang="en-US" sz="3600" b="1" dirty="0">
                <a:solidFill>
                  <a:schemeClr val="bg1"/>
                </a:solidFill>
              </a:rPr>
              <a:t>Meet Team : Hope</a:t>
            </a:r>
            <a:endParaRPr lang="en-US" sz="3600" dirty="0"/>
          </a:p>
        </p:txBody>
      </p:sp>
      <p:sp>
        <p:nvSpPr>
          <p:cNvPr id="6" name="Shape 4"/>
          <p:cNvSpPr/>
          <p:nvPr/>
        </p:nvSpPr>
        <p:spPr>
          <a:xfrm>
            <a:off x="457200" y="1645920"/>
            <a:ext cx="3931920" cy="2926080"/>
          </a:xfrm>
          <a:prstGeom prst="roundRect">
            <a:avLst>
              <a:gd name="adj" fmla="val 3750"/>
            </a:avLst>
          </a:prstGeom>
          <a:solidFill>
            <a:schemeClr val="tx2"/>
          </a:solidFill>
          <a:ln w="9525">
            <a:solidFill>
              <a:schemeClr val="accent3"/>
            </a:solidFill>
            <a:prstDash val="solid"/>
          </a:ln>
        </p:spPr>
      </p:sp>
      <p:sp>
        <p:nvSpPr>
          <p:cNvPr id="8" name="Shape 6"/>
          <p:cNvSpPr/>
          <p:nvPr/>
        </p:nvSpPr>
        <p:spPr>
          <a:xfrm>
            <a:off x="2194560" y="2286000"/>
            <a:ext cx="457200" cy="457200"/>
          </a:xfrm>
          <a:prstGeom prst="ellipse">
            <a:avLst/>
          </a:prstGeom>
          <a:solidFill>
            <a:schemeClr val="accent3"/>
          </a:solidFill>
          <a:ln w="12700">
            <a:solidFill>
              <a:schemeClr val="accent3"/>
            </a:solidFill>
            <a:prstDash val="solid"/>
          </a:ln>
        </p:spPr>
      </p:sp>
      <p:sp>
        <p:nvSpPr>
          <p:cNvPr id="11" name="Text 8"/>
          <p:cNvSpPr txBox="1"/>
          <p:nvPr/>
        </p:nvSpPr>
        <p:spPr>
          <a:xfrm>
            <a:off x="457200" y="3337560"/>
            <a:ext cx="3931920" cy="365760"/>
          </a:xfrm>
          <a:prstGeom prst="rect">
            <a:avLst/>
          </a:prstGeom>
          <a:noFill/>
          <a:ln/>
        </p:spPr>
        <p:txBody>
          <a:bodyPr wrap="square" lIns="0" tIns="0" rIns="0" bIns="0" rtlCol="0" anchor="ctr"/>
          <a:lstStyle/>
          <a:p>
            <a:pPr marL="0" indent="0" algn="ctr">
              <a:buNone/>
            </a:pPr>
            <a:r>
              <a:rPr lang="en-US" sz="2200" b="1" dirty="0">
                <a:solidFill>
                  <a:schemeClr val="bg1"/>
                </a:solidFill>
              </a:rPr>
              <a:t>Tasnimul Jannat Niha</a:t>
            </a:r>
          </a:p>
          <a:p>
            <a:pPr marL="0" indent="0" algn="ctr">
              <a:buNone/>
            </a:pPr>
            <a:endParaRPr lang="en-US" sz="2200" dirty="0"/>
          </a:p>
        </p:txBody>
      </p:sp>
      <p:sp>
        <p:nvSpPr>
          <p:cNvPr id="12" name="Text 9"/>
          <p:cNvSpPr txBox="1"/>
          <p:nvPr/>
        </p:nvSpPr>
        <p:spPr>
          <a:xfrm>
            <a:off x="457200" y="3794760"/>
            <a:ext cx="3931920" cy="320040"/>
          </a:xfrm>
          <a:prstGeom prst="rect">
            <a:avLst/>
          </a:prstGeom>
          <a:noFill/>
          <a:ln/>
        </p:spPr>
        <p:txBody>
          <a:bodyPr wrap="square" lIns="0" tIns="0" rIns="0" bIns="0" rtlCol="0" anchor="ctr"/>
          <a:lstStyle/>
          <a:p>
            <a:pPr algn="ctr"/>
            <a:r>
              <a:rPr lang="en-US" sz="1600" b="1" dirty="0">
                <a:solidFill>
                  <a:schemeClr val="accent2"/>
                </a:solidFill>
              </a:rPr>
              <a:t>Team Leader</a:t>
            </a:r>
            <a:br>
              <a:rPr lang="en-US" sz="1600" b="1" dirty="0">
                <a:solidFill>
                  <a:schemeClr val="accent2"/>
                </a:solidFill>
              </a:rPr>
            </a:br>
            <a:r>
              <a:rPr lang="en-US" sz="1600" b="1" dirty="0">
                <a:solidFill>
                  <a:schemeClr val="accent2"/>
                </a:solidFill>
              </a:rPr>
              <a:t>UI/UX Designer </a:t>
            </a:r>
          </a:p>
          <a:p>
            <a:pPr algn="ctr"/>
            <a:r>
              <a:rPr lang="en-US" sz="1600" b="1" dirty="0">
                <a:solidFill>
                  <a:schemeClr val="accent2"/>
                </a:solidFill>
              </a:rPr>
              <a:t>Creative Lead</a:t>
            </a:r>
            <a:endParaRPr lang="en-US" sz="1600" dirty="0"/>
          </a:p>
        </p:txBody>
      </p:sp>
      <p:sp>
        <p:nvSpPr>
          <p:cNvPr id="13" name="Shape 10"/>
          <p:cNvSpPr/>
          <p:nvPr/>
        </p:nvSpPr>
        <p:spPr>
          <a:xfrm>
            <a:off x="4754880" y="1645920"/>
            <a:ext cx="3931920" cy="2926080"/>
          </a:xfrm>
          <a:prstGeom prst="roundRect">
            <a:avLst>
              <a:gd name="adj" fmla="val 3750"/>
            </a:avLst>
          </a:prstGeom>
          <a:solidFill>
            <a:schemeClr val="tx2"/>
          </a:solidFill>
          <a:ln w="9525">
            <a:solidFill>
              <a:schemeClr val="accent3"/>
            </a:solidFill>
            <a:prstDash val="solid"/>
          </a:ln>
        </p:spPr>
      </p:sp>
      <p:sp>
        <p:nvSpPr>
          <p:cNvPr id="18" name="Text 14"/>
          <p:cNvSpPr txBox="1"/>
          <p:nvPr/>
        </p:nvSpPr>
        <p:spPr>
          <a:xfrm>
            <a:off x="4754880" y="3337560"/>
            <a:ext cx="3931920" cy="365760"/>
          </a:xfrm>
          <a:prstGeom prst="rect">
            <a:avLst/>
          </a:prstGeom>
          <a:noFill/>
          <a:ln/>
        </p:spPr>
        <p:txBody>
          <a:bodyPr wrap="square" lIns="0" tIns="0" rIns="0" bIns="0" rtlCol="0" anchor="ctr"/>
          <a:lstStyle/>
          <a:p>
            <a:pPr marL="0" indent="0" algn="ctr">
              <a:buNone/>
            </a:pPr>
            <a:r>
              <a:rPr lang="en-US" sz="2200" b="1" dirty="0">
                <a:solidFill>
                  <a:schemeClr val="bg1"/>
                </a:solidFill>
              </a:rPr>
              <a:t>Umme Kulsum Neha</a:t>
            </a:r>
          </a:p>
          <a:p>
            <a:pPr marL="0" indent="0" algn="ctr">
              <a:buNone/>
            </a:pPr>
            <a:endParaRPr lang="en-US" sz="2200" dirty="0"/>
          </a:p>
        </p:txBody>
      </p:sp>
      <p:sp>
        <p:nvSpPr>
          <p:cNvPr id="19" name="Text 15"/>
          <p:cNvSpPr txBox="1"/>
          <p:nvPr/>
        </p:nvSpPr>
        <p:spPr>
          <a:xfrm>
            <a:off x="4754880" y="3794760"/>
            <a:ext cx="3931920" cy="320040"/>
          </a:xfrm>
          <a:prstGeom prst="rect">
            <a:avLst/>
          </a:prstGeom>
          <a:noFill/>
          <a:ln/>
        </p:spPr>
        <p:txBody>
          <a:bodyPr wrap="square" lIns="0" tIns="0" rIns="0" bIns="0" rtlCol="0" anchor="ctr"/>
          <a:lstStyle/>
          <a:p>
            <a:pPr algn="ctr"/>
            <a:r>
              <a:rPr lang="en-US" sz="1600" b="1" dirty="0">
                <a:solidFill>
                  <a:schemeClr val="accent2"/>
                </a:solidFill>
              </a:rPr>
              <a:t>Developer </a:t>
            </a:r>
          </a:p>
          <a:p>
            <a:pPr algn="ctr"/>
            <a:r>
              <a:rPr lang="en-US" sz="1600" b="1" dirty="0">
                <a:solidFill>
                  <a:schemeClr val="accent2"/>
                </a:solidFill>
              </a:rPr>
              <a:t>Critical Thinker</a:t>
            </a:r>
          </a:p>
          <a:p>
            <a:pPr algn="ctr"/>
            <a:r>
              <a:rPr lang="en-US" sz="1600" b="1" dirty="0">
                <a:solidFill>
                  <a:schemeClr val="accent2"/>
                </a:solidFill>
              </a:rPr>
              <a:t>Researcher</a:t>
            </a:r>
          </a:p>
        </p:txBody>
      </p:sp>
      <p:pic>
        <p:nvPicPr>
          <p:cNvPr id="21" name="Picture 20">
            <a:extLst>
              <a:ext uri="{FF2B5EF4-FFF2-40B4-BE49-F238E27FC236}">
                <a16:creationId xmlns:a16="http://schemas.microsoft.com/office/drawing/2014/main" id="{12FB02B9-498F-3EAA-F75B-901DB92D00BE}"/>
              </a:ext>
            </a:extLst>
          </p:cNvPr>
          <p:cNvPicPr>
            <a:picLocks noChangeAspect="1"/>
          </p:cNvPicPr>
          <p:nvPr/>
        </p:nvPicPr>
        <p:blipFill>
          <a:blip r:embed="rId3"/>
          <a:stretch>
            <a:fillRect/>
          </a:stretch>
        </p:blipFill>
        <p:spPr>
          <a:xfrm>
            <a:off x="1880119" y="1965960"/>
            <a:ext cx="863081" cy="1188720"/>
          </a:xfrm>
          <a:prstGeom prst="ellipse">
            <a:avLst/>
          </a:prstGeom>
        </p:spPr>
      </p:pic>
      <p:pic>
        <p:nvPicPr>
          <p:cNvPr id="23" name="Picture 22">
            <a:extLst>
              <a:ext uri="{FF2B5EF4-FFF2-40B4-BE49-F238E27FC236}">
                <a16:creationId xmlns:a16="http://schemas.microsoft.com/office/drawing/2014/main" id="{DD28C7E3-D02B-74F8-4D31-C053EAF575A2}"/>
              </a:ext>
            </a:extLst>
          </p:cNvPr>
          <p:cNvPicPr>
            <a:picLocks noChangeAspect="1"/>
          </p:cNvPicPr>
          <p:nvPr/>
        </p:nvPicPr>
        <p:blipFill>
          <a:blip r:embed="rId4"/>
          <a:stretch>
            <a:fillRect/>
          </a:stretch>
        </p:blipFill>
        <p:spPr>
          <a:xfrm>
            <a:off x="6306404" y="1944151"/>
            <a:ext cx="907897" cy="1210529"/>
          </a:xfrm>
          <a:prstGeom prst="ellipse">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457200" y="292608"/>
            <a:ext cx="1280160" cy="329184"/>
          </a:xfrm>
          <a:prstGeom prst="roundRect">
            <a:avLst>
              <a:gd name="adj" fmla="val 50000"/>
            </a:avLst>
          </a:prstGeom>
          <a:solidFill>
            <a:schemeClr val="accent1"/>
          </a:solidFill>
          <a:ln w="12700">
            <a:solidFill>
              <a:schemeClr val="accent1"/>
            </a:solidFill>
            <a:prstDash val="solid"/>
          </a:ln>
        </p:spPr>
      </p:sp>
      <p:sp>
        <p:nvSpPr>
          <p:cNvPr id="3" name="Text 1"/>
          <p:cNvSpPr txBox="1"/>
          <p:nvPr/>
        </p:nvSpPr>
        <p:spPr>
          <a:xfrm>
            <a:off x="457200" y="292608"/>
            <a:ext cx="1280160" cy="329184"/>
          </a:xfrm>
          <a:prstGeom prst="rect">
            <a:avLst/>
          </a:prstGeom>
          <a:noFill/>
          <a:ln/>
        </p:spPr>
        <p:txBody>
          <a:bodyPr wrap="square" lIns="0" tIns="0" rIns="0" bIns="0" rtlCol="0" anchor="ctr"/>
          <a:lstStyle/>
          <a:p>
            <a:pPr marL="0" indent="0" algn="ctr">
              <a:buNone/>
            </a:pPr>
            <a:r>
              <a:rPr lang="en-US" sz="1300" b="1" kern="0" spc="100" dirty="0">
                <a:solidFill>
                  <a:schemeClr val="tx1"/>
                </a:solidFill>
              </a:rPr>
              <a:t>01  WHO</a:t>
            </a:r>
            <a:endParaRPr lang="en-US" sz="1300" dirty="0"/>
          </a:p>
        </p:txBody>
      </p:sp>
      <p:sp>
        <p:nvSpPr>
          <p:cNvPr id="5" name="Text 1"/>
          <p:cNvSpPr>
            <a:spLocks noGrp="1"/>
          </p:cNvSpPr>
          <p:nvPr>
            <p:ph type="title" idx="101" hasCustomPrompt="1"/>
          </p:nvPr>
        </p:nvSpPr>
        <p:spPr>
          <a:xfrm>
            <a:off x="457200" y="731520"/>
            <a:ext cx="8229600" cy="731520"/>
          </a:xfrm>
          <a:prstGeom prst="rect">
            <a:avLst/>
          </a:prstGeom>
          <a:noFill/>
          <a:ln/>
        </p:spPr>
        <p:txBody>
          <a:bodyPr wrap="square" lIns="0" tIns="0" rIns="0" bIns="0" rtlCol="0" anchor="ctr"/>
          <a:lstStyle/>
          <a:p>
            <a:pPr marL="0" indent="0" algn="l">
              <a:buNone/>
            </a:pPr>
            <a:r>
              <a:rPr lang="en-US" sz="3600" b="1" dirty="0">
                <a:solidFill>
                  <a:schemeClr val="bg1"/>
                </a:solidFill>
              </a:rPr>
              <a:t>Why we built it</a:t>
            </a:r>
            <a:endParaRPr lang="en-US" sz="3600" dirty="0"/>
          </a:p>
        </p:txBody>
      </p:sp>
      <p:sp>
        <p:nvSpPr>
          <p:cNvPr id="6" name="Shape 4"/>
          <p:cNvSpPr/>
          <p:nvPr/>
        </p:nvSpPr>
        <p:spPr>
          <a:xfrm>
            <a:off x="457200" y="1645920"/>
            <a:ext cx="2468880" cy="2377440"/>
          </a:xfrm>
          <a:prstGeom prst="roundRect">
            <a:avLst>
              <a:gd name="adj" fmla="val 4615"/>
            </a:avLst>
          </a:prstGeom>
          <a:solidFill>
            <a:schemeClr val="tx2"/>
          </a:solidFill>
          <a:ln w="9525">
            <a:solidFill>
              <a:schemeClr val="accent3"/>
            </a:solidFill>
            <a:prstDash val="solid"/>
          </a:ln>
        </p:spPr>
      </p:sp>
      <p:sp>
        <p:nvSpPr>
          <p:cNvPr id="7" name="Shape 5"/>
          <p:cNvSpPr/>
          <p:nvPr/>
        </p:nvSpPr>
        <p:spPr>
          <a:xfrm>
            <a:off x="731520" y="1874520"/>
            <a:ext cx="731520" cy="731520"/>
          </a:xfrm>
          <a:prstGeom prst="ellipse">
            <a:avLst/>
          </a:prstGeom>
          <a:solidFill>
            <a:schemeClr val="accent1"/>
          </a:solidFill>
          <a:ln w="12700">
            <a:solidFill>
              <a:schemeClr val="accent1"/>
            </a:solidFill>
            <a:prstDash val="solid"/>
          </a:ln>
        </p:spPr>
      </p:sp>
      <p:pic>
        <p:nvPicPr>
          <p:cNvPr id="8" name="Image 0" descr="preencoded.png"/>
          <p:cNvPicPr>
            <a:picLocks noChangeAspect="1"/>
          </p:cNvPicPr>
          <p:nvPr/>
        </p:nvPicPr>
        <p:blipFill>
          <a:blip r:embed="rId3"/>
          <a:stretch>
            <a:fillRect/>
          </a:stretch>
        </p:blipFill>
        <p:spPr>
          <a:xfrm>
            <a:off x="914400" y="2057400"/>
            <a:ext cx="365760" cy="365760"/>
          </a:xfrm>
          <a:prstGeom prst="rect">
            <a:avLst/>
          </a:prstGeom>
        </p:spPr>
      </p:pic>
      <p:sp>
        <p:nvSpPr>
          <p:cNvPr id="9" name="Text 6"/>
          <p:cNvSpPr txBox="1"/>
          <p:nvPr/>
        </p:nvSpPr>
        <p:spPr>
          <a:xfrm>
            <a:off x="731520" y="2788920"/>
            <a:ext cx="2011680" cy="320040"/>
          </a:xfrm>
          <a:prstGeom prst="rect">
            <a:avLst/>
          </a:prstGeom>
          <a:noFill/>
          <a:ln/>
        </p:spPr>
        <p:txBody>
          <a:bodyPr wrap="square" lIns="0" tIns="0" rIns="0" bIns="0" rtlCol="0" anchor="ctr"/>
          <a:lstStyle/>
          <a:p>
            <a:pPr marL="0" indent="0">
              <a:buNone/>
            </a:pPr>
            <a:r>
              <a:rPr lang="en-US" sz="1800" b="1" dirty="0">
                <a:solidFill>
                  <a:schemeClr val="bg1"/>
                </a:solidFill>
              </a:rPr>
              <a:t>Locked in textbooks</a:t>
            </a:r>
            <a:endParaRPr lang="en-US" sz="1800" dirty="0"/>
          </a:p>
        </p:txBody>
      </p:sp>
      <p:sp>
        <p:nvSpPr>
          <p:cNvPr id="10" name="Text 7"/>
          <p:cNvSpPr txBox="1"/>
          <p:nvPr/>
        </p:nvSpPr>
        <p:spPr>
          <a:xfrm>
            <a:off x="731520" y="3154680"/>
            <a:ext cx="2011680" cy="731520"/>
          </a:xfrm>
          <a:prstGeom prst="rect">
            <a:avLst/>
          </a:prstGeom>
          <a:noFill/>
          <a:ln/>
        </p:spPr>
        <p:txBody>
          <a:bodyPr wrap="square" lIns="0" tIns="0" rIns="0" bIns="0" rtlCol="0" anchor="t"/>
          <a:lstStyle/>
          <a:p>
            <a:pPr marL="0" indent="0">
              <a:buNone/>
            </a:pPr>
            <a:r>
              <a:rPr lang="en-US" sz="1400" dirty="0">
                <a:solidFill>
                  <a:schemeClr val="accent6"/>
                </a:solidFill>
              </a:rPr>
              <a:t>Space survival stays with experts and reports.</a:t>
            </a:r>
            <a:endParaRPr lang="en-US" sz="1400" dirty="0"/>
          </a:p>
        </p:txBody>
      </p:sp>
      <p:sp>
        <p:nvSpPr>
          <p:cNvPr id="11" name="Shape 8"/>
          <p:cNvSpPr/>
          <p:nvPr/>
        </p:nvSpPr>
        <p:spPr>
          <a:xfrm>
            <a:off x="3337560" y="1645920"/>
            <a:ext cx="2468880" cy="2377440"/>
          </a:xfrm>
          <a:prstGeom prst="roundRect">
            <a:avLst>
              <a:gd name="adj" fmla="val 4615"/>
            </a:avLst>
          </a:prstGeom>
          <a:solidFill>
            <a:schemeClr val="tx2"/>
          </a:solidFill>
          <a:ln w="9525">
            <a:solidFill>
              <a:schemeClr val="accent3"/>
            </a:solidFill>
            <a:prstDash val="solid"/>
          </a:ln>
        </p:spPr>
      </p:sp>
      <p:sp>
        <p:nvSpPr>
          <p:cNvPr id="12" name="Shape 9"/>
          <p:cNvSpPr/>
          <p:nvPr/>
        </p:nvSpPr>
        <p:spPr>
          <a:xfrm>
            <a:off x="3611880" y="1874520"/>
            <a:ext cx="731520" cy="731520"/>
          </a:xfrm>
          <a:prstGeom prst="ellipse">
            <a:avLst/>
          </a:prstGeom>
          <a:solidFill>
            <a:schemeClr val="accent1"/>
          </a:solidFill>
          <a:ln w="12700">
            <a:solidFill>
              <a:schemeClr val="accent1"/>
            </a:solidFill>
            <a:prstDash val="solid"/>
          </a:ln>
        </p:spPr>
      </p:sp>
      <p:pic>
        <p:nvPicPr>
          <p:cNvPr id="13" name="Image 1" descr="preencoded.png"/>
          <p:cNvPicPr>
            <a:picLocks noChangeAspect="1"/>
          </p:cNvPicPr>
          <p:nvPr/>
        </p:nvPicPr>
        <p:blipFill>
          <a:blip r:embed="rId4"/>
          <a:stretch>
            <a:fillRect/>
          </a:stretch>
        </p:blipFill>
        <p:spPr>
          <a:xfrm>
            <a:off x="3794760" y="2057400"/>
            <a:ext cx="365760" cy="365760"/>
          </a:xfrm>
          <a:prstGeom prst="rect">
            <a:avLst/>
          </a:prstGeom>
        </p:spPr>
      </p:pic>
      <p:sp>
        <p:nvSpPr>
          <p:cNvPr id="14" name="Text 10"/>
          <p:cNvSpPr txBox="1"/>
          <p:nvPr/>
        </p:nvSpPr>
        <p:spPr>
          <a:xfrm>
            <a:off x="3611880" y="2788920"/>
            <a:ext cx="2011680" cy="320040"/>
          </a:xfrm>
          <a:prstGeom prst="rect">
            <a:avLst/>
          </a:prstGeom>
          <a:noFill/>
          <a:ln/>
        </p:spPr>
        <p:txBody>
          <a:bodyPr wrap="square" lIns="0" tIns="0" rIns="0" bIns="0" rtlCol="0" anchor="ctr"/>
          <a:lstStyle/>
          <a:p>
            <a:pPr marL="0" indent="0">
              <a:buNone/>
            </a:pPr>
            <a:r>
              <a:rPr lang="en-US" sz="1800" b="1" dirty="0">
                <a:solidFill>
                  <a:schemeClr val="bg1"/>
                </a:solidFill>
              </a:rPr>
              <a:t>So we made a game</a:t>
            </a:r>
            <a:endParaRPr lang="en-US" sz="1800" dirty="0"/>
          </a:p>
        </p:txBody>
      </p:sp>
      <p:sp>
        <p:nvSpPr>
          <p:cNvPr id="15" name="Text 11"/>
          <p:cNvSpPr txBox="1"/>
          <p:nvPr/>
        </p:nvSpPr>
        <p:spPr>
          <a:xfrm>
            <a:off x="3611880" y="3154680"/>
            <a:ext cx="2011680" cy="731520"/>
          </a:xfrm>
          <a:prstGeom prst="rect">
            <a:avLst/>
          </a:prstGeom>
          <a:noFill/>
          <a:ln/>
        </p:spPr>
        <p:txBody>
          <a:bodyPr wrap="square" lIns="0" tIns="0" rIns="0" bIns="0" rtlCol="0" anchor="t"/>
          <a:lstStyle/>
          <a:p>
            <a:pPr marL="0" indent="0">
              <a:buNone/>
            </a:pPr>
            <a:r>
              <a:rPr lang="en-US" sz="1400" dirty="0">
                <a:solidFill>
                  <a:schemeClr val="accent6"/>
                </a:solidFill>
              </a:rPr>
              <a:t>Command a base. See every choice play out.</a:t>
            </a:r>
            <a:endParaRPr lang="en-US" sz="1400" dirty="0"/>
          </a:p>
        </p:txBody>
      </p:sp>
      <p:sp>
        <p:nvSpPr>
          <p:cNvPr id="16" name="Shape 12"/>
          <p:cNvSpPr/>
          <p:nvPr/>
        </p:nvSpPr>
        <p:spPr>
          <a:xfrm>
            <a:off x="6217920" y="1645920"/>
            <a:ext cx="2468880" cy="2377440"/>
          </a:xfrm>
          <a:prstGeom prst="roundRect">
            <a:avLst>
              <a:gd name="adj" fmla="val 4615"/>
            </a:avLst>
          </a:prstGeom>
          <a:solidFill>
            <a:schemeClr val="tx2"/>
          </a:solidFill>
          <a:ln w="9525">
            <a:solidFill>
              <a:schemeClr val="accent3"/>
            </a:solidFill>
            <a:prstDash val="solid"/>
          </a:ln>
        </p:spPr>
      </p:sp>
      <p:sp>
        <p:nvSpPr>
          <p:cNvPr id="17" name="Shape 13"/>
          <p:cNvSpPr/>
          <p:nvPr/>
        </p:nvSpPr>
        <p:spPr>
          <a:xfrm>
            <a:off x="6492240" y="1874520"/>
            <a:ext cx="731520" cy="731520"/>
          </a:xfrm>
          <a:prstGeom prst="ellipse">
            <a:avLst/>
          </a:prstGeom>
          <a:solidFill>
            <a:schemeClr val="accent1"/>
          </a:solidFill>
          <a:ln w="12700">
            <a:solidFill>
              <a:schemeClr val="accent1"/>
            </a:solidFill>
            <a:prstDash val="solid"/>
          </a:ln>
        </p:spPr>
      </p:sp>
      <p:pic>
        <p:nvPicPr>
          <p:cNvPr id="18" name="Image 2" descr="preencoded.png"/>
          <p:cNvPicPr>
            <a:picLocks noChangeAspect="1"/>
          </p:cNvPicPr>
          <p:nvPr/>
        </p:nvPicPr>
        <p:blipFill>
          <a:blip r:embed="rId5"/>
          <a:stretch>
            <a:fillRect/>
          </a:stretch>
        </p:blipFill>
        <p:spPr>
          <a:xfrm>
            <a:off x="6675120" y="2057400"/>
            <a:ext cx="365760" cy="365760"/>
          </a:xfrm>
          <a:prstGeom prst="rect">
            <a:avLst/>
          </a:prstGeom>
        </p:spPr>
      </p:pic>
      <p:sp>
        <p:nvSpPr>
          <p:cNvPr id="19" name="Text 14"/>
          <p:cNvSpPr txBox="1"/>
          <p:nvPr/>
        </p:nvSpPr>
        <p:spPr>
          <a:xfrm>
            <a:off x="6492240" y="2788920"/>
            <a:ext cx="2011680" cy="320040"/>
          </a:xfrm>
          <a:prstGeom prst="rect">
            <a:avLst/>
          </a:prstGeom>
          <a:noFill/>
          <a:ln/>
        </p:spPr>
        <p:txBody>
          <a:bodyPr wrap="square" lIns="0" tIns="0" rIns="0" bIns="0" rtlCol="0" anchor="ctr"/>
          <a:lstStyle/>
          <a:p>
            <a:pPr marL="0" indent="0">
              <a:buNone/>
            </a:pPr>
            <a:r>
              <a:rPr lang="en-US" sz="1800" b="1" dirty="0">
                <a:solidFill>
                  <a:schemeClr val="bg1"/>
                </a:solidFill>
              </a:rPr>
              <a:t>Free for everyone</a:t>
            </a:r>
            <a:endParaRPr lang="en-US" sz="1800" dirty="0"/>
          </a:p>
        </p:txBody>
      </p:sp>
      <p:sp>
        <p:nvSpPr>
          <p:cNvPr id="20" name="Text 15"/>
          <p:cNvSpPr txBox="1"/>
          <p:nvPr/>
        </p:nvSpPr>
        <p:spPr>
          <a:xfrm>
            <a:off x="6492240" y="3154680"/>
            <a:ext cx="2011680" cy="731520"/>
          </a:xfrm>
          <a:prstGeom prst="rect">
            <a:avLst/>
          </a:prstGeom>
          <a:noFill/>
          <a:ln/>
        </p:spPr>
        <p:txBody>
          <a:bodyPr wrap="square" lIns="0" tIns="0" rIns="0" bIns="0" rtlCol="0" anchor="t"/>
          <a:lstStyle/>
          <a:p>
            <a:pPr marL="0" indent="0">
              <a:buNone/>
            </a:pPr>
            <a:r>
              <a:rPr lang="en-US" sz="1400" dirty="0">
                <a:solidFill>
                  <a:schemeClr val="accent6"/>
                </a:solidFill>
              </a:rPr>
              <a:t>No sign-up. No install. Works offline.</a:t>
            </a:r>
            <a:endParaRPr lang="en-US" sz="1400" dirty="0"/>
          </a:p>
        </p:txBody>
      </p:sp>
      <p:pic>
        <p:nvPicPr>
          <p:cNvPr id="21" name="Image 3" descr="preencoded.png"/>
          <p:cNvPicPr>
            <a:picLocks noChangeAspect="1"/>
          </p:cNvPicPr>
          <p:nvPr/>
        </p:nvPicPr>
        <p:blipFill>
          <a:blip r:embed="rId6"/>
          <a:stretch>
            <a:fillRect/>
          </a:stretch>
        </p:blipFill>
        <p:spPr>
          <a:xfrm>
            <a:off x="3035808" y="2697480"/>
            <a:ext cx="228600" cy="228600"/>
          </a:xfrm>
          <a:prstGeom prst="rect">
            <a:avLst/>
          </a:prstGeom>
        </p:spPr>
      </p:pic>
      <p:pic>
        <p:nvPicPr>
          <p:cNvPr id="22" name="Image 4" descr="preencoded.png"/>
          <p:cNvPicPr>
            <a:picLocks noChangeAspect="1"/>
          </p:cNvPicPr>
          <p:nvPr/>
        </p:nvPicPr>
        <p:blipFill>
          <a:blip r:embed="rId6"/>
          <a:stretch>
            <a:fillRect/>
          </a:stretch>
        </p:blipFill>
        <p:spPr>
          <a:xfrm>
            <a:off x="5916168" y="2697480"/>
            <a:ext cx="228600" cy="228600"/>
          </a:xfrm>
          <a:prstGeom prst="rect">
            <a:avLst/>
          </a:prstGeom>
        </p:spPr>
      </p:pic>
      <p:sp>
        <p:nvSpPr>
          <p:cNvPr id="23" name="Text 16"/>
          <p:cNvSpPr txBox="1"/>
          <p:nvPr/>
        </p:nvSpPr>
        <p:spPr>
          <a:xfrm>
            <a:off x="457200" y="4251960"/>
            <a:ext cx="8229600" cy="365760"/>
          </a:xfrm>
          <a:prstGeom prst="rect">
            <a:avLst/>
          </a:prstGeom>
          <a:noFill/>
          <a:ln/>
        </p:spPr>
        <p:txBody>
          <a:bodyPr wrap="square" lIns="0" tIns="0" rIns="0" bIns="0" rtlCol="0" anchor="ctr"/>
          <a:lstStyle/>
          <a:p>
            <a:pPr marL="0" indent="0">
              <a:buNone/>
            </a:pPr>
            <a:r>
              <a:rPr lang="en-US" sz="1800" i="1" dirty="0">
                <a:solidFill>
                  <a:schemeClr val="accent2"/>
                </a:solidFill>
              </a:rPr>
              <a:t>We built it with passion, so anyone can try it.</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457200" y="292608"/>
            <a:ext cx="1280160" cy="329184"/>
          </a:xfrm>
          <a:prstGeom prst="roundRect">
            <a:avLst>
              <a:gd name="adj" fmla="val 50000"/>
            </a:avLst>
          </a:prstGeom>
          <a:solidFill>
            <a:schemeClr val="accent1"/>
          </a:solidFill>
          <a:ln w="12700">
            <a:solidFill>
              <a:schemeClr val="accent1"/>
            </a:solidFill>
            <a:prstDash val="solid"/>
          </a:ln>
        </p:spPr>
      </p:sp>
      <p:sp>
        <p:nvSpPr>
          <p:cNvPr id="3" name="Text 1"/>
          <p:cNvSpPr txBox="1"/>
          <p:nvPr/>
        </p:nvSpPr>
        <p:spPr>
          <a:xfrm>
            <a:off x="457200" y="292608"/>
            <a:ext cx="1280160" cy="329184"/>
          </a:xfrm>
          <a:prstGeom prst="rect">
            <a:avLst/>
          </a:prstGeom>
          <a:noFill/>
          <a:ln/>
        </p:spPr>
        <p:txBody>
          <a:bodyPr wrap="square" lIns="0" tIns="0" rIns="0" bIns="0" rtlCol="0" anchor="ctr"/>
          <a:lstStyle/>
          <a:p>
            <a:pPr marL="0" indent="0" algn="ctr">
              <a:buNone/>
            </a:pPr>
            <a:r>
              <a:rPr lang="en-US" sz="1300" b="1" kern="0" spc="100" dirty="0">
                <a:solidFill>
                  <a:schemeClr val="tx1"/>
                </a:solidFill>
              </a:rPr>
              <a:t>02  WHY</a:t>
            </a:r>
            <a:endParaRPr lang="en-US" sz="1300" dirty="0"/>
          </a:p>
        </p:txBody>
      </p:sp>
      <p:sp>
        <p:nvSpPr>
          <p:cNvPr id="5" name="Text 1"/>
          <p:cNvSpPr>
            <a:spLocks noGrp="1"/>
          </p:cNvSpPr>
          <p:nvPr>
            <p:ph type="title" idx="101" hasCustomPrompt="1"/>
          </p:nvPr>
        </p:nvSpPr>
        <p:spPr>
          <a:xfrm>
            <a:off x="457200" y="731520"/>
            <a:ext cx="8229600" cy="731520"/>
          </a:xfrm>
          <a:prstGeom prst="rect">
            <a:avLst/>
          </a:prstGeom>
          <a:noFill/>
          <a:ln/>
        </p:spPr>
        <p:txBody>
          <a:bodyPr wrap="square" lIns="0" tIns="0" rIns="0" bIns="0" rtlCol="0" anchor="ctr"/>
          <a:lstStyle/>
          <a:p>
            <a:pPr marL="0" indent="0" algn="l">
              <a:buNone/>
            </a:pPr>
            <a:r>
              <a:rPr lang="en-US" sz="3600" b="1" dirty="0">
                <a:solidFill>
                  <a:schemeClr val="bg1"/>
                </a:solidFill>
              </a:rPr>
              <a:t>The problem</a:t>
            </a:r>
            <a:endParaRPr lang="en-US" sz="3600" dirty="0"/>
          </a:p>
        </p:txBody>
      </p:sp>
      <p:sp>
        <p:nvSpPr>
          <p:cNvPr id="6" name="Shape 4"/>
          <p:cNvSpPr/>
          <p:nvPr/>
        </p:nvSpPr>
        <p:spPr>
          <a:xfrm>
            <a:off x="457200" y="1645920"/>
            <a:ext cx="2560320" cy="2971800"/>
          </a:xfrm>
          <a:prstGeom prst="roundRect">
            <a:avLst>
              <a:gd name="adj" fmla="val 4286"/>
            </a:avLst>
          </a:prstGeom>
          <a:solidFill>
            <a:schemeClr val="tx2"/>
          </a:solidFill>
          <a:ln w="9525">
            <a:solidFill>
              <a:schemeClr val="accent3"/>
            </a:solidFill>
            <a:prstDash val="solid"/>
          </a:ln>
        </p:spPr>
      </p:sp>
      <p:sp>
        <p:nvSpPr>
          <p:cNvPr id="7" name="Shape 5"/>
          <p:cNvSpPr/>
          <p:nvPr/>
        </p:nvSpPr>
        <p:spPr>
          <a:xfrm>
            <a:off x="731520" y="1828800"/>
            <a:ext cx="731520" cy="731520"/>
          </a:xfrm>
          <a:prstGeom prst="ellipse">
            <a:avLst/>
          </a:prstGeom>
          <a:solidFill>
            <a:schemeClr val="accent1"/>
          </a:solidFill>
          <a:ln w="12700">
            <a:solidFill>
              <a:schemeClr val="accent1"/>
            </a:solidFill>
            <a:prstDash val="solid"/>
          </a:ln>
        </p:spPr>
      </p:sp>
      <p:pic>
        <p:nvPicPr>
          <p:cNvPr id="8" name="Image 0" descr="preencoded.png"/>
          <p:cNvPicPr>
            <a:picLocks noChangeAspect="1"/>
          </p:cNvPicPr>
          <p:nvPr/>
        </p:nvPicPr>
        <p:blipFill>
          <a:blip r:embed="rId3"/>
          <a:stretch>
            <a:fillRect/>
          </a:stretch>
        </p:blipFill>
        <p:spPr>
          <a:xfrm>
            <a:off x="914400" y="2011680"/>
            <a:ext cx="365760" cy="365760"/>
          </a:xfrm>
          <a:prstGeom prst="rect">
            <a:avLst/>
          </a:prstGeom>
        </p:spPr>
      </p:pic>
      <p:sp>
        <p:nvSpPr>
          <p:cNvPr id="9" name="Text 6"/>
          <p:cNvSpPr txBox="1"/>
          <p:nvPr/>
        </p:nvSpPr>
        <p:spPr>
          <a:xfrm>
            <a:off x="731520" y="2697480"/>
            <a:ext cx="2103120" cy="594360"/>
          </a:xfrm>
          <a:prstGeom prst="rect">
            <a:avLst/>
          </a:prstGeom>
          <a:noFill/>
          <a:ln/>
        </p:spPr>
        <p:txBody>
          <a:bodyPr wrap="square" lIns="0" tIns="0" rIns="0" bIns="0" rtlCol="0" anchor="t"/>
          <a:lstStyle/>
          <a:p>
            <a:pPr marL="0" indent="0">
              <a:buNone/>
            </a:pPr>
            <a:r>
              <a:rPr lang="en-US" sz="1800" b="1" dirty="0">
                <a:solidFill>
                  <a:schemeClr val="bg1"/>
                </a:solidFill>
              </a:rPr>
              <a:t>Hard to see</a:t>
            </a:r>
            <a:endParaRPr lang="en-US" sz="1800" dirty="0"/>
          </a:p>
        </p:txBody>
      </p:sp>
      <p:sp>
        <p:nvSpPr>
          <p:cNvPr id="10" name="Text 7"/>
          <p:cNvSpPr txBox="1"/>
          <p:nvPr/>
        </p:nvSpPr>
        <p:spPr>
          <a:xfrm>
            <a:off x="731520" y="3337560"/>
            <a:ext cx="2103120" cy="1188720"/>
          </a:xfrm>
          <a:prstGeom prst="rect">
            <a:avLst/>
          </a:prstGeom>
          <a:noFill/>
          <a:ln/>
        </p:spPr>
        <p:txBody>
          <a:bodyPr wrap="square" lIns="0" tIns="0" rIns="0" bIns="0" rtlCol="0" anchor="t"/>
          <a:lstStyle/>
          <a:p>
            <a:pPr marL="0" indent="0">
              <a:buNone/>
            </a:pPr>
            <a:r>
              <a:rPr lang="en-US" sz="1400" dirty="0">
                <a:solidFill>
                  <a:schemeClr val="accent6"/>
                </a:solidFill>
              </a:rPr>
              <a:t>Radiation, power and life support feel abstract. One broken machine is hard to picture.</a:t>
            </a:r>
            <a:endParaRPr lang="en-US" sz="1400" dirty="0"/>
          </a:p>
        </p:txBody>
      </p:sp>
      <p:sp>
        <p:nvSpPr>
          <p:cNvPr id="11" name="Shape 8"/>
          <p:cNvSpPr/>
          <p:nvPr/>
        </p:nvSpPr>
        <p:spPr>
          <a:xfrm>
            <a:off x="3291840" y="1645920"/>
            <a:ext cx="2560320" cy="2971800"/>
          </a:xfrm>
          <a:prstGeom prst="roundRect">
            <a:avLst>
              <a:gd name="adj" fmla="val 4286"/>
            </a:avLst>
          </a:prstGeom>
          <a:solidFill>
            <a:schemeClr val="tx2"/>
          </a:solidFill>
          <a:ln w="9525">
            <a:solidFill>
              <a:schemeClr val="accent3"/>
            </a:solidFill>
            <a:prstDash val="solid"/>
          </a:ln>
        </p:spPr>
      </p:sp>
      <p:sp>
        <p:nvSpPr>
          <p:cNvPr id="12" name="Shape 9"/>
          <p:cNvSpPr/>
          <p:nvPr/>
        </p:nvSpPr>
        <p:spPr>
          <a:xfrm>
            <a:off x="3566160" y="1828800"/>
            <a:ext cx="731520" cy="731520"/>
          </a:xfrm>
          <a:prstGeom prst="ellipse">
            <a:avLst/>
          </a:prstGeom>
          <a:solidFill>
            <a:schemeClr val="accent1"/>
          </a:solidFill>
          <a:ln w="12700">
            <a:solidFill>
              <a:schemeClr val="accent1"/>
            </a:solidFill>
            <a:prstDash val="solid"/>
          </a:ln>
        </p:spPr>
      </p:sp>
      <p:pic>
        <p:nvPicPr>
          <p:cNvPr id="13" name="Image 1" descr="preencoded.png"/>
          <p:cNvPicPr>
            <a:picLocks noChangeAspect="1"/>
          </p:cNvPicPr>
          <p:nvPr/>
        </p:nvPicPr>
        <p:blipFill>
          <a:blip r:embed="rId4"/>
          <a:stretch>
            <a:fillRect/>
          </a:stretch>
        </p:blipFill>
        <p:spPr>
          <a:xfrm>
            <a:off x="3749040" y="2011680"/>
            <a:ext cx="365760" cy="365760"/>
          </a:xfrm>
          <a:prstGeom prst="rect">
            <a:avLst/>
          </a:prstGeom>
        </p:spPr>
      </p:pic>
      <p:sp>
        <p:nvSpPr>
          <p:cNvPr id="14" name="Text 10"/>
          <p:cNvSpPr txBox="1"/>
          <p:nvPr/>
        </p:nvSpPr>
        <p:spPr>
          <a:xfrm>
            <a:off x="3566160" y="2697480"/>
            <a:ext cx="2103120" cy="594360"/>
          </a:xfrm>
          <a:prstGeom prst="rect">
            <a:avLst/>
          </a:prstGeom>
          <a:noFill/>
          <a:ln/>
        </p:spPr>
        <p:txBody>
          <a:bodyPr wrap="square" lIns="0" tIns="0" rIns="0" bIns="0" rtlCol="0" anchor="t"/>
          <a:lstStyle/>
          <a:p>
            <a:pPr marL="0" indent="0">
              <a:buNone/>
            </a:pPr>
            <a:r>
              <a:rPr lang="en-US" sz="1800" b="1" dirty="0">
                <a:solidFill>
                  <a:schemeClr val="bg1"/>
                </a:solidFill>
              </a:rPr>
              <a:t>Few safe ways to practise</a:t>
            </a:r>
            <a:endParaRPr lang="en-US" sz="1800" dirty="0"/>
          </a:p>
        </p:txBody>
      </p:sp>
      <p:sp>
        <p:nvSpPr>
          <p:cNvPr id="15" name="Text 11"/>
          <p:cNvSpPr txBox="1"/>
          <p:nvPr/>
        </p:nvSpPr>
        <p:spPr>
          <a:xfrm>
            <a:off x="3566160" y="3337560"/>
            <a:ext cx="2103120" cy="1188720"/>
          </a:xfrm>
          <a:prstGeom prst="rect">
            <a:avLst/>
          </a:prstGeom>
          <a:noFill/>
          <a:ln/>
        </p:spPr>
        <p:txBody>
          <a:bodyPr wrap="square" lIns="0" tIns="0" rIns="0" bIns="0" rtlCol="0" anchor="t"/>
          <a:lstStyle/>
          <a:p>
            <a:pPr marL="0" indent="0">
              <a:buNone/>
            </a:pPr>
            <a:r>
              <a:rPr lang="en-US" sz="1400" dirty="0">
                <a:solidFill>
                  <a:schemeClr val="accent6"/>
                </a:solidFill>
              </a:rPr>
              <a:t>Planning on a budget, making a mistake and trying again is rarely possible.</a:t>
            </a:r>
            <a:endParaRPr lang="en-US" sz="1400" dirty="0"/>
          </a:p>
        </p:txBody>
      </p:sp>
      <p:sp>
        <p:nvSpPr>
          <p:cNvPr id="16" name="Shape 12"/>
          <p:cNvSpPr/>
          <p:nvPr/>
        </p:nvSpPr>
        <p:spPr>
          <a:xfrm>
            <a:off x="6126480" y="1645920"/>
            <a:ext cx="2560320" cy="2971800"/>
          </a:xfrm>
          <a:prstGeom prst="roundRect">
            <a:avLst>
              <a:gd name="adj" fmla="val 4286"/>
            </a:avLst>
          </a:prstGeom>
          <a:solidFill>
            <a:schemeClr val="tx2"/>
          </a:solidFill>
          <a:ln w="9525">
            <a:solidFill>
              <a:schemeClr val="accent3"/>
            </a:solidFill>
            <a:prstDash val="solid"/>
          </a:ln>
        </p:spPr>
      </p:sp>
      <p:sp>
        <p:nvSpPr>
          <p:cNvPr id="17" name="Shape 13"/>
          <p:cNvSpPr/>
          <p:nvPr/>
        </p:nvSpPr>
        <p:spPr>
          <a:xfrm>
            <a:off x="6400800" y="1828800"/>
            <a:ext cx="731520" cy="731520"/>
          </a:xfrm>
          <a:prstGeom prst="ellipse">
            <a:avLst/>
          </a:prstGeom>
          <a:solidFill>
            <a:schemeClr val="accent1"/>
          </a:solidFill>
          <a:ln w="12700">
            <a:solidFill>
              <a:schemeClr val="accent1"/>
            </a:solidFill>
            <a:prstDash val="solid"/>
          </a:ln>
        </p:spPr>
      </p:sp>
      <p:pic>
        <p:nvPicPr>
          <p:cNvPr id="18" name="Image 2" descr="preencoded.png"/>
          <p:cNvPicPr>
            <a:picLocks noChangeAspect="1"/>
          </p:cNvPicPr>
          <p:nvPr/>
        </p:nvPicPr>
        <p:blipFill>
          <a:blip r:embed="rId5"/>
          <a:stretch>
            <a:fillRect/>
          </a:stretch>
        </p:blipFill>
        <p:spPr>
          <a:xfrm>
            <a:off x="6583680" y="2011680"/>
            <a:ext cx="365760" cy="365760"/>
          </a:xfrm>
          <a:prstGeom prst="rect">
            <a:avLst/>
          </a:prstGeom>
        </p:spPr>
      </p:pic>
      <p:sp>
        <p:nvSpPr>
          <p:cNvPr id="19" name="Text 14"/>
          <p:cNvSpPr txBox="1"/>
          <p:nvPr/>
        </p:nvSpPr>
        <p:spPr>
          <a:xfrm>
            <a:off x="6400800" y="2697480"/>
            <a:ext cx="2103120" cy="594360"/>
          </a:xfrm>
          <a:prstGeom prst="rect">
            <a:avLst/>
          </a:prstGeom>
          <a:noFill/>
          <a:ln/>
        </p:spPr>
        <p:txBody>
          <a:bodyPr wrap="square" lIns="0" tIns="0" rIns="0" bIns="0" rtlCol="0" anchor="t"/>
          <a:lstStyle/>
          <a:p>
            <a:pPr marL="0" indent="0">
              <a:buNone/>
            </a:pPr>
            <a:r>
              <a:rPr lang="en-US" sz="1800" b="1" dirty="0">
                <a:solidFill>
                  <a:schemeClr val="bg1"/>
                </a:solidFill>
              </a:rPr>
              <a:t>Not for everyone</a:t>
            </a:r>
            <a:endParaRPr lang="en-US" sz="1800" dirty="0"/>
          </a:p>
        </p:txBody>
      </p:sp>
      <p:sp>
        <p:nvSpPr>
          <p:cNvPr id="20" name="Text 15"/>
          <p:cNvSpPr txBox="1"/>
          <p:nvPr/>
        </p:nvSpPr>
        <p:spPr>
          <a:xfrm>
            <a:off x="6400800" y="3337560"/>
            <a:ext cx="2103120" cy="1188720"/>
          </a:xfrm>
          <a:prstGeom prst="rect">
            <a:avLst/>
          </a:prstGeom>
          <a:noFill/>
          <a:ln/>
        </p:spPr>
        <p:txBody>
          <a:bodyPr wrap="square" lIns="0" tIns="0" rIns="0" bIns="0" rtlCol="0" anchor="t"/>
          <a:lstStyle/>
          <a:p>
            <a:pPr marL="0" indent="0">
              <a:buNone/>
            </a:pPr>
            <a:r>
              <a:rPr lang="en-US" sz="1400" dirty="0">
                <a:solidFill>
                  <a:schemeClr val="accent6"/>
                </a:solidFill>
              </a:rPr>
              <a:t>Many learning tools need money, fast internet or expert knowledge.</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457200" y="292608"/>
            <a:ext cx="1280160" cy="329184"/>
          </a:xfrm>
          <a:prstGeom prst="roundRect">
            <a:avLst>
              <a:gd name="adj" fmla="val 50000"/>
            </a:avLst>
          </a:prstGeom>
          <a:solidFill>
            <a:schemeClr val="accent1"/>
          </a:solidFill>
          <a:ln w="12700">
            <a:solidFill>
              <a:schemeClr val="accent1"/>
            </a:solidFill>
            <a:prstDash val="solid"/>
          </a:ln>
        </p:spPr>
      </p:sp>
      <p:sp>
        <p:nvSpPr>
          <p:cNvPr id="3" name="Text 1"/>
          <p:cNvSpPr txBox="1"/>
          <p:nvPr/>
        </p:nvSpPr>
        <p:spPr>
          <a:xfrm>
            <a:off x="457200" y="292608"/>
            <a:ext cx="1280160" cy="329184"/>
          </a:xfrm>
          <a:prstGeom prst="rect">
            <a:avLst/>
          </a:prstGeom>
          <a:noFill/>
          <a:ln/>
        </p:spPr>
        <p:txBody>
          <a:bodyPr wrap="square" lIns="0" tIns="0" rIns="0" bIns="0" rtlCol="0" anchor="ctr"/>
          <a:lstStyle/>
          <a:p>
            <a:pPr marL="0" indent="0" algn="ctr">
              <a:buNone/>
            </a:pPr>
            <a:r>
              <a:rPr lang="en-US" sz="1300" b="1" kern="0" spc="100" dirty="0">
                <a:solidFill>
                  <a:schemeClr val="tx1"/>
                </a:solidFill>
              </a:rPr>
              <a:t>02  WHY</a:t>
            </a:r>
            <a:endParaRPr lang="en-US" sz="1300" dirty="0"/>
          </a:p>
        </p:txBody>
      </p:sp>
      <p:sp>
        <p:nvSpPr>
          <p:cNvPr id="5" name="Text 1"/>
          <p:cNvSpPr>
            <a:spLocks noGrp="1"/>
          </p:cNvSpPr>
          <p:nvPr>
            <p:ph type="title" idx="101" hasCustomPrompt="1"/>
          </p:nvPr>
        </p:nvSpPr>
        <p:spPr>
          <a:xfrm>
            <a:off x="457200" y="731520"/>
            <a:ext cx="8229600" cy="731520"/>
          </a:xfrm>
          <a:prstGeom prst="rect">
            <a:avLst/>
          </a:prstGeom>
          <a:noFill/>
          <a:ln/>
        </p:spPr>
        <p:txBody>
          <a:bodyPr wrap="square" lIns="0" tIns="0" rIns="0" bIns="0" rtlCol="0" anchor="ctr"/>
          <a:lstStyle/>
          <a:p>
            <a:pPr marL="0" indent="0" algn="l">
              <a:buNone/>
            </a:pPr>
            <a:r>
              <a:rPr lang="en-US" sz="3600" b="1" dirty="0">
                <a:solidFill>
                  <a:schemeClr val="bg1"/>
                </a:solidFill>
              </a:rPr>
              <a:t>Who it affects</a:t>
            </a:r>
            <a:endParaRPr lang="en-US" sz="3600" dirty="0"/>
          </a:p>
        </p:txBody>
      </p:sp>
      <p:sp>
        <p:nvSpPr>
          <p:cNvPr id="6" name="Text 4"/>
          <p:cNvSpPr txBox="1"/>
          <p:nvPr/>
        </p:nvSpPr>
        <p:spPr>
          <a:xfrm>
            <a:off x="457200" y="1691640"/>
            <a:ext cx="3749040" cy="1737360"/>
          </a:xfrm>
          <a:prstGeom prst="rect">
            <a:avLst/>
          </a:prstGeom>
          <a:noFill/>
          <a:ln/>
        </p:spPr>
        <p:txBody>
          <a:bodyPr wrap="square" lIns="0" tIns="0" rIns="0" bIns="0" rtlCol="0" anchor="t"/>
          <a:lstStyle/>
          <a:p>
            <a:pPr marL="0" indent="0">
              <a:buNone/>
            </a:pPr>
            <a:r>
              <a:rPr lang="en-US" sz="2400" b="1" dirty="0">
                <a:solidFill>
                  <a:schemeClr val="bg1"/>
                </a:solidFill>
              </a:rPr>
              <a:t>Most people never learn why living on the Moon or Mars is so hard.</a:t>
            </a:r>
            <a:endParaRPr lang="en-US" sz="2400" dirty="0"/>
          </a:p>
        </p:txBody>
      </p:sp>
      <p:sp>
        <p:nvSpPr>
          <p:cNvPr id="7" name="Text 5"/>
          <p:cNvSpPr txBox="1"/>
          <p:nvPr/>
        </p:nvSpPr>
        <p:spPr>
          <a:xfrm>
            <a:off x="457200" y="3520440"/>
            <a:ext cx="3749040" cy="822960"/>
          </a:xfrm>
          <a:prstGeom prst="rect">
            <a:avLst/>
          </a:prstGeom>
          <a:noFill/>
          <a:ln/>
        </p:spPr>
        <p:txBody>
          <a:bodyPr wrap="square" lIns="0" tIns="0" rIns="0" bIns="0" rtlCol="0" anchor="t"/>
          <a:lstStyle/>
          <a:p>
            <a:pPr marL="0" indent="0">
              <a:buNone/>
            </a:pPr>
            <a:r>
              <a:rPr lang="en-US" sz="1600" dirty="0">
                <a:solidFill>
                  <a:schemeClr val="accent6"/>
                </a:solidFill>
              </a:rPr>
              <a:t>The ideas stay locked in textbooks, technical reports and expert talks.</a:t>
            </a:r>
            <a:endParaRPr lang="en-US" sz="1600" dirty="0"/>
          </a:p>
        </p:txBody>
      </p:sp>
      <p:sp>
        <p:nvSpPr>
          <p:cNvPr id="8" name="Shape 6"/>
          <p:cNvSpPr/>
          <p:nvPr/>
        </p:nvSpPr>
        <p:spPr>
          <a:xfrm>
            <a:off x="4572000" y="1691640"/>
            <a:ext cx="1920240" cy="1325880"/>
          </a:xfrm>
          <a:prstGeom prst="roundRect">
            <a:avLst>
              <a:gd name="adj" fmla="val 8276"/>
            </a:avLst>
          </a:prstGeom>
          <a:solidFill>
            <a:schemeClr val="tx2"/>
          </a:solidFill>
          <a:ln w="9525">
            <a:solidFill>
              <a:schemeClr val="accent3"/>
            </a:solidFill>
            <a:prstDash val="solid"/>
          </a:ln>
        </p:spPr>
      </p:sp>
      <p:sp>
        <p:nvSpPr>
          <p:cNvPr id="9" name="Shape 7"/>
          <p:cNvSpPr/>
          <p:nvPr/>
        </p:nvSpPr>
        <p:spPr>
          <a:xfrm>
            <a:off x="4754880" y="1856232"/>
            <a:ext cx="502920" cy="502920"/>
          </a:xfrm>
          <a:prstGeom prst="ellipse">
            <a:avLst/>
          </a:prstGeom>
          <a:solidFill>
            <a:schemeClr val="accent2"/>
          </a:solidFill>
          <a:ln w="12700">
            <a:solidFill>
              <a:schemeClr val="accent2"/>
            </a:solidFill>
            <a:prstDash val="solid"/>
          </a:ln>
        </p:spPr>
      </p:sp>
      <p:pic>
        <p:nvPicPr>
          <p:cNvPr id="10" name="Image 0" descr="preencoded.png"/>
          <p:cNvPicPr>
            <a:picLocks noChangeAspect="1"/>
          </p:cNvPicPr>
          <p:nvPr/>
        </p:nvPicPr>
        <p:blipFill>
          <a:blip r:embed="rId3"/>
          <a:stretch>
            <a:fillRect/>
          </a:stretch>
        </p:blipFill>
        <p:spPr>
          <a:xfrm>
            <a:off x="4880610" y="1981962"/>
            <a:ext cx="251460" cy="251460"/>
          </a:xfrm>
          <a:prstGeom prst="rect">
            <a:avLst/>
          </a:prstGeom>
        </p:spPr>
      </p:pic>
      <p:sp>
        <p:nvSpPr>
          <p:cNvPr id="11" name="Text 8"/>
          <p:cNvSpPr txBox="1"/>
          <p:nvPr/>
        </p:nvSpPr>
        <p:spPr>
          <a:xfrm>
            <a:off x="4754880" y="2441448"/>
            <a:ext cx="1600200" cy="502920"/>
          </a:xfrm>
          <a:prstGeom prst="rect">
            <a:avLst/>
          </a:prstGeom>
          <a:noFill/>
          <a:ln/>
        </p:spPr>
        <p:txBody>
          <a:bodyPr wrap="square" lIns="0" tIns="0" rIns="0" bIns="0" rtlCol="0" anchor="t"/>
          <a:lstStyle/>
          <a:p>
            <a:pPr marL="0" indent="0">
              <a:buNone/>
            </a:pPr>
            <a:r>
              <a:rPr lang="en-US" sz="1400" b="1" dirty="0">
                <a:solidFill>
                  <a:schemeClr val="bg1"/>
                </a:solidFill>
              </a:rPr>
              <a:t>Children and students</a:t>
            </a:r>
            <a:endParaRPr lang="en-US" sz="1400" dirty="0"/>
          </a:p>
        </p:txBody>
      </p:sp>
      <p:sp>
        <p:nvSpPr>
          <p:cNvPr id="12" name="Shape 9"/>
          <p:cNvSpPr/>
          <p:nvPr/>
        </p:nvSpPr>
        <p:spPr>
          <a:xfrm>
            <a:off x="6766560" y="1691640"/>
            <a:ext cx="1920240" cy="1325880"/>
          </a:xfrm>
          <a:prstGeom prst="roundRect">
            <a:avLst>
              <a:gd name="adj" fmla="val 8276"/>
            </a:avLst>
          </a:prstGeom>
          <a:solidFill>
            <a:schemeClr val="tx2"/>
          </a:solidFill>
          <a:ln w="9525">
            <a:solidFill>
              <a:schemeClr val="accent3"/>
            </a:solidFill>
            <a:prstDash val="solid"/>
          </a:ln>
        </p:spPr>
      </p:sp>
      <p:sp>
        <p:nvSpPr>
          <p:cNvPr id="13" name="Shape 10"/>
          <p:cNvSpPr/>
          <p:nvPr/>
        </p:nvSpPr>
        <p:spPr>
          <a:xfrm>
            <a:off x="6949440" y="1856232"/>
            <a:ext cx="502920" cy="502920"/>
          </a:xfrm>
          <a:prstGeom prst="ellipse">
            <a:avLst/>
          </a:prstGeom>
          <a:solidFill>
            <a:schemeClr val="accent2"/>
          </a:solidFill>
          <a:ln w="12700">
            <a:solidFill>
              <a:schemeClr val="accent2"/>
            </a:solidFill>
            <a:prstDash val="solid"/>
          </a:ln>
        </p:spPr>
      </p:sp>
      <p:pic>
        <p:nvPicPr>
          <p:cNvPr id="14" name="Image 1" descr="preencoded.png"/>
          <p:cNvPicPr>
            <a:picLocks noChangeAspect="1"/>
          </p:cNvPicPr>
          <p:nvPr/>
        </p:nvPicPr>
        <p:blipFill>
          <a:blip r:embed="rId4"/>
          <a:stretch>
            <a:fillRect/>
          </a:stretch>
        </p:blipFill>
        <p:spPr>
          <a:xfrm>
            <a:off x="7075170" y="1981962"/>
            <a:ext cx="251460" cy="251460"/>
          </a:xfrm>
          <a:prstGeom prst="rect">
            <a:avLst/>
          </a:prstGeom>
        </p:spPr>
      </p:pic>
      <p:sp>
        <p:nvSpPr>
          <p:cNvPr id="15" name="Text 11"/>
          <p:cNvSpPr txBox="1"/>
          <p:nvPr/>
        </p:nvSpPr>
        <p:spPr>
          <a:xfrm>
            <a:off x="6949440" y="2441448"/>
            <a:ext cx="1600200" cy="502920"/>
          </a:xfrm>
          <a:prstGeom prst="rect">
            <a:avLst/>
          </a:prstGeom>
          <a:noFill/>
          <a:ln/>
        </p:spPr>
        <p:txBody>
          <a:bodyPr wrap="square" lIns="0" tIns="0" rIns="0" bIns="0" rtlCol="0" anchor="t"/>
          <a:lstStyle/>
          <a:p>
            <a:pPr marL="0" indent="0">
              <a:buNone/>
            </a:pPr>
            <a:r>
              <a:rPr lang="en-US" sz="1400" b="1" dirty="0">
                <a:solidFill>
                  <a:schemeClr val="bg1"/>
                </a:solidFill>
              </a:rPr>
              <a:t>Teachers and schools</a:t>
            </a:r>
            <a:endParaRPr lang="en-US" sz="1400" dirty="0"/>
          </a:p>
        </p:txBody>
      </p:sp>
      <p:sp>
        <p:nvSpPr>
          <p:cNvPr id="16" name="Shape 12"/>
          <p:cNvSpPr/>
          <p:nvPr/>
        </p:nvSpPr>
        <p:spPr>
          <a:xfrm>
            <a:off x="4572000" y="3200400"/>
            <a:ext cx="1920240" cy="1325880"/>
          </a:xfrm>
          <a:prstGeom prst="roundRect">
            <a:avLst>
              <a:gd name="adj" fmla="val 8276"/>
            </a:avLst>
          </a:prstGeom>
          <a:solidFill>
            <a:schemeClr val="tx2"/>
          </a:solidFill>
          <a:ln w="9525">
            <a:solidFill>
              <a:schemeClr val="accent3"/>
            </a:solidFill>
            <a:prstDash val="solid"/>
          </a:ln>
        </p:spPr>
      </p:sp>
      <p:sp>
        <p:nvSpPr>
          <p:cNvPr id="17" name="Shape 13"/>
          <p:cNvSpPr/>
          <p:nvPr/>
        </p:nvSpPr>
        <p:spPr>
          <a:xfrm>
            <a:off x="4754880" y="3364992"/>
            <a:ext cx="502920" cy="502920"/>
          </a:xfrm>
          <a:prstGeom prst="ellipse">
            <a:avLst/>
          </a:prstGeom>
          <a:solidFill>
            <a:schemeClr val="accent2"/>
          </a:solidFill>
          <a:ln w="12700">
            <a:solidFill>
              <a:schemeClr val="accent2"/>
            </a:solidFill>
            <a:prstDash val="solid"/>
          </a:ln>
        </p:spPr>
      </p:sp>
      <p:pic>
        <p:nvPicPr>
          <p:cNvPr id="18" name="Image 2" descr="preencoded.png"/>
          <p:cNvPicPr>
            <a:picLocks noChangeAspect="1"/>
          </p:cNvPicPr>
          <p:nvPr/>
        </p:nvPicPr>
        <p:blipFill>
          <a:blip r:embed="rId5"/>
          <a:stretch>
            <a:fillRect/>
          </a:stretch>
        </p:blipFill>
        <p:spPr>
          <a:xfrm>
            <a:off x="4880610" y="3490722"/>
            <a:ext cx="251460" cy="251460"/>
          </a:xfrm>
          <a:prstGeom prst="rect">
            <a:avLst/>
          </a:prstGeom>
        </p:spPr>
      </p:pic>
      <p:sp>
        <p:nvSpPr>
          <p:cNvPr id="19" name="Text 14"/>
          <p:cNvSpPr txBox="1"/>
          <p:nvPr/>
        </p:nvSpPr>
        <p:spPr>
          <a:xfrm>
            <a:off x="4754880" y="3950208"/>
            <a:ext cx="1600200" cy="502920"/>
          </a:xfrm>
          <a:prstGeom prst="rect">
            <a:avLst/>
          </a:prstGeom>
          <a:noFill/>
          <a:ln/>
        </p:spPr>
        <p:txBody>
          <a:bodyPr wrap="square" lIns="0" tIns="0" rIns="0" bIns="0" rtlCol="0" anchor="t"/>
          <a:lstStyle/>
          <a:p>
            <a:pPr marL="0" indent="0">
              <a:buNone/>
            </a:pPr>
            <a:r>
              <a:rPr lang="en-US" sz="1400" b="1" dirty="0">
                <a:solidFill>
                  <a:schemeClr val="bg1"/>
                </a:solidFill>
              </a:rPr>
              <a:t>Families and clubs</a:t>
            </a:r>
            <a:endParaRPr lang="en-US" sz="1400" dirty="0"/>
          </a:p>
        </p:txBody>
      </p:sp>
      <p:sp>
        <p:nvSpPr>
          <p:cNvPr id="20" name="Shape 15"/>
          <p:cNvSpPr/>
          <p:nvPr/>
        </p:nvSpPr>
        <p:spPr>
          <a:xfrm>
            <a:off x="6766560" y="3200400"/>
            <a:ext cx="1920240" cy="1325880"/>
          </a:xfrm>
          <a:prstGeom prst="roundRect">
            <a:avLst>
              <a:gd name="adj" fmla="val 8276"/>
            </a:avLst>
          </a:prstGeom>
          <a:solidFill>
            <a:schemeClr val="tx2"/>
          </a:solidFill>
          <a:ln w="25400">
            <a:solidFill>
              <a:schemeClr val="accent1"/>
            </a:solidFill>
            <a:prstDash val="solid"/>
          </a:ln>
        </p:spPr>
      </p:sp>
      <p:sp>
        <p:nvSpPr>
          <p:cNvPr id="21" name="Shape 16"/>
          <p:cNvSpPr/>
          <p:nvPr/>
        </p:nvSpPr>
        <p:spPr>
          <a:xfrm>
            <a:off x="6949440" y="3364992"/>
            <a:ext cx="502920" cy="502920"/>
          </a:xfrm>
          <a:prstGeom prst="ellipse">
            <a:avLst/>
          </a:prstGeom>
          <a:solidFill>
            <a:schemeClr val="accent1"/>
          </a:solidFill>
          <a:ln w="12700">
            <a:solidFill>
              <a:schemeClr val="accent1"/>
            </a:solidFill>
            <a:prstDash val="solid"/>
          </a:ln>
        </p:spPr>
      </p:sp>
      <p:pic>
        <p:nvPicPr>
          <p:cNvPr id="22" name="Image 3" descr="preencoded.png"/>
          <p:cNvPicPr>
            <a:picLocks noChangeAspect="1"/>
          </p:cNvPicPr>
          <p:nvPr/>
        </p:nvPicPr>
        <p:blipFill>
          <a:blip r:embed="rId6"/>
          <a:stretch>
            <a:fillRect/>
          </a:stretch>
        </p:blipFill>
        <p:spPr>
          <a:xfrm>
            <a:off x="7075170" y="3490722"/>
            <a:ext cx="251460" cy="251460"/>
          </a:xfrm>
          <a:prstGeom prst="rect">
            <a:avLst/>
          </a:prstGeom>
        </p:spPr>
      </p:pic>
      <p:sp>
        <p:nvSpPr>
          <p:cNvPr id="23" name="Text 17"/>
          <p:cNvSpPr txBox="1"/>
          <p:nvPr/>
        </p:nvSpPr>
        <p:spPr>
          <a:xfrm>
            <a:off x="6949440" y="3950208"/>
            <a:ext cx="1600200" cy="502920"/>
          </a:xfrm>
          <a:prstGeom prst="rect">
            <a:avLst/>
          </a:prstGeom>
          <a:noFill/>
          <a:ln/>
        </p:spPr>
        <p:txBody>
          <a:bodyPr wrap="square" lIns="0" tIns="0" rIns="0" bIns="0" rtlCol="0" anchor="t"/>
          <a:lstStyle/>
          <a:p>
            <a:pPr marL="0" indent="0">
              <a:buNone/>
            </a:pPr>
            <a:r>
              <a:rPr lang="en-US" sz="1400" b="1" dirty="0">
                <a:solidFill>
                  <a:schemeClr val="bg1"/>
                </a:solidFill>
              </a:rPr>
              <a:t>Low-resource communities</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457200" y="292608"/>
            <a:ext cx="1280160" cy="329184"/>
          </a:xfrm>
          <a:prstGeom prst="roundRect">
            <a:avLst>
              <a:gd name="adj" fmla="val 50000"/>
            </a:avLst>
          </a:prstGeom>
          <a:solidFill>
            <a:schemeClr val="accent1"/>
          </a:solidFill>
          <a:ln w="12700">
            <a:solidFill>
              <a:schemeClr val="accent1"/>
            </a:solidFill>
            <a:prstDash val="solid"/>
          </a:ln>
        </p:spPr>
      </p:sp>
      <p:sp>
        <p:nvSpPr>
          <p:cNvPr id="3" name="Text 1"/>
          <p:cNvSpPr txBox="1"/>
          <p:nvPr/>
        </p:nvSpPr>
        <p:spPr>
          <a:xfrm>
            <a:off x="457200" y="292608"/>
            <a:ext cx="1280160" cy="329184"/>
          </a:xfrm>
          <a:prstGeom prst="rect">
            <a:avLst/>
          </a:prstGeom>
          <a:noFill/>
          <a:ln/>
        </p:spPr>
        <p:txBody>
          <a:bodyPr wrap="square" lIns="0" tIns="0" rIns="0" bIns="0" rtlCol="0" anchor="ctr"/>
          <a:lstStyle/>
          <a:p>
            <a:pPr marL="0" indent="0" algn="ctr">
              <a:buNone/>
            </a:pPr>
            <a:r>
              <a:rPr lang="en-US" sz="1300" b="1" kern="0" spc="100" dirty="0">
                <a:solidFill>
                  <a:schemeClr val="tx1"/>
                </a:solidFill>
              </a:rPr>
              <a:t>02  WHY</a:t>
            </a:r>
            <a:endParaRPr lang="en-US" sz="1300" dirty="0"/>
          </a:p>
        </p:txBody>
      </p:sp>
      <p:sp>
        <p:nvSpPr>
          <p:cNvPr id="5" name="Text 1"/>
          <p:cNvSpPr>
            <a:spLocks noGrp="1"/>
          </p:cNvSpPr>
          <p:nvPr>
            <p:ph type="title" idx="101" hasCustomPrompt="1"/>
          </p:nvPr>
        </p:nvSpPr>
        <p:spPr>
          <a:xfrm>
            <a:off x="457200" y="731520"/>
            <a:ext cx="8229600" cy="731520"/>
          </a:xfrm>
          <a:prstGeom prst="rect">
            <a:avLst/>
          </a:prstGeom>
          <a:noFill/>
          <a:ln/>
        </p:spPr>
        <p:txBody>
          <a:bodyPr wrap="square" lIns="0" tIns="0" rIns="0" bIns="0" rtlCol="0" anchor="ctr"/>
          <a:lstStyle/>
          <a:p>
            <a:pPr marL="0" indent="0" algn="l">
              <a:buNone/>
            </a:pPr>
            <a:r>
              <a:rPr lang="en-US" sz="3600" b="1" dirty="0">
                <a:solidFill>
                  <a:schemeClr val="bg1"/>
                </a:solidFill>
              </a:rPr>
              <a:t>One dusty week</a:t>
            </a:r>
            <a:endParaRPr lang="en-US" sz="3600" dirty="0"/>
          </a:p>
        </p:txBody>
      </p:sp>
      <p:sp>
        <p:nvSpPr>
          <p:cNvPr id="6" name="Shape 4"/>
          <p:cNvSpPr/>
          <p:nvPr/>
        </p:nvSpPr>
        <p:spPr>
          <a:xfrm>
            <a:off x="457200" y="2103120"/>
            <a:ext cx="1463040" cy="1554480"/>
          </a:xfrm>
          <a:prstGeom prst="roundRect">
            <a:avLst>
              <a:gd name="adj" fmla="val 3750"/>
            </a:avLst>
          </a:prstGeom>
          <a:solidFill>
            <a:schemeClr val="accent2"/>
          </a:solidFill>
          <a:ln w="12700">
            <a:solidFill>
              <a:schemeClr val="accent2"/>
            </a:solidFill>
            <a:prstDash val="solid"/>
          </a:ln>
        </p:spPr>
      </p:sp>
      <p:pic>
        <p:nvPicPr>
          <p:cNvPr id="7" name="Image 0" descr="preencoded.png"/>
          <p:cNvPicPr>
            <a:picLocks noChangeAspect="1"/>
          </p:cNvPicPr>
          <p:nvPr/>
        </p:nvPicPr>
        <p:blipFill>
          <a:blip r:embed="rId3"/>
          <a:stretch>
            <a:fillRect/>
          </a:stretch>
        </p:blipFill>
        <p:spPr>
          <a:xfrm>
            <a:off x="960120" y="1600200"/>
            <a:ext cx="411480" cy="411480"/>
          </a:xfrm>
          <a:prstGeom prst="rect">
            <a:avLst/>
          </a:prstGeom>
        </p:spPr>
      </p:pic>
      <p:sp>
        <p:nvSpPr>
          <p:cNvPr id="8" name="Text 5"/>
          <p:cNvSpPr txBox="1"/>
          <p:nvPr/>
        </p:nvSpPr>
        <p:spPr>
          <a:xfrm>
            <a:off x="457200" y="3749040"/>
            <a:ext cx="1463040" cy="502920"/>
          </a:xfrm>
          <a:prstGeom prst="rect">
            <a:avLst/>
          </a:prstGeom>
          <a:noFill/>
          <a:ln/>
        </p:spPr>
        <p:txBody>
          <a:bodyPr wrap="square" lIns="0" tIns="0" rIns="0" bIns="0" rtlCol="0" anchor="t"/>
          <a:lstStyle/>
          <a:p>
            <a:pPr marL="0" indent="0" algn="ctr">
              <a:buNone/>
            </a:pPr>
            <a:r>
              <a:rPr lang="en-US" sz="1400" b="1" dirty="0">
                <a:solidFill>
                  <a:schemeClr val="bg1"/>
                </a:solidFill>
              </a:rPr>
              <a:t>Sun shines</a:t>
            </a:r>
            <a:endParaRPr lang="en-US" sz="1400" dirty="0"/>
          </a:p>
        </p:txBody>
      </p:sp>
      <p:sp>
        <p:nvSpPr>
          <p:cNvPr id="9" name="Shape 6"/>
          <p:cNvSpPr/>
          <p:nvPr/>
        </p:nvSpPr>
        <p:spPr>
          <a:xfrm>
            <a:off x="2148840" y="2377440"/>
            <a:ext cx="1463040" cy="1280160"/>
          </a:xfrm>
          <a:prstGeom prst="roundRect">
            <a:avLst>
              <a:gd name="adj" fmla="val 4286"/>
            </a:avLst>
          </a:prstGeom>
          <a:solidFill>
            <a:schemeClr val="accent2"/>
          </a:solidFill>
          <a:ln w="12700">
            <a:solidFill>
              <a:schemeClr val="accent2"/>
            </a:solidFill>
            <a:prstDash val="solid"/>
          </a:ln>
        </p:spPr>
      </p:sp>
      <p:pic>
        <p:nvPicPr>
          <p:cNvPr id="10" name="Image 1" descr="preencoded.png"/>
          <p:cNvPicPr>
            <a:picLocks noChangeAspect="1"/>
          </p:cNvPicPr>
          <p:nvPr/>
        </p:nvPicPr>
        <p:blipFill>
          <a:blip r:embed="rId4"/>
          <a:stretch>
            <a:fillRect/>
          </a:stretch>
        </p:blipFill>
        <p:spPr>
          <a:xfrm>
            <a:off x="2651760" y="1874520"/>
            <a:ext cx="411480" cy="411480"/>
          </a:xfrm>
          <a:prstGeom prst="rect">
            <a:avLst/>
          </a:prstGeom>
        </p:spPr>
      </p:pic>
      <p:sp>
        <p:nvSpPr>
          <p:cNvPr id="11" name="Text 7"/>
          <p:cNvSpPr txBox="1"/>
          <p:nvPr/>
        </p:nvSpPr>
        <p:spPr>
          <a:xfrm>
            <a:off x="2148840" y="3749040"/>
            <a:ext cx="1463040" cy="502920"/>
          </a:xfrm>
          <a:prstGeom prst="rect">
            <a:avLst/>
          </a:prstGeom>
          <a:noFill/>
          <a:ln/>
        </p:spPr>
        <p:txBody>
          <a:bodyPr wrap="square" lIns="0" tIns="0" rIns="0" bIns="0" rtlCol="0" anchor="t"/>
          <a:lstStyle/>
          <a:p>
            <a:pPr marL="0" indent="0" algn="ctr">
              <a:buNone/>
            </a:pPr>
            <a:r>
              <a:rPr lang="en-US" sz="1400" b="1" dirty="0">
                <a:solidFill>
                  <a:schemeClr val="bg1"/>
                </a:solidFill>
              </a:rPr>
              <a:t>Dust hides the Sun</a:t>
            </a:r>
            <a:endParaRPr lang="en-US" sz="1400" dirty="0"/>
          </a:p>
        </p:txBody>
      </p:sp>
      <p:sp>
        <p:nvSpPr>
          <p:cNvPr id="12" name="Shape 8"/>
          <p:cNvSpPr/>
          <p:nvPr/>
        </p:nvSpPr>
        <p:spPr>
          <a:xfrm>
            <a:off x="3840480" y="2743200"/>
            <a:ext cx="1463040" cy="914400"/>
          </a:xfrm>
          <a:prstGeom prst="roundRect">
            <a:avLst>
              <a:gd name="adj" fmla="val 6000"/>
            </a:avLst>
          </a:prstGeom>
          <a:solidFill>
            <a:schemeClr val="accent1"/>
          </a:solidFill>
          <a:ln w="12700">
            <a:solidFill>
              <a:schemeClr val="accent1"/>
            </a:solidFill>
            <a:prstDash val="solid"/>
          </a:ln>
        </p:spPr>
      </p:sp>
      <p:pic>
        <p:nvPicPr>
          <p:cNvPr id="13" name="Image 2" descr="preencoded.png"/>
          <p:cNvPicPr>
            <a:picLocks noChangeAspect="1"/>
          </p:cNvPicPr>
          <p:nvPr/>
        </p:nvPicPr>
        <p:blipFill>
          <a:blip r:embed="rId5"/>
          <a:stretch>
            <a:fillRect/>
          </a:stretch>
        </p:blipFill>
        <p:spPr>
          <a:xfrm>
            <a:off x="4343400" y="2240280"/>
            <a:ext cx="411480" cy="411480"/>
          </a:xfrm>
          <a:prstGeom prst="rect">
            <a:avLst/>
          </a:prstGeom>
        </p:spPr>
      </p:pic>
      <p:sp>
        <p:nvSpPr>
          <p:cNvPr id="14" name="Text 9"/>
          <p:cNvSpPr txBox="1"/>
          <p:nvPr/>
        </p:nvSpPr>
        <p:spPr>
          <a:xfrm>
            <a:off x="3840480" y="3749040"/>
            <a:ext cx="1463040" cy="502920"/>
          </a:xfrm>
          <a:prstGeom prst="rect">
            <a:avLst/>
          </a:prstGeom>
          <a:noFill/>
          <a:ln/>
        </p:spPr>
        <p:txBody>
          <a:bodyPr wrap="square" lIns="0" tIns="0" rIns="0" bIns="0" rtlCol="0" anchor="t"/>
          <a:lstStyle/>
          <a:p>
            <a:pPr marL="0" indent="0" algn="ctr">
              <a:buNone/>
            </a:pPr>
            <a:r>
              <a:rPr lang="en-US" sz="1400" b="1" dirty="0">
                <a:solidFill>
                  <a:schemeClr val="bg1"/>
                </a:solidFill>
              </a:rPr>
              <a:t>Power falls</a:t>
            </a:r>
            <a:endParaRPr lang="en-US" sz="1400" dirty="0"/>
          </a:p>
        </p:txBody>
      </p:sp>
      <p:sp>
        <p:nvSpPr>
          <p:cNvPr id="15" name="Shape 10"/>
          <p:cNvSpPr/>
          <p:nvPr/>
        </p:nvSpPr>
        <p:spPr>
          <a:xfrm>
            <a:off x="5532120" y="3063240"/>
            <a:ext cx="1463040" cy="594360"/>
          </a:xfrm>
          <a:prstGeom prst="roundRect">
            <a:avLst>
              <a:gd name="adj" fmla="val 9231"/>
            </a:avLst>
          </a:prstGeom>
          <a:solidFill>
            <a:schemeClr val="accent1"/>
          </a:solidFill>
          <a:ln w="12700">
            <a:solidFill>
              <a:schemeClr val="accent1"/>
            </a:solidFill>
            <a:prstDash val="solid"/>
          </a:ln>
        </p:spPr>
      </p:sp>
      <p:pic>
        <p:nvPicPr>
          <p:cNvPr id="16" name="Image 3" descr="preencoded.png"/>
          <p:cNvPicPr>
            <a:picLocks noChangeAspect="1"/>
          </p:cNvPicPr>
          <p:nvPr/>
        </p:nvPicPr>
        <p:blipFill>
          <a:blip r:embed="rId6"/>
          <a:stretch>
            <a:fillRect/>
          </a:stretch>
        </p:blipFill>
        <p:spPr>
          <a:xfrm>
            <a:off x="6035040" y="2560320"/>
            <a:ext cx="411480" cy="411480"/>
          </a:xfrm>
          <a:prstGeom prst="rect">
            <a:avLst/>
          </a:prstGeom>
        </p:spPr>
      </p:pic>
      <p:sp>
        <p:nvSpPr>
          <p:cNvPr id="17" name="Text 11"/>
          <p:cNvSpPr txBox="1"/>
          <p:nvPr/>
        </p:nvSpPr>
        <p:spPr>
          <a:xfrm>
            <a:off x="5532120" y="3749040"/>
            <a:ext cx="1463040" cy="502920"/>
          </a:xfrm>
          <a:prstGeom prst="rect">
            <a:avLst/>
          </a:prstGeom>
          <a:noFill/>
          <a:ln/>
        </p:spPr>
        <p:txBody>
          <a:bodyPr wrap="square" lIns="0" tIns="0" rIns="0" bIns="0" rtlCol="0" anchor="t"/>
          <a:lstStyle/>
          <a:p>
            <a:pPr marL="0" indent="0" algn="ctr">
              <a:buNone/>
            </a:pPr>
            <a:r>
              <a:rPr lang="en-US" sz="1400" b="1" dirty="0">
                <a:solidFill>
                  <a:schemeClr val="bg1"/>
                </a:solidFill>
              </a:rPr>
              <a:t>A machine breaks</a:t>
            </a:r>
            <a:endParaRPr lang="en-US" sz="1400" dirty="0"/>
          </a:p>
        </p:txBody>
      </p:sp>
      <p:sp>
        <p:nvSpPr>
          <p:cNvPr id="18" name="Shape 12"/>
          <p:cNvSpPr/>
          <p:nvPr/>
        </p:nvSpPr>
        <p:spPr>
          <a:xfrm>
            <a:off x="7223760" y="3383280"/>
            <a:ext cx="1463040" cy="274320"/>
          </a:xfrm>
          <a:prstGeom prst="roundRect">
            <a:avLst>
              <a:gd name="adj" fmla="val 20000"/>
            </a:avLst>
          </a:prstGeom>
          <a:solidFill>
            <a:schemeClr val="accent5"/>
          </a:solidFill>
          <a:ln w="12700">
            <a:solidFill>
              <a:schemeClr val="accent5"/>
            </a:solidFill>
            <a:prstDash val="solid"/>
          </a:ln>
        </p:spPr>
      </p:sp>
      <p:pic>
        <p:nvPicPr>
          <p:cNvPr id="19" name="Image 4" descr="preencoded.png"/>
          <p:cNvPicPr>
            <a:picLocks noChangeAspect="1"/>
          </p:cNvPicPr>
          <p:nvPr/>
        </p:nvPicPr>
        <p:blipFill>
          <a:blip r:embed="rId7"/>
          <a:stretch>
            <a:fillRect/>
          </a:stretch>
        </p:blipFill>
        <p:spPr>
          <a:xfrm>
            <a:off x="7726680" y="2880360"/>
            <a:ext cx="411480" cy="411480"/>
          </a:xfrm>
          <a:prstGeom prst="rect">
            <a:avLst/>
          </a:prstGeom>
        </p:spPr>
      </p:pic>
      <p:sp>
        <p:nvSpPr>
          <p:cNvPr id="20" name="Text 13"/>
          <p:cNvSpPr txBox="1"/>
          <p:nvPr/>
        </p:nvSpPr>
        <p:spPr>
          <a:xfrm>
            <a:off x="7223760" y="3749040"/>
            <a:ext cx="1463040" cy="502920"/>
          </a:xfrm>
          <a:prstGeom prst="rect">
            <a:avLst/>
          </a:prstGeom>
          <a:noFill/>
          <a:ln/>
        </p:spPr>
        <p:txBody>
          <a:bodyPr wrap="square" lIns="0" tIns="0" rIns="0" bIns="0" rtlCol="0" anchor="t"/>
          <a:lstStyle/>
          <a:p>
            <a:pPr marL="0" indent="0" algn="ctr">
              <a:buNone/>
            </a:pPr>
            <a:r>
              <a:rPr lang="en-US" sz="1400" b="1" dirty="0">
                <a:solidFill>
                  <a:schemeClr val="bg1"/>
                </a:solidFill>
              </a:rPr>
              <a:t>Crew in danger</a:t>
            </a:r>
            <a:endParaRPr lang="en-US" sz="1400" dirty="0"/>
          </a:p>
        </p:txBody>
      </p:sp>
      <p:sp>
        <p:nvSpPr>
          <p:cNvPr id="21" name="Text 14"/>
          <p:cNvSpPr txBox="1"/>
          <p:nvPr/>
        </p:nvSpPr>
        <p:spPr>
          <a:xfrm>
            <a:off x="457200" y="4343400"/>
            <a:ext cx="4572000" cy="320040"/>
          </a:xfrm>
          <a:prstGeom prst="rect">
            <a:avLst/>
          </a:prstGeom>
          <a:noFill/>
          <a:ln/>
        </p:spPr>
        <p:txBody>
          <a:bodyPr wrap="square" lIns="0" tIns="0" rIns="0" bIns="0" rtlCol="0" anchor="ctr"/>
          <a:lstStyle/>
          <a:p>
            <a:pPr marL="0" indent="0">
              <a:buNone/>
            </a:pPr>
            <a:r>
              <a:rPr lang="en-US" sz="1800" i="1" dirty="0">
                <a:solidFill>
                  <a:schemeClr val="accent2"/>
                </a:solidFill>
              </a:rPr>
              <a:t>Plan backups, then try again.</a:t>
            </a:r>
            <a:endParaRPr lang="en-US" sz="1800" dirty="0"/>
          </a:p>
        </p:txBody>
      </p:sp>
      <p:sp>
        <p:nvSpPr>
          <p:cNvPr id="22" name="Text 15"/>
          <p:cNvSpPr txBox="1"/>
          <p:nvPr/>
        </p:nvSpPr>
        <p:spPr>
          <a:xfrm>
            <a:off x="5486400" y="4389120"/>
            <a:ext cx="3200400" cy="228600"/>
          </a:xfrm>
          <a:prstGeom prst="rect">
            <a:avLst/>
          </a:prstGeom>
          <a:noFill/>
          <a:ln/>
        </p:spPr>
        <p:txBody>
          <a:bodyPr wrap="square" lIns="0" tIns="0" rIns="0" bIns="0" rtlCol="0" anchor="ctr"/>
          <a:lstStyle/>
          <a:p>
            <a:pPr marL="0" indent="0" algn="r">
              <a:buNone/>
            </a:pPr>
            <a:r>
              <a:rPr lang="en-US" sz="1000" dirty="0">
                <a:solidFill>
                  <a:schemeClr val="accent6"/>
                </a:solidFill>
              </a:rPr>
              <a:t>Illustration only FOR NOW, not real data</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457200" y="292608"/>
            <a:ext cx="1280160" cy="329184"/>
          </a:xfrm>
          <a:prstGeom prst="roundRect">
            <a:avLst>
              <a:gd name="adj" fmla="val 50000"/>
            </a:avLst>
          </a:prstGeom>
          <a:solidFill>
            <a:schemeClr val="accent1"/>
          </a:solidFill>
          <a:ln w="12700">
            <a:solidFill>
              <a:schemeClr val="accent1"/>
            </a:solidFill>
            <a:prstDash val="solid"/>
          </a:ln>
        </p:spPr>
      </p:sp>
      <p:sp>
        <p:nvSpPr>
          <p:cNvPr id="3" name="Text 1"/>
          <p:cNvSpPr txBox="1"/>
          <p:nvPr/>
        </p:nvSpPr>
        <p:spPr>
          <a:xfrm>
            <a:off x="457200" y="292608"/>
            <a:ext cx="1280160" cy="329184"/>
          </a:xfrm>
          <a:prstGeom prst="rect">
            <a:avLst/>
          </a:prstGeom>
          <a:noFill/>
          <a:ln/>
        </p:spPr>
        <p:txBody>
          <a:bodyPr wrap="square" lIns="0" tIns="0" rIns="0" bIns="0" rtlCol="0" anchor="ctr"/>
          <a:lstStyle/>
          <a:p>
            <a:pPr marL="0" indent="0" algn="ctr">
              <a:buNone/>
            </a:pPr>
            <a:r>
              <a:rPr lang="en-US" sz="1300" b="1" kern="0" spc="100" dirty="0">
                <a:solidFill>
                  <a:schemeClr val="tx1"/>
                </a:solidFill>
              </a:rPr>
              <a:t>03  WHAT</a:t>
            </a:r>
            <a:endParaRPr lang="en-US" sz="1300" dirty="0"/>
          </a:p>
        </p:txBody>
      </p:sp>
      <p:sp>
        <p:nvSpPr>
          <p:cNvPr id="5" name="Text 1"/>
          <p:cNvSpPr>
            <a:spLocks noGrp="1"/>
          </p:cNvSpPr>
          <p:nvPr>
            <p:ph type="title" idx="101" hasCustomPrompt="1"/>
          </p:nvPr>
        </p:nvSpPr>
        <p:spPr>
          <a:xfrm>
            <a:off x="457200" y="731520"/>
            <a:ext cx="8229600" cy="731520"/>
          </a:xfrm>
          <a:prstGeom prst="rect">
            <a:avLst/>
          </a:prstGeom>
          <a:noFill/>
          <a:ln/>
        </p:spPr>
        <p:txBody>
          <a:bodyPr wrap="square" lIns="0" tIns="0" rIns="0" bIns="0" rtlCol="0" anchor="ctr"/>
          <a:lstStyle/>
          <a:p>
            <a:pPr marL="0" indent="0" algn="l">
              <a:buNone/>
            </a:pPr>
            <a:r>
              <a:rPr lang="en-US" sz="3600" b="1" dirty="0">
                <a:solidFill>
                  <a:schemeClr val="bg1"/>
                </a:solidFill>
              </a:rPr>
              <a:t>What is Outpost Commander?</a:t>
            </a:r>
            <a:endParaRPr lang="en-US" sz="3600" dirty="0"/>
          </a:p>
        </p:txBody>
      </p:sp>
      <p:sp>
        <p:nvSpPr>
          <p:cNvPr id="6" name="Shape 4"/>
          <p:cNvSpPr/>
          <p:nvPr/>
        </p:nvSpPr>
        <p:spPr>
          <a:xfrm>
            <a:off x="457200" y="1645920"/>
            <a:ext cx="4572000" cy="2834640"/>
          </a:xfrm>
          <a:prstGeom prst="roundRect">
            <a:avLst>
              <a:gd name="adj" fmla="val 3871"/>
            </a:avLst>
          </a:prstGeom>
          <a:solidFill>
            <a:schemeClr val="tx2"/>
          </a:solidFill>
          <a:ln w="12700">
            <a:solidFill>
              <a:schemeClr val="accent3"/>
            </a:solidFill>
            <a:prstDash val="solid"/>
          </a:ln>
        </p:spPr>
      </p:sp>
      <p:sp>
        <p:nvSpPr>
          <p:cNvPr id="7" name="Shape 5"/>
          <p:cNvSpPr/>
          <p:nvPr/>
        </p:nvSpPr>
        <p:spPr>
          <a:xfrm>
            <a:off x="658368" y="1828800"/>
            <a:ext cx="118872" cy="118872"/>
          </a:xfrm>
          <a:prstGeom prst="ellipse">
            <a:avLst/>
          </a:prstGeom>
          <a:solidFill>
            <a:schemeClr val="accent5"/>
          </a:solidFill>
          <a:ln w="12700">
            <a:solidFill>
              <a:schemeClr val="accent3"/>
            </a:solidFill>
            <a:prstDash val="solid"/>
          </a:ln>
        </p:spPr>
      </p:sp>
      <p:sp>
        <p:nvSpPr>
          <p:cNvPr id="8" name="Shape 6"/>
          <p:cNvSpPr/>
          <p:nvPr/>
        </p:nvSpPr>
        <p:spPr>
          <a:xfrm>
            <a:off x="859536" y="1828800"/>
            <a:ext cx="118872" cy="118872"/>
          </a:xfrm>
          <a:prstGeom prst="ellipse">
            <a:avLst/>
          </a:prstGeom>
          <a:solidFill>
            <a:schemeClr val="accent2"/>
          </a:solidFill>
          <a:ln w="12700">
            <a:solidFill>
              <a:schemeClr val="accent3"/>
            </a:solidFill>
            <a:prstDash val="solid"/>
          </a:ln>
        </p:spPr>
      </p:sp>
      <p:sp>
        <p:nvSpPr>
          <p:cNvPr id="9" name="Shape 7"/>
          <p:cNvSpPr/>
          <p:nvPr/>
        </p:nvSpPr>
        <p:spPr>
          <a:xfrm>
            <a:off x="1060704" y="1828800"/>
            <a:ext cx="118872" cy="118872"/>
          </a:xfrm>
          <a:prstGeom prst="ellipse">
            <a:avLst/>
          </a:prstGeom>
          <a:solidFill>
            <a:schemeClr val="accent4"/>
          </a:solidFill>
          <a:ln w="12700">
            <a:solidFill>
              <a:schemeClr val="accent3"/>
            </a:solidFill>
            <a:prstDash val="solid"/>
          </a:ln>
        </p:spPr>
      </p:sp>
      <p:sp>
        <p:nvSpPr>
          <p:cNvPr id="10" name="Shape 8"/>
          <p:cNvSpPr/>
          <p:nvPr/>
        </p:nvSpPr>
        <p:spPr>
          <a:xfrm>
            <a:off x="1371600" y="1764792"/>
            <a:ext cx="3474720" cy="256032"/>
          </a:xfrm>
          <a:prstGeom prst="roundRect">
            <a:avLst>
              <a:gd name="adj" fmla="val 50000"/>
            </a:avLst>
          </a:prstGeom>
          <a:solidFill>
            <a:schemeClr val="tx1"/>
          </a:solidFill>
          <a:ln w="12700">
            <a:solidFill>
              <a:schemeClr val="accent3"/>
            </a:solidFill>
            <a:prstDash val="solid"/>
          </a:ln>
        </p:spPr>
      </p:sp>
      <p:sp>
        <p:nvSpPr>
          <p:cNvPr id="11" name="Text 9"/>
          <p:cNvSpPr txBox="1"/>
          <p:nvPr/>
        </p:nvSpPr>
        <p:spPr>
          <a:xfrm>
            <a:off x="1371600" y="1764792"/>
            <a:ext cx="3474720" cy="256032"/>
          </a:xfrm>
          <a:prstGeom prst="rect">
            <a:avLst/>
          </a:prstGeom>
          <a:noFill/>
          <a:ln/>
        </p:spPr>
        <p:txBody>
          <a:bodyPr wrap="square" lIns="0" tIns="0" rIns="0" bIns="0" rtlCol="0" anchor="ctr"/>
          <a:lstStyle/>
          <a:p>
            <a:pPr marL="0" indent="0" algn="ctr">
              <a:buNone/>
            </a:pPr>
            <a:r>
              <a:rPr lang="en-US" sz="1100" dirty="0">
                <a:solidFill>
                  <a:schemeClr val="accent2"/>
                </a:solidFill>
              </a:rPr>
              <a:t>neharvard.github.io/Outpost_Commander</a:t>
            </a:r>
            <a:endParaRPr lang="en-US" sz="1100" dirty="0"/>
          </a:p>
        </p:txBody>
      </p:sp>
      <p:sp>
        <p:nvSpPr>
          <p:cNvPr id="12" name="Text 10"/>
          <p:cNvSpPr txBox="1"/>
          <p:nvPr/>
        </p:nvSpPr>
        <p:spPr>
          <a:xfrm>
            <a:off x="731520" y="2423160"/>
            <a:ext cx="4023360" cy="457200"/>
          </a:xfrm>
          <a:prstGeom prst="rect">
            <a:avLst/>
          </a:prstGeom>
          <a:noFill/>
          <a:ln/>
        </p:spPr>
        <p:txBody>
          <a:bodyPr wrap="square" lIns="0" tIns="0" rIns="0" bIns="0" rtlCol="0" anchor="ctr"/>
          <a:lstStyle/>
          <a:p>
            <a:pPr marL="0" indent="0" algn="ctr">
              <a:buNone/>
            </a:pPr>
            <a:r>
              <a:rPr lang="en-US" sz="2400" b="1" dirty="0">
                <a:solidFill>
                  <a:schemeClr val="accent2"/>
                </a:solidFill>
              </a:rPr>
              <a:t>OUTPOST COMMANDER</a:t>
            </a:r>
            <a:endParaRPr lang="en-US" sz="2400" dirty="0"/>
          </a:p>
        </p:txBody>
      </p:sp>
      <p:sp>
        <p:nvSpPr>
          <p:cNvPr id="13" name="Text 11"/>
          <p:cNvSpPr txBox="1"/>
          <p:nvPr/>
        </p:nvSpPr>
        <p:spPr>
          <a:xfrm>
            <a:off x="731520" y="2926080"/>
            <a:ext cx="4023360" cy="320040"/>
          </a:xfrm>
          <a:prstGeom prst="rect">
            <a:avLst/>
          </a:prstGeom>
          <a:noFill/>
          <a:ln/>
        </p:spPr>
        <p:txBody>
          <a:bodyPr wrap="square" lIns="0" tIns="0" rIns="0" bIns="0" rtlCol="0" anchor="ctr"/>
          <a:lstStyle/>
          <a:p>
            <a:pPr marL="0" indent="0" algn="ctr">
              <a:buNone/>
            </a:pPr>
            <a:r>
              <a:rPr lang="en-US" sz="1600" dirty="0">
                <a:solidFill>
                  <a:schemeClr val="bg1"/>
                </a:solidFill>
              </a:rPr>
              <a:t>Command a base for 4 astronauts</a:t>
            </a:r>
            <a:endParaRPr lang="en-US" sz="1600" dirty="0"/>
          </a:p>
        </p:txBody>
      </p:sp>
      <p:grpSp>
        <p:nvGrpSpPr>
          <p:cNvPr id="30" name="Group 29">
            <a:extLst>
              <a:ext uri="{FF2B5EF4-FFF2-40B4-BE49-F238E27FC236}">
                <a16:creationId xmlns:a16="http://schemas.microsoft.com/office/drawing/2014/main" id="{9D1547D9-556F-32AC-AED5-170EA0697F0C}"/>
              </a:ext>
            </a:extLst>
          </p:cNvPr>
          <p:cNvGrpSpPr/>
          <p:nvPr/>
        </p:nvGrpSpPr>
        <p:grpSpPr>
          <a:xfrm>
            <a:off x="2011680" y="3515868"/>
            <a:ext cx="1463040" cy="896112"/>
            <a:chOff x="731520" y="3520440"/>
            <a:chExt cx="1463040" cy="896112"/>
          </a:xfrm>
        </p:grpSpPr>
        <p:sp>
          <p:nvSpPr>
            <p:cNvPr id="14" name="Shape 12"/>
            <p:cNvSpPr/>
            <p:nvPr/>
          </p:nvSpPr>
          <p:spPr>
            <a:xfrm>
              <a:off x="731520" y="3520440"/>
              <a:ext cx="640080" cy="640080"/>
            </a:xfrm>
            <a:prstGeom prst="ellipse">
              <a:avLst/>
            </a:prstGeom>
            <a:solidFill>
              <a:schemeClr val="accent6"/>
            </a:solidFill>
            <a:ln w="12700">
              <a:solidFill>
                <a:schemeClr val="accent6"/>
              </a:solidFill>
              <a:prstDash val="solid"/>
            </a:ln>
          </p:spPr>
        </p:sp>
        <p:sp>
          <p:nvSpPr>
            <p:cNvPr id="15" name="Shape 13"/>
            <p:cNvSpPr/>
            <p:nvPr/>
          </p:nvSpPr>
          <p:spPr>
            <a:xfrm>
              <a:off x="1554480" y="3520440"/>
              <a:ext cx="640080" cy="640080"/>
            </a:xfrm>
            <a:prstGeom prst="ellipse">
              <a:avLst/>
            </a:prstGeom>
            <a:solidFill>
              <a:schemeClr val="accent1"/>
            </a:solidFill>
            <a:ln w="12700">
              <a:solidFill>
                <a:schemeClr val="accent1"/>
              </a:solidFill>
              <a:prstDash val="solid"/>
            </a:ln>
          </p:spPr>
        </p:sp>
        <p:sp>
          <p:nvSpPr>
            <p:cNvPr id="16" name="Text 14"/>
            <p:cNvSpPr txBox="1"/>
            <p:nvPr/>
          </p:nvSpPr>
          <p:spPr>
            <a:xfrm>
              <a:off x="731520" y="4187952"/>
              <a:ext cx="640080" cy="228600"/>
            </a:xfrm>
            <a:prstGeom prst="rect">
              <a:avLst/>
            </a:prstGeom>
            <a:noFill/>
            <a:ln/>
          </p:spPr>
          <p:txBody>
            <a:bodyPr wrap="square" lIns="0" tIns="0" rIns="0" bIns="0" rtlCol="0" anchor="ctr"/>
            <a:lstStyle/>
            <a:p>
              <a:pPr marL="0" indent="0" algn="ctr">
                <a:buNone/>
              </a:pPr>
              <a:r>
                <a:rPr lang="en-US" sz="1200" dirty="0">
                  <a:solidFill>
                    <a:schemeClr val="accent6"/>
                  </a:solidFill>
                </a:rPr>
                <a:t>Moon</a:t>
              </a:r>
              <a:endParaRPr lang="en-US" sz="1200" dirty="0"/>
            </a:p>
          </p:txBody>
        </p:sp>
        <p:sp>
          <p:nvSpPr>
            <p:cNvPr id="17" name="Text 15"/>
            <p:cNvSpPr txBox="1"/>
            <p:nvPr/>
          </p:nvSpPr>
          <p:spPr>
            <a:xfrm>
              <a:off x="1554480" y="4187952"/>
              <a:ext cx="640080" cy="228600"/>
            </a:xfrm>
            <a:prstGeom prst="rect">
              <a:avLst/>
            </a:prstGeom>
            <a:noFill/>
            <a:ln/>
          </p:spPr>
          <p:txBody>
            <a:bodyPr wrap="square" lIns="0" tIns="0" rIns="0" bIns="0" rtlCol="0" anchor="ctr"/>
            <a:lstStyle/>
            <a:p>
              <a:pPr marL="0" indent="0" algn="ctr">
                <a:buNone/>
              </a:pPr>
              <a:r>
                <a:rPr lang="en-US" sz="1200" dirty="0">
                  <a:solidFill>
                    <a:schemeClr val="accent6"/>
                  </a:solidFill>
                </a:rPr>
                <a:t>Mars</a:t>
              </a:r>
              <a:endParaRPr lang="en-US" sz="1200" dirty="0"/>
            </a:p>
          </p:txBody>
        </p:sp>
      </p:grpSp>
      <p:sp>
        <p:nvSpPr>
          <p:cNvPr id="18" name="Shape 16"/>
          <p:cNvSpPr/>
          <p:nvPr/>
        </p:nvSpPr>
        <p:spPr>
          <a:xfrm>
            <a:off x="5486400" y="1691640"/>
            <a:ext cx="457200" cy="457200"/>
          </a:xfrm>
          <a:prstGeom prst="ellipse">
            <a:avLst/>
          </a:prstGeom>
          <a:solidFill>
            <a:schemeClr val="accent2"/>
          </a:solidFill>
          <a:ln w="12700">
            <a:solidFill>
              <a:schemeClr val="accent2"/>
            </a:solidFill>
            <a:prstDash val="solid"/>
          </a:ln>
        </p:spPr>
      </p:sp>
      <p:pic>
        <p:nvPicPr>
          <p:cNvPr id="19" name="Image 0" descr="preencoded.png"/>
          <p:cNvPicPr>
            <a:picLocks noChangeAspect="1"/>
          </p:cNvPicPr>
          <p:nvPr/>
        </p:nvPicPr>
        <p:blipFill>
          <a:blip r:embed="rId3"/>
          <a:stretch>
            <a:fillRect/>
          </a:stretch>
        </p:blipFill>
        <p:spPr>
          <a:xfrm>
            <a:off x="5600700" y="1805940"/>
            <a:ext cx="228600" cy="228600"/>
          </a:xfrm>
          <a:prstGeom prst="rect">
            <a:avLst/>
          </a:prstGeom>
        </p:spPr>
      </p:pic>
      <p:sp>
        <p:nvSpPr>
          <p:cNvPr id="20" name="Text 17"/>
          <p:cNvSpPr txBox="1"/>
          <p:nvPr/>
        </p:nvSpPr>
        <p:spPr>
          <a:xfrm>
            <a:off x="6126480" y="1691640"/>
            <a:ext cx="2560320" cy="457200"/>
          </a:xfrm>
          <a:prstGeom prst="rect">
            <a:avLst/>
          </a:prstGeom>
          <a:noFill/>
          <a:ln/>
        </p:spPr>
        <p:txBody>
          <a:bodyPr wrap="square" lIns="0" tIns="0" rIns="0" bIns="0" rtlCol="0" anchor="ctr"/>
          <a:lstStyle/>
          <a:p>
            <a:pPr marL="0" indent="0">
              <a:buNone/>
            </a:pPr>
            <a:r>
              <a:rPr lang="en-US" sz="1800" b="1" dirty="0">
                <a:solidFill>
                  <a:schemeClr val="bg1"/>
                </a:solidFill>
              </a:rPr>
              <a:t>Free to play</a:t>
            </a:r>
            <a:endParaRPr lang="en-US" sz="1800" dirty="0"/>
          </a:p>
        </p:txBody>
      </p:sp>
      <p:sp>
        <p:nvSpPr>
          <p:cNvPr id="21" name="Shape 18"/>
          <p:cNvSpPr/>
          <p:nvPr/>
        </p:nvSpPr>
        <p:spPr>
          <a:xfrm>
            <a:off x="5486400" y="2423160"/>
            <a:ext cx="457200" cy="457200"/>
          </a:xfrm>
          <a:prstGeom prst="ellipse">
            <a:avLst/>
          </a:prstGeom>
          <a:solidFill>
            <a:schemeClr val="accent2"/>
          </a:solidFill>
          <a:ln w="12700">
            <a:solidFill>
              <a:schemeClr val="accent2"/>
            </a:solidFill>
            <a:prstDash val="solid"/>
          </a:ln>
        </p:spPr>
      </p:sp>
      <p:pic>
        <p:nvPicPr>
          <p:cNvPr id="22" name="Image 1" descr="preencoded.png"/>
          <p:cNvPicPr>
            <a:picLocks noChangeAspect="1"/>
          </p:cNvPicPr>
          <p:nvPr/>
        </p:nvPicPr>
        <p:blipFill>
          <a:blip r:embed="rId3"/>
          <a:stretch>
            <a:fillRect/>
          </a:stretch>
        </p:blipFill>
        <p:spPr>
          <a:xfrm>
            <a:off x="5600700" y="2537460"/>
            <a:ext cx="228600" cy="228600"/>
          </a:xfrm>
          <a:prstGeom prst="rect">
            <a:avLst/>
          </a:prstGeom>
        </p:spPr>
      </p:pic>
      <p:sp>
        <p:nvSpPr>
          <p:cNvPr id="23" name="Text 19"/>
          <p:cNvSpPr txBox="1"/>
          <p:nvPr/>
        </p:nvSpPr>
        <p:spPr>
          <a:xfrm>
            <a:off x="6126480" y="2423160"/>
            <a:ext cx="2560320" cy="457200"/>
          </a:xfrm>
          <a:prstGeom prst="rect">
            <a:avLst/>
          </a:prstGeom>
          <a:noFill/>
          <a:ln/>
        </p:spPr>
        <p:txBody>
          <a:bodyPr wrap="square" lIns="0" tIns="0" rIns="0" bIns="0" rtlCol="0" anchor="ctr"/>
          <a:lstStyle/>
          <a:p>
            <a:pPr marL="0" indent="0">
              <a:buNone/>
            </a:pPr>
            <a:r>
              <a:rPr lang="en-US" sz="1800" b="1" dirty="0">
                <a:solidFill>
                  <a:schemeClr val="bg1"/>
                </a:solidFill>
              </a:rPr>
              <a:t>One file, no install</a:t>
            </a:r>
            <a:endParaRPr lang="en-US" sz="1800" dirty="0"/>
          </a:p>
        </p:txBody>
      </p:sp>
      <p:sp>
        <p:nvSpPr>
          <p:cNvPr id="24" name="Shape 20"/>
          <p:cNvSpPr/>
          <p:nvPr/>
        </p:nvSpPr>
        <p:spPr>
          <a:xfrm>
            <a:off x="5486400" y="3154680"/>
            <a:ext cx="457200" cy="457200"/>
          </a:xfrm>
          <a:prstGeom prst="ellipse">
            <a:avLst/>
          </a:prstGeom>
          <a:solidFill>
            <a:schemeClr val="accent2"/>
          </a:solidFill>
          <a:ln w="12700">
            <a:solidFill>
              <a:schemeClr val="accent2"/>
            </a:solidFill>
            <a:prstDash val="solid"/>
          </a:ln>
        </p:spPr>
      </p:sp>
      <p:pic>
        <p:nvPicPr>
          <p:cNvPr id="25" name="Image 2" descr="preencoded.png"/>
          <p:cNvPicPr>
            <a:picLocks noChangeAspect="1"/>
          </p:cNvPicPr>
          <p:nvPr/>
        </p:nvPicPr>
        <p:blipFill>
          <a:blip r:embed="rId3"/>
          <a:stretch>
            <a:fillRect/>
          </a:stretch>
        </p:blipFill>
        <p:spPr>
          <a:xfrm>
            <a:off x="5600700" y="3268980"/>
            <a:ext cx="228600" cy="228600"/>
          </a:xfrm>
          <a:prstGeom prst="rect">
            <a:avLst/>
          </a:prstGeom>
        </p:spPr>
      </p:pic>
      <p:sp>
        <p:nvSpPr>
          <p:cNvPr id="26" name="Text 21"/>
          <p:cNvSpPr txBox="1"/>
          <p:nvPr/>
        </p:nvSpPr>
        <p:spPr>
          <a:xfrm>
            <a:off x="6126480" y="3154680"/>
            <a:ext cx="2560320" cy="457200"/>
          </a:xfrm>
          <a:prstGeom prst="rect">
            <a:avLst/>
          </a:prstGeom>
          <a:noFill/>
          <a:ln/>
        </p:spPr>
        <p:txBody>
          <a:bodyPr wrap="square" lIns="0" tIns="0" rIns="0" bIns="0" rtlCol="0" anchor="ctr"/>
          <a:lstStyle/>
          <a:p>
            <a:pPr marL="0" indent="0">
              <a:buNone/>
            </a:pPr>
            <a:r>
              <a:rPr lang="en-US" sz="1800" b="1" dirty="0">
                <a:solidFill>
                  <a:schemeClr val="bg1"/>
                </a:solidFill>
              </a:rPr>
              <a:t>Works offline</a:t>
            </a:r>
            <a:endParaRPr lang="en-US" sz="1800" dirty="0"/>
          </a:p>
        </p:txBody>
      </p:sp>
      <p:sp>
        <p:nvSpPr>
          <p:cNvPr id="27" name="Shape 22"/>
          <p:cNvSpPr/>
          <p:nvPr/>
        </p:nvSpPr>
        <p:spPr>
          <a:xfrm>
            <a:off x="5486400" y="3886200"/>
            <a:ext cx="457200" cy="457200"/>
          </a:xfrm>
          <a:prstGeom prst="ellipse">
            <a:avLst/>
          </a:prstGeom>
          <a:solidFill>
            <a:schemeClr val="accent2"/>
          </a:solidFill>
          <a:ln w="12700">
            <a:solidFill>
              <a:schemeClr val="accent2"/>
            </a:solidFill>
            <a:prstDash val="solid"/>
          </a:ln>
        </p:spPr>
      </p:sp>
      <p:pic>
        <p:nvPicPr>
          <p:cNvPr id="28" name="Image 3" descr="preencoded.png"/>
          <p:cNvPicPr>
            <a:picLocks noChangeAspect="1"/>
          </p:cNvPicPr>
          <p:nvPr/>
        </p:nvPicPr>
        <p:blipFill>
          <a:blip r:embed="rId3"/>
          <a:stretch>
            <a:fillRect/>
          </a:stretch>
        </p:blipFill>
        <p:spPr>
          <a:xfrm>
            <a:off x="5600700" y="4000500"/>
            <a:ext cx="228600" cy="228600"/>
          </a:xfrm>
          <a:prstGeom prst="rect">
            <a:avLst/>
          </a:prstGeom>
        </p:spPr>
      </p:pic>
      <p:sp>
        <p:nvSpPr>
          <p:cNvPr id="29" name="Text 23"/>
          <p:cNvSpPr txBox="1"/>
          <p:nvPr/>
        </p:nvSpPr>
        <p:spPr>
          <a:xfrm>
            <a:off x="6126480" y="3886200"/>
            <a:ext cx="2560320" cy="457200"/>
          </a:xfrm>
          <a:prstGeom prst="rect">
            <a:avLst/>
          </a:prstGeom>
          <a:noFill/>
          <a:ln/>
        </p:spPr>
        <p:txBody>
          <a:bodyPr wrap="square" lIns="0" tIns="0" rIns="0" bIns="0" rtlCol="0" anchor="ctr"/>
          <a:lstStyle/>
          <a:p>
            <a:pPr marL="0" indent="0">
              <a:buNone/>
            </a:pPr>
            <a:r>
              <a:rPr lang="en-US" sz="1800" b="1" dirty="0">
                <a:solidFill>
                  <a:schemeClr val="bg1"/>
                </a:solidFill>
              </a:rPr>
              <a:t>Phone, tablet or computer</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457200" y="292608"/>
            <a:ext cx="1280160" cy="329184"/>
          </a:xfrm>
          <a:prstGeom prst="roundRect">
            <a:avLst>
              <a:gd name="adj" fmla="val 50000"/>
            </a:avLst>
          </a:prstGeom>
          <a:solidFill>
            <a:schemeClr val="accent1"/>
          </a:solidFill>
          <a:ln w="12700">
            <a:solidFill>
              <a:schemeClr val="accent1"/>
            </a:solidFill>
            <a:prstDash val="solid"/>
          </a:ln>
        </p:spPr>
      </p:sp>
      <p:sp>
        <p:nvSpPr>
          <p:cNvPr id="3" name="Text 1"/>
          <p:cNvSpPr txBox="1"/>
          <p:nvPr/>
        </p:nvSpPr>
        <p:spPr>
          <a:xfrm>
            <a:off x="457200" y="292608"/>
            <a:ext cx="1280160" cy="329184"/>
          </a:xfrm>
          <a:prstGeom prst="rect">
            <a:avLst/>
          </a:prstGeom>
          <a:noFill/>
          <a:ln/>
        </p:spPr>
        <p:txBody>
          <a:bodyPr wrap="square" lIns="0" tIns="0" rIns="0" bIns="0" rtlCol="0" anchor="ctr"/>
          <a:lstStyle/>
          <a:p>
            <a:pPr marL="0" indent="0" algn="ctr">
              <a:buNone/>
            </a:pPr>
            <a:r>
              <a:rPr lang="en-US" sz="1300" b="1" kern="0" spc="100" dirty="0">
                <a:solidFill>
                  <a:schemeClr val="tx1"/>
                </a:solidFill>
              </a:rPr>
              <a:t>03  WHAT</a:t>
            </a:r>
            <a:endParaRPr lang="en-US" sz="1300" dirty="0"/>
          </a:p>
        </p:txBody>
      </p:sp>
      <p:sp>
        <p:nvSpPr>
          <p:cNvPr id="5" name="Text 1"/>
          <p:cNvSpPr>
            <a:spLocks noGrp="1"/>
          </p:cNvSpPr>
          <p:nvPr>
            <p:ph type="title" idx="101" hasCustomPrompt="1"/>
          </p:nvPr>
        </p:nvSpPr>
        <p:spPr>
          <a:xfrm>
            <a:off x="457200" y="731520"/>
            <a:ext cx="8229600" cy="731520"/>
          </a:xfrm>
          <a:prstGeom prst="rect">
            <a:avLst/>
          </a:prstGeom>
          <a:noFill/>
          <a:ln/>
        </p:spPr>
        <p:txBody>
          <a:bodyPr wrap="square" lIns="0" tIns="0" rIns="0" bIns="0" rtlCol="0" anchor="ctr"/>
          <a:lstStyle/>
          <a:p>
            <a:pPr marL="0" indent="0" algn="l">
              <a:buNone/>
            </a:pPr>
            <a:r>
              <a:rPr lang="en-US" sz="3600" b="1" dirty="0">
                <a:solidFill>
                  <a:schemeClr val="bg1"/>
                </a:solidFill>
              </a:rPr>
              <a:t>How it plays</a:t>
            </a:r>
            <a:endParaRPr lang="en-US" sz="3600" dirty="0"/>
          </a:p>
        </p:txBody>
      </p:sp>
      <p:sp>
        <p:nvSpPr>
          <p:cNvPr id="6" name="Shape 4"/>
          <p:cNvSpPr/>
          <p:nvPr/>
        </p:nvSpPr>
        <p:spPr>
          <a:xfrm>
            <a:off x="457200" y="1600200"/>
            <a:ext cx="2468880" cy="914400"/>
          </a:xfrm>
          <a:prstGeom prst="roundRect">
            <a:avLst>
              <a:gd name="adj" fmla="val 10000"/>
            </a:avLst>
          </a:prstGeom>
          <a:solidFill>
            <a:schemeClr val="tx2"/>
          </a:solidFill>
          <a:ln w="19050">
            <a:solidFill>
              <a:schemeClr val="accent1"/>
            </a:solidFill>
            <a:prstDash val="solid"/>
          </a:ln>
        </p:spPr>
      </p:sp>
      <p:sp>
        <p:nvSpPr>
          <p:cNvPr id="7" name="Text 5"/>
          <p:cNvSpPr txBox="1"/>
          <p:nvPr/>
        </p:nvSpPr>
        <p:spPr>
          <a:xfrm>
            <a:off x="457200" y="1691640"/>
            <a:ext cx="2468880" cy="365760"/>
          </a:xfrm>
          <a:prstGeom prst="rect">
            <a:avLst/>
          </a:prstGeom>
          <a:noFill/>
          <a:ln/>
        </p:spPr>
        <p:txBody>
          <a:bodyPr wrap="square" lIns="0" tIns="0" rIns="0" bIns="0" rtlCol="0" anchor="ctr"/>
          <a:lstStyle/>
          <a:p>
            <a:pPr marL="0" indent="0" algn="ctr">
              <a:buNone/>
            </a:pPr>
            <a:r>
              <a:rPr lang="en-US" sz="1800" b="1" dirty="0">
                <a:solidFill>
                  <a:schemeClr val="bg1"/>
                </a:solidFill>
              </a:rPr>
              <a:t>1  Pick a world</a:t>
            </a:r>
            <a:endParaRPr lang="en-US" sz="1800" dirty="0"/>
          </a:p>
        </p:txBody>
      </p:sp>
      <p:sp>
        <p:nvSpPr>
          <p:cNvPr id="8" name="Text 6"/>
          <p:cNvSpPr txBox="1"/>
          <p:nvPr/>
        </p:nvSpPr>
        <p:spPr>
          <a:xfrm>
            <a:off x="457200" y="2084832"/>
            <a:ext cx="2468880" cy="320040"/>
          </a:xfrm>
          <a:prstGeom prst="rect">
            <a:avLst/>
          </a:prstGeom>
          <a:noFill/>
          <a:ln/>
        </p:spPr>
        <p:txBody>
          <a:bodyPr wrap="square" lIns="0" tIns="0" rIns="0" bIns="0" rtlCol="0" anchor="ctr"/>
          <a:lstStyle/>
          <a:p>
            <a:pPr marL="0" indent="0" algn="ctr">
              <a:buNone/>
            </a:pPr>
            <a:r>
              <a:rPr lang="en-US" sz="1400" dirty="0">
                <a:solidFill>
                  <a:schemeClr val="accent6"/>
                </a:solidFill>
              </a:rPr>
              <a:t>Moon or Mars</a:t>
            </a:r>
            <a:endParaRPr lang="en-US" sz="1400" dirty="0"/>
          </a:p>
        </p:txBody>
      </p:sp>
      <p:sp>
        <p:nvSpPr>
          <p:cNvPr id="9" name="Shape 7"/>
          <p:cNvSpPr/>
          <p:nvPr/>
        </p:nvSpPr>
        <p:spPr>
          <a:xfrm>
            <a:off x="3337560" y="1600200"/>
            <a:ext cx="2468880" cy="914400"/>
          </a:xfrm>
          <a:prstGeom prst="roundRect">
            <a:avLst>
              <a:gd name="adj" fmla="val 10000"/>
            </a:avLst>
          </a:prstGeom>
          <a:solidFill>
            <a:schemeClr val="tx2"/>
          </a:solidFill>
          <a:ln w="19050">
            <a:solidFill>
              <a:schemeClr val="accent1"/>
            </a:solidFill>
            <a:prstDash val="solid"/>
          </a:ln>
        </p:spPr>
      </p:sp>
      <p:sp>
        <p:nvSpPr>
          <p:cNvPr id="10" name="Text 8"/>
          <p:cNvSpPr txBox="1"/>
          <p:nvPr/>
        </p:nvSpPr>
        <p:spPr>
          <a:xfrm>
            <a:off x="3337560" y="1691640"/>
            <a:ext cx="2468880" cy="365760"/>
          </a:xfrm>
          <a:prstGeom prst="rect">
            <a:avLst/>
          </a:prstGeom>
          <a:noFill/>
          <a:ln/>
        </p:spPr>
        <p:txBody>
          <a:bodyPr wrap="square" lIns="0" tIns="0" rIns="0" bIns="0" rtlCol="0" anchor="ctr"/>
          <a:lstStyle/>
          <a:p>
            <a:pPr marL="0" indent="0" algn="ctr">
              <a:buNone/>
            </a:pPr>
            <a:r>
              <a:rPr lang="en-US" sz="1800" b="1" dirty="0">
                <a:solidFill>
                  <a:schemeClr val="bg1"/>
                </a:solidFill>
              </a:rPr>
              <a:t>2  Build the base</a:t>
            </a:r>
            <a:endParaRPr lang="en-US" sz="1800" dirty="0"/>
          </a:p>
        </p:txBody>
      </p:sp>
      <p:sp>
        <p:nvSpPr>
          <p:cNvPr id="11" name="Text 9"/>
          <p:cNvSpPr txBox="1"/>
          <p:nvPr/>
        </p:nvSpPr>
        <p:spPr>
          <a:xfrm>
            <a:off x="3337560" y="2084832"/>
            <a:ext cx="2468880" cy="320040"/>
          </a:xfrm>
          <a:prstGeom prst="rect">
            <a:avLst/>
          </a:prstGeom>
          <a:noFill/>
          <a:ln/>
        </p:spPr>
        <p:txBody>
          <a:bodyPr wrap="square" lIns="0" tIns="0" rIns="0" bIns="0" rtlCol="0" anchor="ctr"/>
          <a:lstStyle/>
          <a:p>
            <a:pPr marL="0" indent="0" algn="ctr">
              <a:buNone/>
            </a:pPr>
            <a:r>
              <a:rPr lang="en-US" sz="1400" dirty="0">
                <a:solidFill>
                  <a:schemeClr val="accent6"/>
                </a:solidFill>
              </a:rPr>
              <a:t>Spend 100 launch points</a:t>
            </a:r>
            <a:endParaRPr lang="en-US" sz="1400" dirty="0"/>
          </a:p>
        </p:txBody>
      </p:sp>
      <p:sp>
        <p:nvSpPr>
          <p:cNvPr id="12" name="Shape 10"/>
          <p:cNvSpPr/>
          <p:nvPr/>
        </p:nvSpPr>
        <p:spPr>
          <a:xfrm>
            <a:off x="6217920" y="1600200"/>
            <a:ext cx="2468880" cy="914400"/>
          </a:xfrm>
          <a:prstGeom prst="roundRect">
            <a:avLst>
              <a:gd name="adj" fmla="val 10000"/>
            </a:avLst>
          </a:prstGeom>
          <a:solidFill>
            <a:schemeClr val="tx2"/>
          </a:solidFill>
          <a:ln w="19050">
            <a:solidFill>
              <a:schemeClr val="accent1"/>
            </a:solidFill>
            <a:prstDash val="solid"/>
          </a:ln>
        </p:spPr>
      </p:sp>
      <p:sp>
        <p:nvSpPr>
          <p:cNvPr id="13" name="Text 11"/>
          <p:cNvSpPr txBox="1"/>
          <p:nvPr/>
        </p:nvSpPr>
        <p:spPr>
          <a:xfrm>
            <a:off x="6217920" y="1691640"/>
            <a:ext cx="2468880" cy="365760"/>
          </a:xfrm>
          <a:prstGeom prst="rect">
            <a:avLst/>
          </a:prstGeom>
          <a:noFill/>
          <a:ln/>
        </p:spPr>
        <p:txBody>
          <a:bodyPr wrap="square" lIns="0" tIns="0" rIns="0" bIns="0" rtlCol="0" anchor="ctr"/>
          <a:lstStyle/>
          <a:p>
            <a:pPr marL="0" indent="0" algn="ctr">
              <a:buNone/>
            </a:pPr>
            <a:r>
              <a:rPr lang="en-US" sz="1800" b="1" dirty="0">
                <a:solidFill>
                  <a:schemeClr val="bg1"/>
                </a:solidFill>
              </a:rPr>
              <a:t>3  Launch</a:t>
            </a:r>
            <a:endParaRPr lang="en-US" sz="1800" dirty="0"/>
          </a:p>
        </p:txBody>
      </p:sp>
      <p:sp>
        <p:nvSpPr>
          <p:cNvPr id="14" name="Text 12"/>
          <p:cNvSpPr txBox="1"/>
          <p:nvPr/>
        </p:nvSpPr>
        <p:spPr>
          <a:xfrm>
            <a:off x="6217920" y="2084832"/>
            <a:ext cx="2468880" cy="320040"/>
          </a:xfrm>
          <a:prstGeom prst="rect">
            <a:avLst/>
          </a:prstGeom>
          <a:noFill/>
          <a:ln/>
        </p:spPr>
        <p:txBody>
          <a:bodyPr wrap="square" lIns="0" tIns="0" rIns="0" bIns="0" rtlCol="0" anchor="ctr"/>
          <a:lstStyle/>
          <a:p>
            <a:pPr marL="0" indent="0" algn="ctr">
              <a:buNone/>
            </a:pPr>
            <a:r>
              <a:rPr lang="en-US" sz="1400" dirty="0">
                <a:solidFill>
                  <a:schemeClr val="accent6"/>
                </a:solidFill>
              </a:rPr>
              <a:t>Survive 30 days</a:t>
            </a:r>
            <a:endParaRPr lang="en-US" sz="1400" dirty="0"/>
          </a:p>
        </p:txBody>
      </p:sp>
      <p:pic>
        <p:nvPicPr>
          <p:cNvPr id="15" name="Image 0" descr="preencoded.png"/>
          <p:cNvPicPr>
            <a:picLocks noChangeAspect="1"/>
          </p:cNvPicPr>
          <p:nvPr/>
        </p:nvPicPr>
        <p:blipFill>
          <a:blip r:embed="rId3"/>
          <a:stretch>
            <a:fillRect/>
          </a:stretch>
        </p:blipFill>
        <p:spPr>
          <a:xfrm>
            <a:off x="3044952" y="1938528"/>
            <a:ext cx="228600" cy="228600"/>
          </a:xfrm>
          <a:prstGeom prst="rect">
            <a:avLst/>
          </a:prstGeom>
        </p:spPr>
      </p:pic>
      <p:pic>
        <p:nvPicPr>
          <p:cNvPr id="16" name="Image 1" descr="preencoded.png"/>
          <p:cNvPicPr>
            <a:picLocks noChangeAspect="1"/>
          </p:cNvPicPr>
          <p:nvPr/>
        </p:nvPicPr>
        <p:blipFill>
          <a:blip r:embed="rId3"/>
          <a:stretch>
            <a:fillRect/>
          </a:stretch>
        </p:blipFill>
        <p:spPr>
          <a:xfrm>
            <a:off x="5925312" y="1938528"/>
            <a:ext cx="228600" cy="228600"/>
          </a:xfrm>
          <a:prstGeom prst="rect">
            <a:avLst/>
          </a:prstGeom>
        </p:spPr>
      </p:pic>
      <p:pic>
        <p:nvPicPr>
          <p:cNvPr id="17" name="Image 2" descr="preencoded.png"/>
          <p:cNvPicPr>
            <a:picLocks noChangeAspect="1"/>
          </p:cNvPicPr>
          <p:nvPr/>
        </p:nvPicPr>
        <p:blipFill>
          <a:blip r:embed="rId4"/>
          <a:stretch>
            <a:fillRect/>
          </a:stretch>
        </p:blipFill>
        <p:spPr>
          <a:xfrm>
            <a:off x="7059168" y="2606040"/>
            <a:ext cx="228600" cy="228600"/>
          </a:xfrm>
          <a:prstGeom prst="rect">
            <a:avLst/>
          </a:prstGeom>
        </p:spPr>
      </p:pic>
      <p:sp>
        <p:nvSpPr>
          <p:cNvPr id="18" name="Shape 13"/>
          <p:cNvSpPr/>
          <p:nvPr/>
        </p:nvSpPr>
        <p:spPr>
          <a:xfrm>
            <a:off x="457200" y="2880360"/>
            <a:ext cx="8229600" cy="1143000"/>
          </a:xfrm>
          <a:prstGeom prst="roundRect">
            <a:avLst>
              <a:gd name="adj" fmla="val 8000"/>
            </a:avLst>
          </a:prstGeom>
          <a:solidFill>
            <a:schemeClr val="tx2"/>
          </a:solidFill>
          <a:ln w="12700">
            <a:solidFill>
              <a:schemeClr val="accent3"/>
            </a:solidFill>
            <a:prstDash val="solid"/>
          </a:ln>
        </p:spPr>
      </p:sp>
      <p:sp>
        <p:nvSpPr>
          <p:cNvPr id="19" name="Text 14"/>
          <p:cNvSpPr txBox="1"/>
          <p:nvPr/>
        </p:nvSpPr>
        <p:spPr>
          <a:xfrm>
            <a:off x="685800" y="2944368"/>
            <a:ext cx="7772400" cy="228600"/>
          </a:xfrm>
          <a:prstGeom prst="rect">
            <a:avLst/>
          </a:prstGeom>
          <a:noFill/>
          <a:ln/>
        </p:spPr>
        <p:txBody>
          <a:bodyPr wrap="square" lIns="0" tIns="0" rIns="0" bIns="0" rtlCol="0" anchor="ctr"/>
          <a:lstStyle/>
          <a:p>
            <a:pPr marL="0" indent="0">
              <a:buNone/>
            </a:pPr>
            <a:r>
              <a:rPr lang="en-US" sz="1100" b="1" kern="0" spc="200" dirty="0">
                <a:solidFill>
                  <a:schemeClr val="accent2"/>
                </a:solidFill>
              </a:rPr>
              <a:t>EVERY DAY, UNTIL DAY 30 OR THE CREW IS LOST</a:t>
            </a:r>
            <a:endParaRPr lang="en-US" sz="1100" dirty="0"/>
          </a:p>
        </p:txBody>
      </p:sp>
      <p:sp>
        <p:nvSpPr>
          <p:cNvPr id="20" name="Shape 15"/>
          <p:cNvSpPr/>
          <p:nvPr/>
        </p:nvSpPr>
        <p:spPr>
          <a:xfrm>
            <a:off x="685800" y="3291840"/>
            <a:ext cx="1737360" cy="502920"/>
          </a:xfrm>
          <a:prstGeom prst="roundRect">
            <a:avLst>
              <a:gd name="adj" fmla="val 14545"/>
            </a:avLst>
          </a:prstGeom>
          <a:solidFill>
            <a:schemeClr val="accent3"/>
          </a:solidFill>
          <a:ln w="12700">
            <a:solidFill>
              <a:schemeClr val="accent3"/>
            </a:solidFill>
            <a:prstDash val="solid"/>
          </a:ln>
        </p:spPr>
      </p:sp>
      <p:sp>
        <p:nvSpPr>
          <p:cNvPr id="21" name="Text 16"/>
          <p:cNvSpPr txBox="1"/>
          <p:nvPr/>
        </p:nvSpPr>
        <p:spPr>
          <a:xfrm>
            <a:off x="685800" y="3291840"/>
            <a:ext cx="1737360" cy="502920"/>
          </a:xfrm>
          <a:prstGeom prst="rect">
            <a:avLst/>
          </a:prstGeom>
          <a:noFill/>
          <a:ln/>
        </p:spPr>
        <p:txBody>
          <a:bodyPr wrap="square" lIns="0" tIns="0" rIns="0" bIns="0" rtlCol="0" anchor="ctr"/>
          <a:lstStyle/>
          <a:p>
            <a:pPr marL="0" indent="0" algn="ctr">
              <a:buNone/>
            </a:pPr>
            <a:r>
              <a:rPr lang="en-US" sz="1400" b="1" dirty="0">
                <a:solidFill>
                  <a:schemeClr val="bg1"/>
                </a:solidFill>
              </a:rPr>
              <a:t>Next day</a:t>
            </a:r>
            <a:endParaRPr lang="en-US" sz="1400" dirty="0"/>
          </a:p>
        </p:txBody>
      </p:sp>
      <p:sp>
        <p:nvSpPr>
          <p:cNvPr id="22" name="Shape 17"/>
          <p:cNvSpPr/>
          <p:nvPr/>
        </p:nvSpPr>
        <p:spPr>
          <a:xfrm>
            <a:off x="2697480" y="3291840"/>
            <a:ext cx="1737360" cy="502920"/>
          </a:xfrm>
          <a:prstGeom prst="roundRect">
            <a:avLst>
              <a:gd name="adj" fmla="val 14545"/>
            </a:avLst>
          </a:prstGeom>
          <a:solidFill>
            <a:schemeClr val="accent3"/>
          </a:solidFill>
          <a:ln w="12700">
            <a:solidFill>
              <a:schemeClr val="accent3"/>
            </a:solidFill>
            <a:prstDash val="solid"/>
          </a:ln>
        </p:spPr>
      </p:sp>
      <p:sp>
        <p:nvSpPr>
          <p:cNvPr id="23" name="Text 18"/>
          <p:cNvSpPr txBox="1"/>
          <p:nvPr/>
        </p:nvSpPr>
        <p:spPr>
          <a:xfrm>
            <a:off x="2697480" y="3291840"/>
            <a:ext cx="1737360" cy="502920"/>
          </a:xfrm>
          <a:prstGeom prst="rect">
            <a:avLst/>
          </a:prstGeom>
          <a:noFill/>
          <a:ln/>
        </p:spPr>
        <p:txBody>
          <a:bodyPr wrap="square" lIns="0" tIns="0" rIns="0" bIns="0" rtlCol="0" anchor="ctr"/>
          <a:lstStyle/>
          <a:p>
            <a:pPr marL="0" indent="0" algn="ctr">
              <a:buNone/>
            </a:pPr>
            <a:r>
              <a:rPr lang="en-US" sz="1400" b="1" dirty="0">
                <a:solidFill>
                  <a:schemeClr val="bg1"/>
                </a:solidFill>
              </a:rPr>
              <a:t>Event of the day</a:t>
            </a:r>
            <a:endParaRPr lang="en-US" sz="1400" dirty="0"/>
          </a:p>
        </p:txBody>
      </p:sp>
      <p:sp>
        <p:nvSpPr>
          <p:cNvPr id="24" name="Shape 19"/>
          <p:cNvSpPr/>
          <p:nvPr/>
        </p:nvSpPr>
        <p:spPr>
          <a:xfrm>
            <a:off x="4709160" y="3291840"/>
            <a:ext cx="1737360" cy="502920"/>
          </a:xfrm>
          <a:prstGeom prst="roundRect">
            <a:avLst>
              <a:gd name="adj" fmla="val 14545"/>
            </a:avLst>
          </a:prstGeom>
          <a:solidFill>
            <a:schemeClr val="accent3"/>
          </a:solidFill>
          <a:ln w="12700">
            <a:solidFill>
              <a:schemeClr val="accent3"/>
            </a:solidFill>
            <a:prstDash val="solid"/>
          </a:ln>
        </p:spPr>
      </p:sp>
      <p:sp>
        <p:nvSpPr>
          <p:cNvPr id="25" name="Text 20"/>
          <p:cNvSpPr txBox="1"/>
          <p:nvPr/>
        </p:nvSpPr>
        <p:spPr>
          <a:xfrm>
            <a:off x="4709160" y="3291840"/>
            <a:ext cx="1737360" cy="502920"/>
          </a:xfrm>
          <a:prstGeom prst="rect">
            <a:avLst/>
          </a:prstGeom>
          <a:noFill/>
          <a:ln/>
        </p:spPr>
        <p:txBody>
          <a:bodyPr wrap="square" lIns="0" tIns="0" rIns="0" bIns="0" rtlCol="0" anchor="ctr"/>
          <a:lstStyle/>
          <a:p>
            <a:pPr marL="0" indent="0" algn="ctr">
              <a:buNone/>
            </a:pPr>
            <a:r>
              <a:rPr lang="en-US" sz="1400" b="1" dirty="0">
                <a:solidFill>
                  <a:schemeClr val="bg1"/>
                </a:solidFill>
              </a:rPr>
              <a:t>Systems update</a:t>
            </a:r>
            <a:endParaRPr lang="en-US" sz="1400" dirty="0"/>
          </a:p>
        </p:txBody>
      </p:sp>
      <p:sp>
        <p:nvSpPr>
          <p:cNvPr id="26" name="Shape 21"/>
          <p:cNvSpPr/>
          <p:nvPr/>
        </p:nvSpPr>
        <p:spPr>
          <a:xfrm>
            <a:off x="6720840" y="3291840"/>
            <a:ext cx="1737360" cy="502920"/>
          </a:xfrm>
          <a:prstGeom prst="roundRect">
            <a:avLst>
              <a:gd name="adj" fmla="val 14545"/>
            </a:avLst>
          </a:prstGeom>
          <a:solidFill>
            <a:schemeClr val="accent3"/>
          </a:solidFill>
          <a:ln w="12700">
            <a:solidFill>
              <a:schemeClr val="accent3"/>
            </a:solidFill>
            <a:prstDash val="solid"/>
          </a:ln>
        </p:spPr>
      </p:sp>
      <p:sp>
        <p:nvSpPr>
          <p:cNvPr id="27" name="Text 22"/>
          <p:cNvSpPr txBox="1"/>
          <p:nvPr/>
        </p:nvSpPr>
        <p:spPr>
          <a:xfrm>
            <a:off x="6720840" y="3291840"/>
            <a:ext cx="1737360" cy="502920"/>
          </a:xfrm>
          <a:prstGeom prst="rect">
            <a:avLst/>
          </a:prstGeom>
          <a:noFill/>
          <a:ln/>
        </p:spPr>
        <p:txBody>
          <a:bodyPr wrap="square" lIns="0" tIns="0" rIns="0" bIns="0" rtlCol="0" anchor="ctr"/>
          <a:lstStyle/>
          <a:p>
            <a:pPr marL="0" indent="0" algn="ctr">
              <a:buNone/>
            </a:pPr>
            <a:r>
              <a:rPr lang="en-US" sz="1400" b="1" dirty="0">
                <a:solidFill>
                  <a:schemeClr val="bg1"/>
                </a:solidFill>
              </a:rPr>
              <a:t>Why it matters</a:t>
            </a:r>
            <a:endParaRPr lang="en-US" sz="1400" dirty="0"/>
          </a:p>
        </p:txBody>
      </p:sp>
      <p:pic>
        <p:nvPicPr>
          <p:cNvPr id="28" name="Image 3" descr="preencoded.png"/>
          <p:cNvPicPr>
            <a:picLocks noChangeAspect="1"/>
          </p:cNvPicPr>
          <p:nvPr/>
        </p:nvPicPr>
        <p:blipFill>
          <a:blip r:embed="rId5"/>
          <a:stretch>
            <a:fillRect/>
          </a:stretch>
        </p:blipFill>
        <p:spPr>
          <a:xfrm>
            <a:off x="2468880" y="3429000"/>
            <a:ext cx="201168" cy="201168"/>
          </a:xfrm>
          <a:prstGeom prst="rect">
            <a:avLst/>
          </a:prstGeom>
        </p:spPr>
      </p:pic>
      <p:pic>
        <p:nvPicPr>
          <p:cNvPr id="29" name="Image 4" descr="preencoded.png"/>
          <p:cNvPicPr>
            <a:picLocks noChangeAspect="1"/>
          </p:cNvPicPr>
          <p:nvPr/>
        </p:nvPicPr>
        <p:blipFill>
          <a:blip r:embed="rId5"/>
          <a:stretch>
            <a:fillRect/>
          </a:stretch>
        </p:blipFill>
        <p:spPr>
          <a:xfrm>
            <a:off x="4480560" y="3429000"/>
            <a:ext cx="201168" cy="201168"/>
          </a:xfrm>
          <a:prstGeom prst="rect">
            <a:avLst/>
          </a:prstGeom>
        </p:spPr>
      </p:pic>
      <p:pic>
        <p:nvPicPr>
          <p:cNvPr id="30" name="Image 5" descr="preencoded.png"/>
          <p:cNvPicPr>
            <a:picLocks noChangeAspect="1"/>
          </p:cNvPicPr>
          <p:nvPr/>
        </p:nvPicPr>
        <p:blipFill>
          <a:blip r:embed="rId5"/>
          <a:stretch>
            <a:fillRect/>
          </a:stretch>
        </p:blipFill>
        <p:spPr>
          <a:xfrm>
            <a:off x="6492240" y="3429000"/>
            <a:ext cx="201168" cy="201168"/>
          </a:xfrm>
          <a:prstGeom prst="rect">
            <a:avLst/>
          </a:prstGeom>
        </p:spPr>
      </p:pic>
      <p:sp>
        <p:nvSpPr>
          <p:cNvPr id="31" name="Shape 23"/>
          <p:cNvSpPr/>
          <p:nvPr/>
        </p:nvSpPr>
        <p:spPr>
          <a:xfrm>
            <a:off x="1737360" y="4187952"/>
            <a:ext cx="5669280" cy="457200"/>
          </a:xfrm>
          <a:prstGeom prst="roundRect">
            <a:avLst>
              <a:gd name="adj" fmla="val 50000"/>
            </a:avLst>
          </a:prstGeom>
          <a:solidFill>
            <a:schemeClr val="accent2"/>
          </a:solidFill>
          <a:ln w="12700">
            <a:solidFill>
              <a:schemeClr val="accent2"/>
            </a:solidFill>
            <a:prstDash val="solid"/>
          </a:ln>
        </p:spPr>
      </p:sp>
      <p:sp>
        <p:nvSpPr>
          <p:cNvPr id="32" name="Text 24"/>
          <p:cNvSpPr txBox="1"/>
          <p:nvPr/>
        </p:nvSpPr>
        <p:spPr>
          <a:xfrm>
            <a:off x="1737360" y="4187952"/>
            <a:ext cx="5669280" cy="457200"/>
          </a:xfrm>
          <a:prstGeom prst="rect">
            <a:avLst/>
          </a:prstGeom>
          <a:noFill/>
          <a:ln/>
        </p:spPr>
        <p:txBody>
          <a:bodyPr wrap="square" lIns="0" tIns="0" rIns="0" bIns="0" rtlCol="0" anchor="ctr"/>
          <a:lstStyle/>
          <a:p>
            <a:pPr marL="0" indent="0" algn="ctr">
              <a:buNone/>
            </a:pPr>
            <a:r>
              <a:rPr lang="en-US" sz="1500" b="1" dirty="0">
                <a:solidFill>
                  <a:schemeClr val="tx1"/>
                </a:solidFill>
              </a:rPr>
              <a:t>Report and lessons: score, stars, what you learned</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457200" y="292608"/>
            <a:ext cx="1280160" cy="329184"/>
          </a:xfrm>
          <a:prstGeom prst="roundRect">
            <a:avLst>
              <a:gd name="adj" fmla="val 50000"/>
            </a:avLst>
          </a:prstGeom>
          <a:solidFill>
            <a:schemeClr val="accent1"/>
          </a:solidFill>
          <a:ln w="12700">
            <a:solidFill>
              <a:schemeClr val="accent1"/>
            </a:solidFill>
            <a:prstDash val="solid"/>
          </a:ln>
        </p:spPr>
      </p:sp>
      <p:sp>
        <p:nvSpPr>
          <p:cNvPr id="3" name="Text 1"/>
          <p:cNvSpPr txBox="1"/>
          <p:nvPr/>
        </p:nvSpPr>
        <p:spPr>
          <a:xfrm>
            <a:off x="457200" y="292608"/>
            <a:ext cx="1280160" cy="329184"/>
          </a:xfrm>
          <a:prstGeom prst="rect">
            <a:avLst/>
          </a:prstGeom>
          <a:noFill/>
          <a:ln/>
        </p:spPr>
        <p:txBody>
          <a:bodyPr wrap="square" lIns="0" tIns="0" rIns="0" bIns="0" rtlCol="0" anchor="ctr"/>
          <a:lstStyle/>
          <a:p>
            <a:pPr marL="0" indent="0" algn="ctr">
              <a:buNone/>
            </a:pPr>
            <a:r>
              <a:rPr lang="en-US" sz="1300" b="1" kern="0" spc="100" dirty="0">
                <a:solidFill>
                  <a:schemeClr val="tx1"/>
                </a:solidFill>
              </a:rPr>
              <a:t>03  WHAT</a:t>
            </a:r>
            <a:endParaRPr lang="en-US" sz="1300" dirty="0"/>
          </a:p>
        </p:txBody>
      </p:sp>
      <p:sp>
        <p:nvSpPr>
          <p:cNvPr id="5" name="Text 1"/>
          <p:cNvSpPr>
            <a:spLocks noGrp="1"/>
          </p:cNvSpPr>
          <p:nvPr>
            <p:ph type="title" idx="101" hasCustomPrompt="1"/>
          </p:nvPr>
        </p:nvSpPr>
        <p:spPr>
          <a:xfrm>
            <a:off x="457200" y="731520"/>
            <a:ext cx="8229600" cy="731520"/>
          </a:xfrm>
          <a:prstGeom prst="rect">
            <a:avLst/>
          </a:prstGeom>
          <a:noFill/>
          <a:ln/>
        </p:spPr>
        <p:txBody>
          <a:bodyPr wrap="square" lIns="0" tIns="0" rIns="0" bIns="0" rtlCol="0" anchor="ctr"/>
          <a:lstStyle/>
          <a:p>
            <a:pPr marL="0" indent="0" algn="l">
              <a:buNone/>
            </a:pPr>
            <a:r>
              <a:rPr lang="en-US" sz="3600" b="1" dirty="0">
                <a:solidFill>
                  <a:schemeClr val="bg1"/>
                </a:solidFill>
              </a:rPr>
              <a:t>Build your base</a:t>
            </a:r>
            <a:endParaRPr lang="en-US" sz="3600" dirty="0"/>
          </a:p>
        </p:txBody>
      </p:sp>
      <p:sp>
        <p:nvSpPr>
          <p:cNvPr id="6" name="Shape 4"/>
          <p:cNvSpPr/>
          <p:nvPr/>
        </p:nvSpPr>
        <p:spPr>
          <a:xfrm>
            <a:off x="457200" y="1645920"/>
            <a:ext cx="2103120" cy="566928"/>
          </a:xfrm>
          <a:prstGeom prst="roundRect">
            <a:avLst>
              <a:gd name="adj" fmla="val 12903"/>
            </a:avLst>
          </a:prstGeom>
          <a:solidFill>
            <a:schemeClr val="tx2"/>
          </a:solidFill>
          <a:ln w="9525">
            <a:solidFill>
              <a:schemeClr val="accent3"/>
            </a:solidFill>
            <a:prstDash val="solid"/>
          </a:ln>
        </p:spPr>
      </p:sp>
      <p:pic>
        <p:nvPicPr>
          <p:cNvPr id="7" name="Image 0" descr="preencoded.png"/>
          <p:cNvPicPr>
            <a:picLocks noChangeAspect="1"/>
          </p:cNvPicPr>
          <p:nvPr/>
        </p:nvPicPr>
        <p:blipFill>
          <a:blip r:embed="rId3"/>
          <a:stretch>
            <a:fillRect/>
          </a:stretch>
        </p:blipFill>
        <p:spPr>
          <a:xfrm>
            <a:off x="576072" y="1792224"/>
            <a:ext cx="274320" cy="274320"/>
          </a:xfrm>
          <a:prstGeom prst="rect">
            <a:avLst/>
          </a:prstGeom>
        </p:spPr>
      </p:pic>
      <p:sp>
        <p:nvSpPr>
          <p:cNvPr id="8" name="Text 5"/>
          <p:cNvSpPr txBox="1"/>
          <p:nvPr/>
        </p:nvSpPr>
        <p:spPr>
          <a:xfrm>
            <a:off x="960120" y="1645920"/>
            <a:ext cx="1554480" cy="566928"/>
          </a:xfrm>
          <a:prstGeom prst="rect">
            <a:avLst/>
          </a:prstGeom>
          <a:noFill/>
          <a:ln/>
        </p:spPr>
        <p:txBody>
          <a:bodyPr wrap="square" lIns="0" tIns="0" rIns="0" bIns="0" rtlCol="0" anchor="ctr"/>
          <a:lstStyle/>
          <a:p>
            <a:pPr marL="0" indent="0">
              <a:buNone/>
            </a:pPr>
            <a:r>
              <a:rPr lang="en-US" sz="1400" b="1" dirty="0">
                <a:solidFill>
                  <a:schemeClr val="bg1"/>
                </a:solidFill>
              </a:rPr>
              <a:t>Solar panels</a:t>
            </a:r>
            <a:endParaRPr lang="en-US" sz="1400" dirty="0"/>
          </a:p>
        </p:txBody>
      </p:sp>
      <p:sp>
        <p:nvSpPr>
          <p:cNvPr id="9" name="Shape 6"/>
          <p:cNvSpPr/>
          <p:nvPr/>
        </p:nvSpPr>
        <p:spPr>
          <a:xfrm>
            <a:off x="2697480" y="1645920"/>
            <a:ext cx="2103120" cy="566928"/>
          </a:xfrm>
          <a:prstGeom prst="roundRect">
            <a:avLst>
              <a:gd name="adj" fmla="val 12903"/>
            </a:avLst>
          </a:prstGeom>
          <a:solidFill>
            <a:schemeClr val="tx2"/>
          </a:solidFill>
          <a:ln w="9525">
            <a:solidFill>
              <a:schemeClr val="accent3"/>
            </a:solidFill>
            <a:prstDash val="solid"/>
          </a:ln>
        </p:spPr>
      </p:sp>
      <p:pic>
        <p:nvPicPr>
          <p:cNvPr id="10" name="Image 1" descr="preencoded.png"/>
          <p:cNvPicPr>
            <a:picLocks noChangeAspect="1"/>
          </p:cNvPicPr>
          <p:nvPr/>
        </p:nvPicPr>
        <p:blipFill>
          <a:blip r:embed="rId4"/>
          <a:stretch>
            <a:fillRect/>
          </a:stretch>
        </p:blipFill>
        <p:spPr>
          <a:xfrm>
            <a:off x="2816352" y="1792224"/>
            <a:ext cx="274320" cy="274320"/>
          </a:xfrm>
          <a:prstGeom prst="rect">
            <a:avLst/>
          </a:prstGeom>
        </p:spPr>
      </p:pic>
      <p:sp>
        <p:nvSpPr>
          <p:cNvPr id="11" name="Text 7"/>
          <p:cNvSpPr txBox="1"/>
          <p:nvPr/>
        </p:nvSpPr>
        <p:spPr>
          <a:xfrm>
            <a:off x="3200400" y="1645920"/>
            <a:ext cx="1554480" cy="566928"/>
          </a:xfrm>
          <a:prstGeom prst="rect">
            <a:avLst/>
          </a:prstGeom>
          <a:noFill/>
          <a:ln/>
        </p:spPr>
        <p:txBody>
          <a:bodyPr wrap="square" lIns="0" tIns="0" rIns="0" bIns="0" rtlCol="0" anchor="ctr"/>
          <a:lstStyle/>
          <a:p>
            <a:pPr marL="0" indent="0">
              <a:buNone/>
            </a:pPr>
            <a:r>
              <a:rPr lang="en-US" sz="1400" b="1" dirty="0">
                <a:solidFill>
                  <a:schemeClr val="bg1"/>
                </a:solidFill>
              </a:rPr>
              <a:t>Nuclear power</a:t>
            </a:r>
            <a:endParaRPr lang="en-US" sz="1400" dirty="0"/>
          </a:p>
        </p:txBody>
      </p:sp>
      <p:sp>
        <p:nvSpPr>
          <p:cNvPr id="12" name="Shape 8"/>
          <p:cNvSpPr/>
          <p:nvPr/>
        </p:nvSpPr>
        <p:spPr>
          <a:xfrm>
            <a:off x="457200" y="2304288"/>
            <a:ext cx="2103120" cy="566928"/>
          </a:xfrm>
          <a:prstGeom prst="roundRect">
            <a:avLst>
              <a:gd name="adj" fmla="val 12903"/>
            </a:avLst>
          </a:prstGeom>
          <a:solidFill>
            <a:schemeClr val="tx2"/>
          </a:solidFill>
          <a:ln w="9525">
            <a:solidFill>
              <a:schemeClr val="accent3"/>
            </a:solidFill>
            <a:prstDash val="solid"/>
          </a:ln>
        </p:spPr>
      </p:sp>
      <p:pic>
        <p:nvPicPr>
          <p:cNvPr id="13" name="Image 2" descr="preencoded.png"/>
          <p:cNvPicPr>
            <a:picLocks noChangeAspect="1"/>
          </p:cNvPicPr>
          <p:nvPr/>
        </p:nvPicPr>
        <p:blipFill>
          <a:blip r:embed="rId5"/>
          <a:stretch>
            <a:fillRect/>
          </a:stretch>
        </p:blipFill>
        <p:spPr>
          <a:xfrm>
            <a:off x="576072" y="2450592"/>
            <a:ext cx="274320" cy="274320"/>
          </a:xfrm>
          <a:prstGeom prst="rect">
            <a:avLst/>
          </a:prstGeom>
        </p:spPr>
      </p:pic>
      <p:sp>
        <p:nvSpPr>
          <p:cNvPr id="14" name="Text 9"/>
          <p:cNvSpPr txBox="1"/>
          <p:nvPr/>
        </p:nvSpPr>
        <p:spPr>
          <a:xfrm>
            <a:off x="960120" y="2304288"/>
            <a:ext cx="1554480" cy="566928"/>
          </a:xfrm>
          <a:prstGeom prst="rect">
            <a:avLst/>
          </a:prstGeom>
          <a:noFill/>
          <a:ln/>
        </p:spPr>
        <p:txBody>
          <a:bodyPr wrap="square" lIns="0" tIns="0" rIns="0" bIns="0" rtlCol="0" anchor="ctr"/>
          <a:lstStyle/>
          <a:p>
            <a:pPr marL="0" indent="0">
              <a:buNone/>
            </a:pPr>
            <a:r>
              <a:rPr lang="en-US" sz="1400" b="1" dirty="0">
                <a:solidFill>
                  <a:schemeClr val="bg1"/>
                </a:solidFill>
              </a:rPr>
              <a:t>Batteries</a:t>
            </a:r>
            <a:endParaRPr lang="en-US" sz="1400" dirty="0"/>
          </a:p>
        </p:txBody>
      </p:sp>
      <p:sp>
        <p:nvSpPr>
          <p:cNvPr id="15" name="Shape 10"/>
          <p:cNvSpPr/>
          <p:nvPr/>
        </p:nvSpPr>
        <p:spPr>
          <a:xfrm>
            <a:off x="2697480" y="2304288"/>
            <a:ext cx="2103120" cy="566928"/>
          </a:xfrm>
          <a:prstGeom prst="roundRect">
            <a:avLst>
              <a:gd name="adj" fmla="val 12903"/>
            </a:avLst>
          </a:prstGeom>
          <a:solidFill>
            <a:schemeClr val="tx2"/>
          </a:solidFill>
          <a:ln w="9525">
            <a:solidFill>
              <a:schemeClr val="accent3"/>
            </a:solidFill>
            <a:prstDash val="solid"/>
          </a:ln>
        </p:spPr>
      </p:sp>
      <p:pic>
        <p:nvPicPr>
          <p:cNvPr id="16" name="Image 3" descr="preencoded.png"/>
          <p:cNvPicPr>
            <a:picLocks noChangeAspect="1"/>
          </p:cNvPicPr>
          <p:nvPr/>
        </p:nvPicPr>
        <p:blipFill>
          <a:blip r:embed="rId6"/>
          <a:stretch>
            <a:fillRect/>
          </a:stretch>
        </p:blipFill>
        <p:spPr>
          <a:xfrm>
            <a:off x="2816352" y="2450592"/>
            <a:ext cx="274320" cy="274320"/>
          </a:xfrm>
          <a:prstGeom prst="rect">
            <a:avLst/>
          </a:prstGeom>
        </p:spPr>
      </p:pic>
      <p:sp>
        <p:nvSpPr>
          <p:cNvPr id="17" name="Text 11"/>
          <p:cNvSpPr txBox="1"/>
          <p:nvPr/>
        </p:nvSpPr>
        <p:spPr>
          <a:xfrm>
            <a:off x="3200400" y="2304288"/>
            <a:ext cx="1554480" cy="566928"/>
          </a:xfrm>
          <a:prstGeom prst="rect">
            <a:avLst/>
          </a:prstGeom>
          <a:noFill/>
          <a:ln/>
        </p:spPr>
        <p:txBody>
          <a:bodyPr wrap="square" lIns="0" tIns="0" rIns="0" bIns="0" rtlCol="0" anchor="ctr"/>
          <a:lstStyle/>
          <a:p>
            <a:pPr marL="0" indent="0">
              <a:buNone/>
            </a:pPr>
            <a:r>
              <a:rPr lang="en-US" sz="1400" b="1" dirty="0">
                <a:solidFill>
                  <a:schemeClr val="bg1"/>
                </a:solidFill>
              </a:rPr>
              <a:t>Life support</a:t>
            </a:r>
            <a:endParaRPr lang="en-US" sz="1400" dirty="0"/>
          </a:p>
        </p:txBody>
      </p:sp>
      <p:sp>
        <p:nvSpPr>
          <p:cNvPr id="18" name="Shape 12"/>
          <p:cNvSpPr/>
          <p:nvPr/>
        </p:nvSpPr>
        <p:spPr>
          <a:xfrm>
            <a:off x="457200" y="2962656"/>
            <a:ext cx="2103120" cy="566928"/>
          </a:xfrm>
          <a:prstGeom prst="roundRect">
            <a:avLst>
              <a:gd name="adj" fmla="val 12903"/>
            </a:avLst>
          </a:prstGeom>
          <a:solidFill>
            <a:schemeClr val="tx2"/>
          </a:solidFill>
          <a:ln w="9525">
            <a:solidFill>
              <a:schemeClr val="accent3"/>
            </a:solidFill>
            <a:prstDash val="solid"/>
          </a:ln>
        </p:spPr>
      </p:sp>
      <p:pic>
        <p:nvPicPr>
          <p:cNvPr id="19" name="Image 4" descr="preencoded.png"/>
          <p:cNvPicPr>
            <a:picLocks noChangeAspect="1"/>
          </p:cNvPicPr>
          <p:nvPr/>
        </p:nvPicPr>
        <p:blipFill>
          <a:blip r:embed="rId7"/>
          <a:stretch>
            <a:fillRect/>
          </a:stretch>
        </p:blipFill>
        <p:spPr>
          <a:xfrm>
            <a:off x="576072" y="3108960"/>
            <a:ext cx="274320" cy="274320"/>
          </a:xfrm>
          <a:prstGeom prst="rect">
            <a:avLst/>
          </a:prstGeom>
        </p:spPr>
      </p:pic>
      <p:sp>
        <p:nvSpPr>
          <p:cNvPr id="20" name="Text 13"/>
          <p:cNvSpPr txBox="1"/>
          <p:nvPr/>
        </p:nvSpPr>
        <p:spPr>
          <a:xfrm>
            <a:off x="960120" y="2962656"/>
            <a:ext cx="1554480" cy="566928"/>
          </a:xfrm>
          <a:prstGeom prst="rect">
            <a:avLst/>
          </a:prstGeom>
          <a:noFill/>
          <a:ln/>
        </p:spPr>
        <p:txBody>
          <a:bodyPr wrap="square" lIns="0" tIns="0" rIns="0" bIns="0" rtlCol="0" anchor="ctr"/>
          <a:lstStyle/>
          <a:p>
            <a:pPr marL="0" indent="0">
              <a:buNone/>
            </a:pPr>
            <a:r>
              <a:rPr lang="en-US" sz="1400" b="1" dirty="0">
                <a:solidFill>
                  <a:schemeClr val="bg1"/>
                </a:solidFill>
              </a:rPr>
              <a:t>Greenhouses</a:t>
            </a:r>
            <a:endParaRPr lang="en-US" sz="1400" dirty="0"/>
          </a:p>
        </p:txBody>
      </p:sp>
      <p:sp>
        <p:nvSpPr>
          <p:cNvPr id="21" name="Shape 14"/>
          <p:cNvSpPr/>
          <p:nvPr/>
        </p:nvSpPr>
        <p:spPr>
          <a:xfrm>
            <a:off x="2697480" y="2962656"/>
            <a:ext cx="2103120" cy="566928"/>
          </a:xfrm>
          <a:prstGeom prst="roundRect">
            <a:avLst>
              <a:gd name="adj" fmla="val 12903"/>
            </a:avLst>
          </a:prstGeom>
          <a:solidFill>
            <a:schemeClr val="tx2"/>
          </a:solidFill>
          <a:ln w="9525">
            <a:solidFill>
              <a:schemeClr val="accent3"/>
            </a:solidFill>
            <a:prstDash val="solid"/>
          </a:ln>
        </p:spPr>
      </p:sp>
      <p:pic>
        <p:nvPicPr>
          <p:cNvPr id="22" name="Image 5" descr="preencoded.png"/>
          <p:cNvPicPr>
            <a:picLocks noChangeAspect="1"/>
          </p:cNvPicPr>
          <p:nvPr/>
        </p:nvPicPr>
        <p:blipFill>
          <a:blip r:embed="rId8"/>
          <a:stretch>
            <a:fillRect/>
          </a:stretch>
        </p:blipFill>
        <p:spPr>
          <a:xfrm>
            <a:off x="2816352" y="3108960"/>
            <a:ext cx="274320" cy="274320"/>
          </a:xfrm>
          <a:prstGeom prst="rect">
            <a:avLst/>
          </a:prstGeom>
        </p:spPr>
      </p:pic>
      <p:sp>
        <p:nvSpPr>
          <p:cNvPr id="23" name="Text 15"/>
          <p:cNvSpPr txBox="1"/>
          <p:nvPr/>
        </p:nvSpPr>
        <p:spPr>
          <a:xfrm>
            <a:off x="3200400" y="2962656"/>
            <a:ext cx="1554480" cy="566928"/>
          </a:xfrm>
          <a:prstGeom prst="rect">
            <a:avLst/>
          </a:prstGeom>
          <a:noFill/>
          <a:ln/>
        </p:spPr>
        <p:txBody>
          <a:bodyPr wrap="square" lIns="0" tIns="0" rIns="0" bIns="0" rtlCol="0" anchor="ctr"/>
          <a:lstStyle/>
          <a:p>
            <a:pPr marL="0" indent="0">
              <a:buNone/>
            </a:pPr>
            <a:r>
              <a:rPr lang="en-US" sz="1400" b="1" dirty="0">
                <a:solidFill>
                  <a:schemeClr val="bg1"/>
                </a:solidFill>
              </a:rPr>
              <a:t>Water extractors</a:t>
            </a:r>
            <a:endParaRPr lang="en-US" sz="1400" dirty="0"/>
          </a:p>
        </p:txBody>
      </p:sp>
      <p:sp>
        <p:nvSpPr>
          <p:cNvPr id="24" name="Shape 16"/>
          <p:cNvSpPr/>
          <p:nvPr/>
        </p:nvSpPr>
        <p:spPr>
          <a:xfrm>
            <a:off x="457200" y="3621024"/>
            <a:ext cx="2103120" cy="566928"/>
          </a:xfrm>
          <a:prstGeom prst="roundRect">
            <a:avLst>
              <a:gd name="adj" fmla="val 12903"/>
            </a:avLst>
          </a:prstGeom>
          <a:solidFill>
            <a:schemeClr val="tx2"/>
          </a:solidFill>
          <a:ln w="9525">
            <a:solidFill>
              <a:schemeClr val="accent3"/>
            </a:solidFill>
            <a:prstDash val="solid"/>
          </a:ln>
        </p:spPr>
      </p:sp>
      <p:pic>
        <p:nvPicPr>
          <p:cNvPr id="25" name="Image 6" descr="preencoded.png"/>
          <p:cNvPicPr>
            <a:picLocks noChangeAspect="1"/>
          </p:cNvPicPr>
          <p:nvPr/>
        </p:nvPicPr>
        <p:blipFill>
          <a:blip r:embed="rId9"/>
          <a:stretch>
            <a:fillRect/>
          </a:stretch>
        </p:blipFill>
        <p:spPr>
          <a:xfrm>
            <a:off x="576072" y="3767328"/>
            <a:ext cx="274320" cy="274320"/>
          </a:xfrm>
          <a:prstGeom prst="rect">
            <a:avLst/>
          </a:prstGeom>
        </p:spPr>
      </p:pic>
      <p:sp>
        <p:nvSpPr>
          <p:cNvPr id="26" name="Text 17"/>
          <p:cNvSpPr txBox="1"/>
          <p:nvPr/>
        </p:nvSpPr>
        <p:spPr>
          <a:xfrm>
            <a:off x="960120" y="3621024"/>
            <a:ext cx="1554480" cy="566928"/>
          </a:xfrm>
          <a:prstGeom prst="rect">
            <a:avLst/>
          </a:prstGeom>
          <a:noFill/>
          <a:ln/>
        </p:spPr>
        <p:txBody>
          <a:bodyPr wrap="square" lIns="0" tIns="0" rIns="0" bIns="0" rtlCol="0" anchor="ctr"/>
          <a:lstStyle/>
          <a:p>
            <a:pPr marL="0" indent="0">
              <a:buNone/>
            </a:pPr>
            <a:r>
              <a:rPr lang="en-US" sz="1400" b="1" dirty="0">
                <a:solidFill>
                  <a:schemeClr val="bg1"/>
                </a:solidFill>
              </a:rPr>
              <a:t>Food crates</a:t>
            </a:r>
            <a:endParaRPr lang="en-US" sz="1400" dirty="0"/>
          </a:p>
        </p:txBody>
      </p:sp>
      <p:sp>
        <p:nvSpPr>
          <p:cNvPr id="27" name="Shape 18"/>
          <p:cNvSpPr/>
          <p:nvPr/>
        </p:nvSpPr>
        <p:spPr>
          <a:xfrm>
            <a:off x="2697480" y="3621024"/>
            <a:ext cx="2103120" cy="566928"/>
          </a:xfrm>
          <a:prstGeom prst="roundRect">
            <a:avLst>
              <a:gd name="adj" fmla="val 12903"/>
            </a:avLst>
          </a:prstGeom>
          <a:solidFill>
            <a:schemeClr val="tx2"/>
          </a:solidFill>
          <a:ln w="9525">
            <a:solidFill>
              <a:schemeClr val="accent3"/>
            </a:solidFill>
            <a:prstDash val="solid"/>
          </a:ln>
        </p:spPr>
      </p:sp>
      <p:pic>
        <p:nvPicPr>
          <p:cNvPr id="28" name="Image 7" descr="preencoded.png"/>
          <p:cNvPicPr>
            <a:picLocks noChangeAspect="1"/>
          </p:cNvPicPr>
          <p:nvPr/>
        </p:nvPicPr>
        <p:blipFill>
          <a:blip r:embed="rId10"/>
          <a:stretch>
            <a:fillRect/>
          </a:stretch>
        </p:blipFill>
        <p:spPr>
          <a:xfrm>
            <a:off x="2816352" y="3767328"/>
            <a:ext cx="274320" cy="274320"/>
          </a:xfrm>
          <a:prstGeom prst="rect">
            <a:avLst/>
          </a:prstGeom>
        </p:spPr>
      </p:pic>
      <p:sp>
        <p:nvSpPr>
          <p:cNvPr id="29" name="Text 19"/>
          <p:cNvSpPr txBox="1"/>
          <p:nvPr/>
        </p:nvSpPr>
        <p:spPr>
          <a:xfrm>
            <a:off x="3200400" y="3621024"/>
            <a:ext cx="1554480" cy="566928"/>
          </a:xfrm>
          <a:prstGeom prst="rect">
            <a:avLst/>
          </a:prstGeom>
          <a:noFill/>
          <a:ln/>
        </p:spPr>
        <p:txBody>
          <a:bodyPr wrap="square" lIns="0" tIns="0" rIns="0" bIns="0" rtlCol="0" anchor="ctr"/>
          <a:lstStyle/>
          <a:p>
            <a:pPr marL="0" indent="0">
              <a:buNone/>
            </a:pPr>
            <a:r>
              <a:rPr lang="en-US" sz="1400" b="1" dirty="0">
                <a:solidFill>
                  <a:schemeClr val="bg1"/>
                </a:solidFill>
              </a:rPr>
              <a:t>Soil shields</a:t>
            </a:r>
            <a:endParaRPr lang="en-US" sz="1400" dirty="0"/>
          </a:p>
        </p:txBody>
      </p:sp>
      <p:sp>
        <p:nvSpPr>
          <p:cNvPr id="30" name="Shape 20"/>
          <p:cNvSpPr/>
          <p:nvPr/>
        </p:nvSpPr>
        <p:spPr>
          <a:xfrm>
            <a:off x="457200" y="4315968"/>
            <a:ext cx="2377440" cy="365760"/>
          </a:xfrm>
          <a:prstGeom prst="roundRect">
            <a:avLst>
              <a:gd name="adj" fmla="val 50000"/>
            </a:avLst>
          </a:prstGeom>
          <a:solidFill>
            <a:schemeClr val="accent1"/>
          </a:solidFill>
          <a:ln w="12700">
            <a:solidFill>
              <a:schemeClr val="accent1"/>
            </a:solidFill>
            <a:prstDash val="solid"/>
          </a:ln>
        </p:spPr>
      </p:sp>
      <p:sp>
        <p:nvSpPr>
          <p:cNvPr id="31" name="Text 21"/>
          <p:cNvSpPr txBox="1"/>
          <p:nvPr/>
        </p:nvSpPr>
        <p:spPr>
          <a:xfrm>
            <a:off x="457200" y="4315968"/>
            <a:ext cx="2377440" cy="365760"/>
          </a:xfrm>
          <a:prstGeom prst="rect">
            <a:avLst/>
          </a:prstGeom>
          <a:noFill/>
          <a:ln/>
        </p:spPr>
        <p:txBody>
          <a:bodyPr wrap="square" lIns="0" tIns="0" rIns="0" bIns="0" rtlCol="0" anchor="ctr"/>
          <a:lstStyle/>
          <a:p>
            <a:pPr marL="0" indent="0" algn="ctr">
              <a:buNone/>
            </a:pPr>
            <a:r>
              <a:rPr lang="en-US" sz="1500" b="1" dirty="0">
                <a:solidFill>
                  <a:schemeClr val="tx1"/>
                </a:solidFill>
              </a:rPr>
              <a:t>100 launch points</a:t>
            </a:r>
            <a:endParaRPr lang="en-US" sz="1500" dirty="0"/>
          </a:p>
        </p:txBody>
      </p:sp>
      <p:sp>
        <p:nvSpPr>
          <p:cNvPr id="32" name="Shape 22"/>
          <p:cNvSpPr/>
          <p:nvPr/>
        </p:nvSpPr>
        <p:spPr>
          <a:xfrm>
            <a:off x="5029200" y="1645920"/>
            <a:ext cx="3657600" cy="2057400"/>
          </a:xfrm>
          <a:prstGeom prst="roundRect">
            <a:avLst>
              <a:gd name="adj" fmla="val 4444"/>
            </a:avLst>
          </a:prstGeom>
          <a:solidFill>
            <a:schemeClr val="tx2"/>
          </a:solidFill>
          <a:ln w="15875">
            <a:solidFill>
              <a:schemeClr val="accent2"/>
            </a:solidFill>
            <a:prstDash val="dash"/>
          </a:ln>
        </p:spPr>
      </p:sp>
      <p:sp>
        <p:nvSpPr>
          <p:cNvPr id="36" name="Text 25"/>
          <p:cNvSpPr txBox="1"/>
          <p:nvPr/>
        </p:nvSpPr>
        <p:spPr>
          <a:xfrm>
            <a:off x="5029200" y="3886200"/>
            <a:ext cx="3657600" cy="228600"/>
          </a:xfrm>
          <a:prstGeom prst="rect">
            <a:avLst/>
          </a:prstGeom>
          <a:noFill/>
          <a:ln/>
        </p:spPr>
        <p:txBody>
          <a:bodyPr wrap="square" lIns="0" tIns="0" rIns="0" bIns="0" rtlCol="0" anchor="ctr"/>
          <a:lstStyle/>
          <a:p>
            <a:pPr marL="0" indent="0">
              <a:buNone/>
            </a:pPr>
            <a:r>
              <a:rPr lang="en-US" sz="1100" b="1" kern="0" spc="200" dirty="0">
                <a:solidFill>
                  <a:schemeClr val="accent6"/>
                </a:solidFill>
              </a:rPr>
              <a:t>FORECAST BEFORE LAUNCH</a:t>
            </a:r>
            <a:endParaRPr lang="en-US" sz="1100" dirty="0"/>
          </a:p>
        </p:txBody>
      </p:sp>
      <p:sp>
        <p:nvSpPr>
          <p:cNvPr id="37" name="Shape 26"/>
          <p:cNvSpPr/>
          <p:nvPr/>
        </p:nvSpPr>
        <p:spPr>
          <a:xfrm>
            <a:off x="5029200" y="4206240"/>
            <a:ext cx="777240" cy="310896"/>
          </a:xfrm>
          <a:prstGeom prst="roundRect">
            <a:avLst>
              <a:gd name="adj" fmla="val 50000"/>
            </a:avLst>
          </a:prstGeom>
          <a:solidFill>
            <a:schemeClr val="accent4"/>
          </a:solidFill>
          <a:ln w="12700">
            <a:solidFill>
              <a:schemeClr val="accent4"/>
            </a:solidFill>
            <a:prstDash val="solid"/>
          </a:ln>
        </p:spPr>
      </p:sp>
      <p:sp>
        <p:nvSpPr>
          <p:cNvPr id="38" name="Text 27"/>
          <p:cNvSpPr txBox="1"/>
          <p:nvPr/>
        </p:nvSpPr>
        <p:spPr>
          <a:xfrm>
            <a:off x="5029200" y="4206240"/>
            <a:ext cx="777240" cy="310896"/>
          </a:xfrm>
          <a:prstGeom prst="rect">
            <a:avLst/>
          </a:prstGeom>
          <a:noFill/>
          <a:ln/>
        </p:spPr>
        <p:txBody>
          <a:bodyPr wrap="square" lIns="0" tIns="0" rIns="0" bIns="0" rtlCol="0" anchor="ctr"/>
          <a:lstStyle/>
          <a:p>
            <a:pPr marL="0" indent="0" algn="ctr">
              <a:buNone/>
            </a:pPr>
            <a:r>
              <a:rPr lang="en-US" sz="1200" b="1" dirty="0">
                <a:solidFill>
                  <a:schemeClr val="tx1"/>
                </a:solidFill>
              </a:rPr>
              <a:t>Safe</a:t>
            </a:r>
            <a:endParaRPr lang="en-US" sz="1200" dirty="0"/>
          </a:p>
        </p:txBody>
      </p:sp>
      <p:sp>
        <p:nvSpPr>
          <p:cNvPr id="39" name="Shape 28"/>
          <p:cNvSpPr/>
          <p:nvPr/>
        </p:nvSpPr>
        <p:spPr>
          <a:xfrm>
            <a:off x="5943600" y="4206240"/>
            <a:ext cx="777240" cy="310896"/>
          </a:xfrm>
          <a:prstGeom prst="roundRect">
            <a:avLst>
              <a:gd name="adj" fmla="val 50000"/>
            </a:avLst>
          </a:prstGeom>
          <a:solidFill>
            <a:schemeClr val="accent2"/>
          </a:solidFill>
          <a:ln w="12700">
            <a:solidFill>
              <a:schemeClr val="accent2"/>
            </a:solidFill>
            <a:prstDash val="solid"/>
          </a:ln>
        </p:spPr>
      </p:sp>
      <p:sp>
        <p:nvSpPr>
          <p:cNvPr id="40" name="Text 29"/>
          <p:cNvSpPr txBox="1"/>
          <p:nvPr/>
        </p:nvSpPr>
        <p:spPr>
          <a:xfrm>
            <a:off x="5943600" y="4206240"/>
            <a:ext cx="777240" cy="310896"/>
          </a:xfrm>
          <a:prstGeom prst="rect">
            <a:avLst/>
          </a:prstGeom>
          <a:noFill/>
          <a:ln/>
        </p:spPr>
        <p:txBody>
          <a:bodyPr wrap="square" lIns="0" tIns="0" rIns="0" bIns="0" rtlCol="0" anchor="ctr"/>
          <a:lstStyle/>
          <a:p>
            <a:pPr marL="0" indent="0" algn="ctr">
              <a:buNone/>
            </a:pPr>
            <a:r>
              <a:rPr lang="en-US" sz="1200" b="1" dirty="0">
                <a:solidFill>
                  <a:schemeClr val="tx1"/>
                </a:solidFill>
              </a:rPr>
              <a:t>Close</a:t>
            </a:r>
            <a:endParaRPr lang="en-US" sz="1200" dirty="0"/>
          </a:p>
        </p:txBody>
      </p:sp>
      <p:sp>
        <p:nvSpPr>
          <p:cNvPr id="41" name="Shape 30"/>
          <p:cNvSpPr/>
          <p:nvPr/>
        </p:nvSpPr>
        <p:spPr>
          <a:xfrm>
            <a:off x="6858000" y="4206240"/>
            <a:ext cx="1188720" cy="310896"/>
          </a:xfrm>
          <a:prstGeom prst="roundRect">
            <a:avLst>
              <a:gd name="adj" fmla="val 50000"/>
            </a:avLst>
          </a:prstGeom>
          <a:solidFill>
            <a:schemeClr val="accent5"/>
          </a:solidFill>
          <a:ln w="12700">
            <a:solidFill>
              <a:schemeClr val="accent5"/>
            </a:solidFill>
            <a:prstDash val="solid"/>
          </a:ln>
        </p:spPr>
      </p:sp>
      <p:sp>
        <p:nvSpPr>
          <p:cNvPr id="42" name="Text 31"/>
          <p:cNvSpPr txBox="1"/>
          <p:nvPr/>
        </p:nvSpPr>
        <p:spPr>
          <a:xfrm>
            <a:off x="6858000" y="4206240"/>
            <a:ext cx="1188720" cy="310896"/>
          </a:xfrm>
          <a:prstGeom prst="rect">
            <a:avLst/>
          </a:prstGeom>
          <a:noFill/>
          <a:ln/>
        </p:spPr>
        <p:txBody>
          <a:bodyPr wrap="square" lIns="0" tIns="0" rIns="0" bIns="0" rtlCol="0" anchor="ctr"/>
          <a:lstStyle/>
          <a:p>
            <a:pPr marL="0" indent="0" algn="ctr">
              <a:buNone/>
            </a:pPr>
            <a:r>
              <a:rPr lang="en-US" sz="1200" b="1" dirty="0">
                <a:solidFill>
                  <a:schemeClr val="tx1"/>
                </a:solidFill>
              </a:rPr>
              <a:t>Not enough</a:t>
            </a:r>
            <a:endParaRPr lang="en-US" sz="1200" dirty="0"/>
          </a:p>
        </p:txBody>
      </p:sp>
      <p:pic>
        <p:nvPicPr>
          <p:cNvPr id="45" name="Picture 44">
            <a:extLst>
              <a:ext uri="{FF2B5EF4-FFF2-40B4-BE49-F238E27FC236}">
                <a16:creationId xmlns:a16="http://schemas.microsoft.com/office/drawing/2014/main" id="{177548CD-6B04-3487-A713-948A655F1903}"/>
              </a:ext>
            </a:extLst>
          </p:cNvPr>
          <p:cNvPicPr>
            <a:picLocks noChangeAspect="1"/>
          </p:cNvPicPr>
          <p:nvPr/>
        </p:nvPicPr>
        <p:blipFill>
          <a:blip r:embed="rId11"/>
          <a:stretch>
            <a:fillRect/>
          </a:stretch>
        </p:blipFill>
        <p:spPr>
          <a:xfrm>
            <a:off x="4910328" y="1209947"/>
            <a:ext cx="3999305" cy="2664171"/>
          </a:xfrm>
          <a:prstGeom prst="round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457200" y="292608"/>
            <a:ext cx="1280160" cy="329184"/>
          </a:xfrm>
          <a:prstGeom prst="roundRect">
            <a:avLst>
              <a:gd name="adj" fmla="val 50000"/>
            </a:avLst>
          </a:prstGeom>
          <a:solidFill>
            <a:schemeClr val="accent1"/>
          </a:solidFill>
          <a:ln w="12700">
            <a:solidFill>
              <a:schemeClr val="accent1"/>
            </a:solidFill>
            <a:prstDash val="solid"/>
          </a:ln>
        </p:spPr>
      </p:sp>
      <p:sp>
        <p:nvSpPr>
          <p:cNvPr id="3" name="Text 1"/>
          <p:cNvSpPr txBox="1"/>
          <p:nvPr/>
        </p:nvSpPr>
        <p:spPr>
          <a:xfrm>
            <a:off x="457200" y="292608"/>
            <a:ext cx="1280160" cy="329184"/>
          </a:xfrm>
          <a:prstGeom prst="rect">
            <a:avLst/>
          </a:prstGeom>
          <a:noFill/>
          <a:ln/>
        </p:spPr>
        <p:txBody>
          <a:bodyPr wrap="square" lIns="0" tIns="0" rIns="0" bIns="0" rtlCol="0" anchor="ctr"/>
          <a:lstStyle/>
          <a:p>
            <a:pPr marL="0" indent="0" algn="ctr">
              <a:buNone/>
            </a:pPr>
            <a:r>
              <a:rPr lang="en-US" sz="1300" b="1" kern="0" spc="100" dirty="0">
                <a:solidFill>
                  <a:schemeClr val="tx1"/>
                </a:solidFill>
              </a:rPr>
              <a:t>03  WHAT</a:t>
            </a:r>
            <a:endParaRPr lang="en-US" sz="1300" dirty="0"/>
          </a:p>
        </p:txBody>
      </p:sp>
      <p:sp>
        <p:nvSpPr>
          <p:cNvPr id="5" name="Text 1"/>
          <p:cNvSpPr>
            <a:spLocks noGrp="1"/>
          </p:cNvSpPr>
          <p:nvPr>
            <p:ph type="title" idx="101" hasCustomPrompt="1"/>
          </p:nvPr>
        </p:nvSpPr>
        <p:spPr>
          <a:xfrm>
            <a:off x="457200" y="731520"/>
            <a:ext cx="8229600" cy="731520"/>
          </a:xfrm>
          <a:prstGeom prst="rect">
            <a:avLst/>
          </a:prstGeom>
          <a:noFill/>
          <a:ln/>
        </p:spPr>
        <p:txBody>
          <a:bodyPr wrap="square" lIns="0" tIns="0" rIns="0" bIns="0" rtlCol="0" anchor="ctr"/>
          <a:lstStyle/>
          <a:p>
            <a:pPr marL="0" indent="0" algn="l">
              <a:buNone/>
            </a:pPr>
            <a:r>
              <a:rPr lang="en-US" sz="3600" b="1" dirty="0">
                <a:solidFill>
                  <a:schemeClr val="bg1"/>
                </a:solidFill>
              </a:rPr>
              <a:t>Survive 30 days</a:t>
            </a:r>
            <a:endParaRPr lang="en-US" sz="3600" dirty="0"/>
          </a:p>
        </p:txBody>
      </p:sp>
      <p:sp>
        <p:nvSpPr>
          <p:cNvPr id="6" name="Text 4"/>
          <p:cNvSpPr txBox="1"/>
          <p:nvPr/>
        </p:nvSpPr>
        <p:spPr>
          <a:xfrm>
            <a:off x="457200" y="1600200"/>
            <a:ext cx="2743200" cy="228600"/>
          </a:xfrm>
          <a:prstGeom prst="rect">
            <a:avLst/>
          </a:prstGeom>
          <a:noFill/>
          <a:ln/>
        </p:spPr>
        <p:txBody>
          <a:bodyPr wrap="square" lIns="0" tIns="0" rIns="0" bIns="0" rtlCol="0" anchor="ctr"/>
          <a:lstStyle/>
          <a:p>
            <a:pPr marL="0" indent="0">
              <a:buNone/>
            </a:pPr>
            <a:r>
              <a:rPr lang="en-US" sz="1100" b="1" kern="0" spc="200" dirty="0">
                <a:solidFill>
                  <a:schemeClr val="accent2"/>
                </a:solidFill>
              </a:rPr>
              <a:t>SIX METERS</a:t>
            </a:r>
            <a:endParaRPr lang="en-US" sz="1100" dirty="0"/>
          </a:p>
        </p:txBody>
      </p:sp>
      <p:sp>
        <p:nvSpPr>
          <p:cNvPr id="7" name="Shape 5"/>
          <p:cNvSpPr/>
          <p:nvPr/>
        </p:nvSpPr>
        <p:spPr>
          <a:xfrm>
            <a:off x="457200" y="1901952"/>
            <a:ext cx="1325880" cy="594360"/>
          </a:xfrm>
          <a:prstGeom prst="roundRect">
            <a:avLst>
              <a:gd name="adj" fmla="val 12308"/>
            </a:avLst>
          </a:prstGeom>
          <a:solidFill>
            <a:schemeClr val="tx2"/>
          </a:solidFill>
          <a:ln w="9525">
            <a:solidFill>
              <a:schemeClr val="accent3"/>
            </a:solidFill>
            <a:prstDash val="solid"/>
          </a:ln>
        </p:spPr>
      </p:sp>
      <p:pic>
        <p:nvPicPr>
          <p:cNvPr id="8" name="Image 0" descr="preencoded.png"/>
          <p:cNvPicPr>
            <a:picLocks noChangeAspect="1"/>
          </p:cNvPicPr>
          <p:nvPr/>
        </p:nvPicPr>
        <p:blipFill>
          <a:blip r:embed="rId3"/>
          <a:stretch>
            <a:fillRect/>
          </a:stretch>
        </p:blipFill>
        <p:spPr>
          <a:xfrm>
            <a:off x="548640" y="2066544"/>
            <a:ext cx="256032" cy="256032"/>
          </a:xfrm>
          <a:prstGeom prst="rect">
            <a:avLst/>
          </a:prstGeom>
        </p:spPr>
      </p:pic>
      <p:sp>
        <p:nvSpPr>
          <p:cNvPr id="9" name="Text 6"/>
          <p:cNvSpPr txBox="1"/>
          <p:nvPr/>
        </p:nvSpPr>
        <p:spPr>
          <a:xfrm>
            <a:off x="868680" y="1901952"/>
            <a:ext cx="868680" cy="594360"/>
          </a:xfrm>
          <a:prstGeom prst="rect">
            <a:avLst/>
          </a:prstGeom>
          <a:noFill/>
          <a:ln/>
        </p:spPr>
        <p:txBody>
          <a:bodyPr wrap="square" lIns="0" tIns="0" rIns="0" bIns="0" rtlCol="0" anchor="ctr"/>
          <a:lstStyle/>
          <a:p>
            <a:pPr marL="0" indent="0">
              <a:buNone/>
            </a:pPr>
            <a:r>
              <a:rPr lang="en-US" sz="1400" b="1" dirty="0">
                <a:solidFill>
                  <a:schemeClr val="bg1"/>
                </a:solidFill>
              </a:rPr>
              <a:t>Power</a:t>
            </a:r>
            <a:endParaRPr lang="en-US" sz="1400" dirty="0"/>
          </a:p>
        </p:txBody>
      </p:sp>
      <p:sp>
        <p:nvSpPr>
          <p:cNvPr id="10" name="Shape 7"/>
          <p:cNvSpPr/>
          <p:nvPr/>
        </p:nvSpPr>
        <p:spPr>
          <a:xfrm>
            <a:off x="1897380" y="1901952"/>
            <a:ext cx="1325880" cy="594360"/>
          </a:xfrm>
          <a:prstGeom prst="roundRect">
            <a:avLst>
              <a:gd name="adj" fmla="val 12308"/>
            </a:avLst>
          </a:prstGeom>
          <a:solidFill>
            <a:schemeClr val="tx2"/>
          </a:solidFill>
          <a:ln w="9525">
            <a:solidFill>
              <a:schemeClr val="accent3"/>
            </a:solidFill>
            <a:prstDash val="solid"/>
          </a:ln>
        </p:spPr>
      </p:sp>
      <p:pic>
        <p:nvPicPr>
          <p:cNvPr id="11" name="Image 1" descr="preencoded.png"/>
          <p:cNvPicPr>
            <a:picLocks noChangeAspect="1"/>
          </p:cNvPicPr>
          <p:nvPr/>
        </p:nvPicPr>
        <p:blipFill>
          <a:blip r:embed="rId4"/>
          <a:stretch>
            <a:fillRect/>
          </a:stretch>
        </p:blipFill>
        <p:spPr>
          <a:xfrm>
            <a:off x="1988820" y="2066544"/>
            <a:ext cx="256032" cy="256032"/>
          </a:xfrm>
          <a:prstGeom prst="rect">
            <a:avLst/>
          </a:prstGeom>
        </p:spPr>
      </p:pic>
      <p:sp>
        <p:nvSpPr>
          <p:cNvPr id="12" name="Text 8"/>
          <p:cNvSpPr txBox="1"/>
          <p:nvPr/>
        </p:nvSpPr>
        <p:spPr>
          <a:xfrm>
            <a:off x="2308860" y="1901952"/>
            <a:ext cx="868680" cy="594360"/>
          </a:xfrm>
          <a:prstGeom prst="rect">
            <a:avLst/>
          </a:prstGeom>
          <a:noFill/>
          <a:ln/>
        </p:spPr>
        <p:txBody>
          <a:bodyPr wrap="square" lIns="0" tIns="0" rIns="0" bIns="0" rtlCol="0" anchor="ctr"/>
          <a:lstStyle/>
          <a:p>
            <a:pPr marL="0" indent="0">
              <a:buNone/>
            </a:pPr>
            <a:r>
              <a:rPr lang="en-US" sz="1400" b="1" dirty="0">
                <a:solidFill>
                  <a:schemeClr val="bg1"/>
                </a:solidFill>
              </a:rPr>
              <a:t>Air</a:t>
            </a:r>
            <a:endParaRPr lang="en-US" sz="1400" dirty="0"/>
          </a:p>
        </p:txBody>
      </p:sp>
      <p:sp>
        <p:nvSpPr>
          <p:cNvPr id="13" name="Shape 9"/>
          <p:cNvSpPr/>
          <p:nvPr/>
        </p:nvSpPr>
        <p:spPr>
          <a:xfrm>
            <a:off x="3337560" y="1901952"/>
            <a:ext cx="1325880" cy="594360"/>
          </a:xfrm>
          <a:prstGeom prst="roundRect">
            <a:avLst>
              <a:gd name="adj" fmla="val 12308"/>
            </a:avLst>
          </a:prstGeom>
          <a:solidFill>
            <a:schemeClr val="tx2"/>
          </a:solidFill>
          <a:ln w="9525">
            <a:solidFill>
              <a:schemeClr val="accent3"/>
            </a:solidFill>
            <a:prstDash val="solid"/>
          </a:ln>
        </p:spPr>
      </p:sp>
      <p:pic>
        <p:nvPicPr>
          <p:cNvPr id="14" name="Image 2" descr="preencoded.png"/>
          <p:cNvPicPr>
            <a:picLocks noChangeAspect="1"/>
          </p:cNvPicPr>
          <p:nvPr/>
        </p:nvPicPr>
        <p:blipFill>
          <a:blip r:embed="rId5"/>
          <a:stretch>
            <a:fillRect/>
          </a:stretch>
        </p:blipFill>
        <p:spPr>
          <a:xfrm>
            <a:off x="3429000" y="2066544"/>
            <a:ext cx="256032" cy="256032"/>
          </a:xfrm>
          <a:prstGeom prst="rect">
            <a:avLst/>
          </a:prstGeom>
        </p:spPr>
      </p:pic>
      <p:sp>
        <p:nvSpPr>
          <p:cNvPr id="15" name="Text 10"/>
          <p:cNvSpPr txBox="1"/>
          <p:nvPr/>
        </p:nvSpPr>
        <p:spPr>
          <a:xfrm>
            <a:off x="3749040" y="1901952"/>
            <a:ext cx="868680" cy="594360"/>
          </a:xfrm>
          <a:prstGeom prst="rect">
            <a:avLst/>
          </a:prstGeom>
          <a:noFill/>
          <a:ln/>
        </p:spPr>
        <p:txBody>
          <a:bodyPr wrap="square" lIns="0" tIns="0" rIns="0" bIns="0" rtlCol="0" anchor="ctr"/>
          <a:lstStyle/>
          <a:p>
            <a:pPr marL="0" indent="0">
              <a:buNone/>
            </a:pPr>
            <a:r>
              <a:rPr lang="en-US" sz="1400" b="1" dirty="0">
                <a:solidFill>
                  <a:schemeClr val="bg1"/>
                </a:solidFill>
              </a:rPr>
              <a:t>Water</a:t>
            </a:r>
            <a:endParaRPr lang="en-US" sz="1400" dirty="0"/>
          </a:p>
        </p:txBody>
      </p:sp>
      <p:sp>
        <p:nvSpPr>
          <p:cNvPr id="16" name="Shape 11"/>
          <p:cNvSpPr/>
          <p:nvPr/>
        </p:nvSpPr>
        <p:spPr>
          <a:xfrm>
            <a:off x="457200" y="2587752"/>
            <a:ext cx="1325880" cy="594360"/>
          </a:xfrm>
          <a:prstGeom prst="roundRect">
            <a:avLst>
              <a:gd name="adj" fmla="val 12308"/>
            </a:avLst>
          </a:prstGeom>
          <a:solidFill>
            <a:schemeClr val="tx2"/>
          </a:solidFill>
          <a:ln w="9525">
            <a:solidFill>
              <a:schemeClr val="accent3"/>
            </a:solidFill>
            <a:prstDash val="solid"/>
          </a:ln>
        </p:spPr>
      </p:sp>
      <p:pic>
        <p:nvPicPr>
          <p:cNvPr id="17" name="Image 3" descr="preencoded.png"/>
          <p:cNvPicPr>
            <a:picLocks noChangeAspect="1"/>
          </p:cNvPicPr>
          <p:nvPr/>
        </p:nvPicPr>
        <p:blipFill>
          <a:blip r:embed="rId6"/>
          <a:stretch>
            <a:fillRect/>
          </a:stretch>
        </p:blipFill>
        <p:spPr>
          <a:xfrm>
            <a:off x="548640" y="2752344"/>
            <a:ext cx="256032" cy="256032"/>
          </a:xfrm>
          <a:prstGeom prst="rect">
            <a:avLst/>
          </a:prstGeom>
        </p:spPr>
      </p:pic>
      <p:sp>
        <p:nvSpPr>
          <p:cNvPr id="18" name="Text 12"/>
          <p:cNvSpPr txBox="1"/>
          <p:nvPr/>
        </p:nvSpPr>
        <p:spPr>
          <a:xfrm>
            <a:off x="868680" y="2587752"/>
            <a:ext cx="868680" cy="594360"/>
          </a:xfrm>
          <a:prstGeom prst="rect">
            <a:avLst/>
          </a:prstGeom>
          <a:noFill/>
          <a:ln/>
        </p:spPr>
        <p:txBody>
          <a:bodyPr wrap="square" lIns="0" tIns="0" rIns="0" bIns="0" rtlCol="0" anchor="ctr"/>
          <a:lstStyle/>
          <a:p>
            <a:pPr marL="0" indent="0">
              <a:buNone/>
            </a:pPr>
            <a:r>
              <a:rPr lang="en-US" sz="1400" b="1" dirty="0">
                <a:solidFill>
                  <a:schemeClr val="bg1"/>
                </a:solidFill>
              </a:rPr>
              <a:t>Food</a:t>
            </a:r>
            <a:endParaRPr lang="en-US" sz="1400" dirty="0"/>
          </a:p>
        </p:txBody>
      </p:sp>
      <p:sp>
        <p:nvSpPr>
          <p:cNvPr id="19" name="Shape 13"/>
          <p:cNvSpPr/>
          <p:nvPr/>
        </p:nvSpPr>
        <p:spPr>
          <a:xfrm>
            <a:off x="1897380" y="2587752"/>
            <a:ext cx="1325880" cy="594360"/>
          </a:xfrm>
          <a:prstGeom prst="roundRect">
            <a:avLst>
              <a:gd name="adj" fmla="val 12308"/>
            </a:avLst>
          </a:prstGeom>
          <a:solidFill>
            <a:schemeClr val="tx2"/>
          </a:solidFill>
          <a:ln w="9525">
            <a:solidFill>
              <a:schemeClr val="accent3"/>
            </a:solidFill>
            <a:prstDash val="solid"/>
          </a:ln>
        </p:spPr>
      </p:sp>
      <p:pic>
        <p:nvPicPr>
          <p:cNvPr id="20" name="Image 4" descr="preencoded.png"/>
          <p:cNvPicPr>
            <a:picLocks noChangeAspect="1"/>
          </p:cNvPicPr>
          <p:nvPr/>
        </p:nvPicPr>
        <p:blipFill>
          <a:blip r:embed="rId7"/>
          <a:stretch>
            <a:fillRect/>
          </a:stretch>
        </p:blipFill>
        <p:spPr>
          <a:xfrm>
            <a:off x="1988820" y="2752344"/>
            <a:ext cx="256032" cy="256032"/>
          </a:xfrm>
          <a:prstGeom prst="rect">
            <a:avLst/>
          </a:prstGeom>
        </p:spPr>
      </p:pic>
      <p:sp>
        <p:nvSpPr>
          <p:cNvPr id="21" name="Text 14"/>
          <p:cNvSpPr txBox="1"/>
          <p:nvPr/>
        </p:nvSpPr>
        <p:spPr>
          <a:xfrm>
            <a:off x="2308860" y="2587752"/>
            <a:ext cx="868680" cy="594360"/>
          </a:xfrm>
          <a:prstGeom prst="rect">
            <a:avLst/>
          </a:prstGeom>
          <a:noFill/>
          <a:ln/>
        </p:spPr>
        <p:txBody>
          <a:bodyPr wrap="square" lIns="0" tIns="0" rIns="0" bIns="0" rtlCol="0" anchor="ctr"/>
          <a:lstStyle/>
          <a:p>
            <a:pPr marL="0" indent="0">
              <a:buNone/>
            </a:pPr>
            <a:r>
              <a:rPr lang="en-US" sz="1400" b="1" dirty="0">
                <a:solidFill>
                  <a:schemeClr val="bg1"/>
                </a:solidFill>
              </a:rPr>
              <a:t>Radiation</a:t>
            </a:r>
            <a:endParaRPr lang="en-US" sz="1400" dirty="0"/>
          </a:p>
        </p:txBody>
      </p:sp>
      <p:sp>
        <p:nvSpPr>
          <p:cNvPr id="22" name="Shape 15"/>
          <p:cNvSpPr/>
          <p:nvPr/>
        </p:nvSpPr>
        <p:spPr>
          <a:xfrm>
            <a:off x="3337560" y="2587752"/>
            <a:ext cx="1325880" cy="594360"/>
          </a:xfrm>
          <a:prstGeom prst="roundRect">
            <a:avLst>
              <a:gd name="adj" fmla="val 12308"/>
            </a:avLst>
          </a:prstGeom>
          <a:solidFill>
            <a:schemeClr val="tx2"/>
          </a:solidFill>
          <a:ln w="9525">
            <a:solidFill>
              <a:schemeClr val="accent3"/>
            </a:solidFill>
            <a:prstDash val="solid"/>
          </a:ln>
        </p:spPr>
      </p:sp>
      <p:pic>
        <p:nvPicPr>
          <p:cNvPr id="23" name="Image 5" descr="preencoded.png"/>
          <p:cNvPicPr>
            <a:picLocks noChangeAspect="1"/>
          </p:cNvPicPr>
          <p:nvPr/>
        </p:nvPicPr>
        <p:blipFill>
          <a:blip r:embed="rId8"/>
          <a:stretch>
            <a:fillRect/>
          </a:stretch>
        </p:blipFill>
        <p:spPr>
          <a:xfrm>
            <a:off x="3429000" y="2752344"/>
            <a:ext cx="256032" cy="256032"/>
          </a:xfrm>
          <a:prstGeom prst="rect">
            <a:avLst/>
          </a:prstGeom>
        </p:spPr>
      </p:pic>
      <p:sp>
        <p:nvSpPr>
          <p:cNvPr id="24" name="Text 16"/>
          <p:cNvSpPr txBox="1"/>
          <p:nvPr/>
        </p:nvSpPr>
        <p:spPr>
          <a:xfrm>
            <a:off x="3749040" y="2587752"/>
            <a:ext cx="868680" cy="594360"/>
          </a:xfrm>
          <a:prstGeom prst="rect">
            <a:avLst/>
          </a:prstGeom>
          <a:noFill/>
          <a:ln/>
        </p:spPr>
        <p:txBody>
          <a:bodyPr wrap="square" lIns="0" tIns="0" rIns="0" bIns="0" rtlCol="0" anchor="ctr"/>
          <a:lstStyle/>
          <a:p>
            <a:pPr marL="0" indent="0">
              <a:buNone/>
            </a:pPr>
            <a:r>
              <a:rPr lang="en-US" sz="1400" b="1" dirty="0">
                <a:solidFill>
                  <a:schemeClr val="bg1"/>
                </a:solidFill>
              </a:rPr>
              <a:t>Crew health</a:t>
            </a:r>
            <a:endParaRPr lang="en-US" sz="1400" dirty="0"/>
          </a:p>
        </p:txBody>
      </p:sp>
      <p:sp>
        <p:nvSpPr>
          <p:cNvPr id="25" name="Text 17"/>
          <p:cNvSpPr txBox="1"/>
          <p:nvPr/>
        </p:nvSpPr>
        <p:spPr>
          <a:xfrm>
            <a:off x="457200" y="3310128"/>
            <a:ext cx="2743200" cy="228600"/>
          </a:xfrm>
          <a:prstGeom prst="rect">
            <a:avLst/>
          </a:prstGeom>
          <a:noFill/>
          <a:ln/>
        </p:spPr>
        <p:txBody>
          <a:bodyPr wrap="square" lIns="0" tIns="0" rIns="0" bIns="0" rtlCol="0" anchor="ctr"/>
          <a:lstStyle/>
          <a:p>
            <a:pPr marL="0" indent="0">
              <a:buNone/>
            </a:pPr>
            <a:r>
              <a:rPr lang="en-US" sz="1100" b="1" kern="0" spc="200" dirty="0">
                <a:solidFill>
                  <a:schemeClr val="accent2"/>
                </a:solidFill>
              </a:rPr>
              <a:t>EVENTS</a:t>
            </a:r>
            <a:endParaRPr lang="en-US" sz="1100" dirty="0"/>
          </a:p>
        </p:txBody>
      </p:sp>
      <p:sp>
        <p:nvSpPr>
          <p:cNvPr id="26" name="Shape 18"/>
          <p:cNvSpPr/>
          <p:nvPr/>
        </p:nvSpPr>
        <p:spPr>
          <a:xfrm>
            <a:off x="457200" y="3584448"/>
            <a:ext cx="2057400" cy="1097280"/>
          </a:xfrm>
          <a:prstGeom prst="roundRect">
            <a:avLst>
              <a:gd name="adj" fmla="val 10000"/>
            </a:avLst>
          </a:prstGeom>
          <a:solidFill>
            <a:schemeClr val="tx2"/>
          </a:solidFill>
          <a:ln w="9525">
            <a:solidFill>
              <a:schemeClr val="accent3"/>
            </a:solidFill>
            <a:prstDash val="solid"/>
          </a:ln>
        </p:spPr>
      </p:sp>
      <p:sp>
        <p:nvSpPr>
          <p:cNvPr id="27" name="Text 19"/>
          <p:cNvSpPr txBox="1"/>
          <p:nvPr/>
        </p:nvSpPr>
        <p:spPr>
          <a:xfrm>
            <a:off x="594360" y="3657600"/>
            <a:ext cx="1828800" cy="274320"/>
          </a:xfrm>
          <a:prstGeom prst="rect">
            <a:avLst/>
          </a:prstGeom>
          <a:noFill/>
          <a:ln/>
        </p:spPr>
        <p:txBody>
          <a:bodyPr wrap="square" lIns="0" tIns="0" rIns="0" bIns="0" rtlCol="0" anchor="ctr"/>
          <a:lstStyle/>
          <a:p>
            <a:pPr marL="0" indent="0">
              <a:buNone/>
            </a:pPr>
            <a:r>
              <a:rPr lang="en-US" sz="1600" b="1" dirty="0">
                <a:solidFill>
                  <a:schemeClr val="accent1"/>
                </a:solidFill>
              </a:rPr>
              <a:t>Moon</a:t>
            </a:r>
            <a:endParaRPr lang="en-US" sz="1600" dirty="0"/>
          </a:p>
        </p:txBody>
      </p:sp>
      <p:sp>
        <p:nvSpPr>
          <p:cNvPr id="28" name="Text 20"/>
          <p:cNvSpPr txBox="1"/>
          <p:nvPr/>
        </p:nvSpPr>
        <p:spPr>
          <a:xfrm>
            <a:off x="594360" y="3950208"/>
            <a:ext cx="1783080" cy="685800"/>
          </a:xfrm>
          <a:prstGeom prst="rect">
            <a:avLst/>
          </a:prstGeom>
          <a:noFill/>
          <a:ln/>
        </p:spPr>
        <p:txBody>
          <a:bodyPr wrap="square" lIns="0" tIns="0" rIns="0" bIns="0" rtlCol="0" anchor="t"/>
          <a:lstStyle/>
          <a:p>
            <a:pPr marL="0" indent="0">
              <a:buNone/>
            </a:pPr>
            <a:r>
              <a:rPr lang="en-US" sz="1400" dirty="0">
                <a:solidFill>
                  <a:schemeClr val="accent6"/>
                </a:solidFill>
              </a:rPr>
              <a:t>15-day night, 2 solar flares, life support fault</a:t>
            </a:r>
            <a:endParaRPr lang="en-US" sz="1400" dirty="0"/>
          </a:p>
        </p:txBody>
      </p:sp>
      <p:sp>
        <p:nvSpPr>
          <p:cNvPr id="29" name="Shape 21"/>
          <p:cNvSpPr/>
          <p:nvPr/>
        </p:nvSpPr>
        <p:spPr>
          <a:xfrm>
            <a:off x="2606040" y="3584448"/>
            <a:ext cx="2057400" cy="1097280"/>
          </a:xfrm>
          <a:prstGeom prst="roundRect">
            <a:avLst>
              <a:gd name="adj" fmla="val 10000"/>
            </a:avLst>
          </a:prstGeom>
          <a:solidFill>
            <a:schemeClr val="tx2"/>
          </a:solidFill>
          <a:ln w="9525">
            <a:solidFill>
              <a:schemeClr val="accent3"/>
            </a:solidFill>
            <a:prstDash val="solid"/>
          </a:ln>
        </p:spPr>
      </p:sp>
      <p:sp>
        <p:nvSpPr>
          <p:cNvPr id="30" name="Text 22"/>
          <p:cNvSpPr txBox="1"/>
          <p:nvPr/>
        </p:nvSpPr>
        <p:spPr>
          <a:xfrm>
            <a:off x="2743200" y="3657600"/>
            <a:ext cx="1828800" cy="274320"/>
          </a:xfrm>
          <a:prstGeom prst="rect">
            <a:avLst/>
          </a:prstGeom>
          <a:noFill/>
          <a:ln/>
        </p:spPr>
        <p:txBody>
          <a:bodyPr wrap="square" lIns="0" tIns="0" rIns="0" bIns="0" rtlCol="0" anchor="ctr"/>
          <a:lstStyle/>
          <a:p>
            <a:pPr marL="0" indent="0">
              <a:buNone/>
            </a:pPr>
            <a:r>
              <a:rPr lang="en-US" sz="1600" b="1" dirty="0">
                <a:solidFill>
                  <a:schemeClr val="accent1"/>
                </a:solidFill>
              </a:rPr>
              <a:t>Mars</a:t>
            </a:r>
            <a:endParaRPr lang="en-US" sz="1600" dirty="0"/>
          </a:p>
        </p:txBody>
      </p:sp>
      <p:sp>
        <p:nvSpPr>
          <p:cNvPr id="31" name="Text 23"/>
          <p:cNvSpPr txBox="1"/>
          <p:nvPr/>
        </p:nvSpPr>
        <p:spPr>
          <a:xfrm>
            <a:off x="2743200" y="3950208"/>
            <a:ext cx="1783080" cy="685800"/>
          </a:xfrm>
          <a:prstGeom prst="rect">
            <a:avLst/>
          </a:prstGeom>
          <a:noFill/>
          <a:ln/>
        </p:spPr>
        <p:txBody>
          <a:bodyPr wrap="square" lIns="0" tIns="0" rIns="0" bIns="0" rtlCol="0" anchor="t"/>
          <a:lstStyle/>
          <a:p>
            <a:pPr marL="0" indent="0">
              <a:buNone/>
            </a:pPr>
            <a:r>
              <a:rPr lang="en-US" sz="1400" dirty="0">
                <a:solidFill>
                  <a:schemeClr val="accent6"/>
                </a:solidFill>
              </a:rPr>
              <a:t>Dust storm, 1 solar flare, life support fault</a:t>
            </a:r>
            <a:endParaRPr lang="en-US" sz="1400" dirty="0"/>
          </a:p>
        </p:txBody>
      </p:sp>
      <p:sp>
        <p:nvSpPr>
          <p:cNvPr id="32" name="Shape 24"/>
          <p:cNvSpPr/>
          <p:nvPr/>
        </p:nvSpPr>
        <p:spPr>
          <a:xfrm>
            <a:off x="4937760" y="1645920"/>
            <a:ext cx="3749040" cy="2103120"/>
          </a:xfrm>
          <a:prstGeom prst="roundRect">
            <a:avLst>
              <a:gd name="adj" fmla="val 4348"/>
            </a:avLst>
          </a:prstGeom>
          <a:solidFill>
            <a:schemeClr val="tx2"/>
          </a:solidFill>
          <a:ln w="15875">
            <a:solidFill>
              <a:schemeClr val="accent2"/>
            </a:solidFill>
            <a:prstDash val="dash"/>
          </a:ln>
        </p:spPr>
      </p:sp>
      <p:sp>
        <p:nvSpPr>
          <p:cNvPr id="36" name="Text 27"/>
          <p:cNvSpPr txBox="1"/>
          <p:nvPr/>
        </p:nvSpPr>
        <p:spPr>
          <a:xfrm>
            <a:off x="4937760" y="3931920"/>
            <a:ext cx="3749040" cy="548640"/>
          </a:xfrm>
          <a:prstGeom prst="rect">
            <a:avLst/>
          </a:prstGeom>
          <a:noFill/>
          <a:ln/>
        </p:spPr>
        <p:txBody>
          <a:bodyPr wrap="square" lIns="0" tIns="0" rIns="0" bIns="0" rtlCol="0" anchor="t"/>
          <a:lstStyle/>
          <a:p>
            <a:pPr marL="0" indent="0">
              <a:buNone/>
            </a:pPr>
            <a:r>
              <a:rPr lang="en-US" sz="1400" dirty="0">
                <a:solidFill>
                  <a:schemeClr val="accent6"/>
                </a:solidFill>
              </a:rPr>
              <a:t>Press Next day. Watch the six meters change.</a:t>
            </a:r>
            <a:endParaRPr lang="en-US" sz="1400" dirty="0"/>
          </a:p>
        </p:txBody>
      </p:sp>
      <p:pic>
        <p:nvPicPr>
          <p:cNvPr id="40" name="Picture 39">
            <a:extLst>
              <a:ext uri="{FF2B5EF4-FFF2-40B4-BE49-F238E27FC236}">
                <a16:creationId xmlns:a16="http://schemas.microsoft.com/office/drawing/2014/main" id="{98FC8B37-D439-15EC-1589-019EDE0AF686}"/>
              </a:ext>
            </a:extLst>
          </p:cNvPr>
          <p:cNvPicPr>
            <a:picLocks noChangeAspect="1"/>
          </p:cNvPicPr>
          <p:nvPr/>
        </p:nvPicPr>
        <p:blipFill>
          <a:blip r:embed="rId9"/>
          <a:stretch>
            <a:fillRect/>
          </a:stretch>
        </p:blipFill>
        <p:spPr>
          <a:xfrm>
            <a:off x="4777740" y="1019555"/>
            <a:ext cx="4234615" cy="2820925"/>
          </a:xfrm>
          <a:prstGeom prst="round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457200" y="292608"/>
            <a:ext cx="1280160" cy="329184"/>
          </a:xfrm>
          <a:prstGeom prst="roundRect">
            <a:avLst>
              <a:gd name="adj" fmla="val 50000"/>
            </a:avLst>
          </a:prstGeom>
          <a:solidFill>
            <a:schemeClr val="accent1"/>
          </a:solidFill>
          <a:ln w="12700">
            <a:solidFill>
              <a:schemeClr val="accent1"/>
            </a:solidFill>
            <a:prstDash val="solid"/>
          </a:ln>
        </p:spPr>
      </p:sp>
      <p:sp>
        <p:nvSpPr>
          <p:cNvPr id="3" name="Text 1"/>
          <p:cNvSpPr txBox="1"/>
          <p:nvPr/>
        </p:nvSpPr>
        <p:spPr>
          <a:xfrm>
            <a:off x="457200" y="292608"/>
            <a:ext cx="1280160" cy="329184"/>
          </a:xfrm>
          <a:prstGeom prst="rect">
            <a:avLst/>
          </a:prstGeom>
          <a:noFill/>
          <a:ln/>
        </p:spPr>
        <p:txBody>
          <a:bodyPr wrap="square" lIns="0" tIns="0" rIns="0" bIns="0" rtlCol="0" anchor="ctr"/>
          <a:lstStyle/>
          <a:p>
            <a:pPr marL="0" indent="0" algn="ctr">
              <a:buNone/>
            </a:pPr>
            <a:r>
              <a:rPr lang="en-US" sz="1300" b="1" kern="0" spc="100" dirty="0">
                <a:solidFill>
                  <a:schemeClr val="tx1"/>
                </a:solidFill>
              </a:rPr>
              <a:t>03  WHAT</a:t>
            </a:r>
            <a:endParaRPr lang="en-US" sz="1300" dirty="0"/>
          </a:p>
        </p:txBody>
      </p:sp>
      <p:sp>
        <p:nvSpPr>
          <p:cNvPr id="5" name="Text 1"/>
          <p:cNvSpPr>
            <a:spLocks noGrp="1"/>
          </p:cNvSpPr>
          <p:nvPr>
            <p:ph type="title" idx="101" hasCustomPrompt="1"/>
          </p:nvPr>
        </p:nvSpPr>
        <p:spPr>
          <a:xfrm>
            <a:off x="457200" y="731520"/>
            <a:ext cx="8229600" cy="731520"/>
          </a:xfrm>
          <a:prstGeom prst="rect">
            <a:avLst/>
          </a:prstGeom>
          <a:noFill/>
          <a:ln/>
        </p:spPr>
        <p:txBody>
          <a:bodyPr wrap="square" lIns="0" tIns="0" rIns="0" bIns="0" rtlCol="0" anchor="ctr"/>
          <a:lstStyle/>
          <a:p>
            <a:pPr marL="0" indent="0" algn="l">
              <a:buNone/>
            </a:pPr>
            <a:r>
              <a:rPr lang="en-US" sz="3600" b="1" dirty="0">
                <a:solidFill>
                  <a:schemeClr val="bg1"/>
                </a:solidFill>
              </a:rPr>
              <a:t>Solar flare: your choice</a:t>
            </a:r>
            <a:endParaRPr lang="en-US" sz="3600" dirty="0"/>
          </a:p>
        </p:txBody>
      </p:sp>
      <p:sp>
        <p:nvSpPr>
          <p:cNvPr id="6" name="Shape 4"/>
          <p:cNvSpPr/>
          <p:nvPr/>
        </p:nvSpPr>
        <p:spPr>
          <a:xfrm>
            <a:off x="457200" y="1645920"/>
            <a:ext cx="4480560" cy="1234440"/>
          </a:xfrm>
          <a:prstGeom prst="roundRect">
            <a:avLst>
              <a:gd name="adj" fmla="val 8889"/>
            </a:avLst>
          </a:prstGeom>
          <a:solidFill>
            <a:schemeClr val="tx2"/>
          </a:solidFill>
          <a:ln w="9525">
            <a:solidFill>
              <a:schemeClr val="accent3"/>
            </a:solidFill>
            <a:prstDash val="solid"/>
          </a:ln>
        </p:spPr>
      </p:sp>
      <p:sp>
        <p:nvSpPr>
          <p:cNvPr id="7" name="Shape 5"/>
          <p:cNvSpPr/>
          <p:nvPr/>
        </p:nvSpPr>
        <p:spPr>
          <a:xfrm>
            <a:off x="685800" y="1947672"/>
            <a:ext cx="640080" cy="640080"/>
          </a:xfrm>
          <a:prstGeom prst="ellipse">
            <a:avLst/>
          </a:prstGeom>
          <a:solidFill>
            <a:schemeClr val="accent1"/>
          </a:solidFill>
          <a:ln w="12700">
            <a:solidFill>
              <a:schemeClr val="accent1"/>
            </a:solidFill>
            <a:prstDash val="solid"/>
          </a:ln>
        </p:spPr>
      </p:sp>
      <p:pic>
        <p:nvPicPr>
          <p:cNvPr id="8" name="Image 0" descr="preencoded.png"/>
          <p:cNvPicPr>
            <a:picLocks noChangeAspect="1"/>
          </p:cNvPicPr>
          <p:nvPr/>
        </p:nvPicPr>
        <p:blipFill>
          <a:blip r:embed="rId3"/>
          <a:stretch>
            <a:fillRect/>
          </a:stretch>
        </p:blipFill>
        <p:spPr>
          <a:xfrm>
            <a:off x="845820" y="2107692"/>
            <a:ext cx="320040" cy="320040"/>
          </a:xfrm>
          <a:prstGeom prst="rect">
            <a:avLst/>
          </a:prstGeom>
        </p:spPr>
      </p:pic>
      <p:sp>
        <p:nvSpPr>
          <p:cNvPr id="9" name="Text 6"/>
          <p:cNvSpPr txBox="1"/>
          <p:nvPr/>
        </p:nvSpPr>
        <p:spPr>
          <a:xfrm>
            <a:off x="1554480" y="1783080"/>
            <a:ext cx="3200400" cy="365760"/>
          </a:xfrm>
          <a:prstGeom prst="rect">
            <a:avLst/>
          </a:prstGeom>
          <a:noFill/>
          <a:ln/>
        </p:spPr>
        <p:txBody>
          <a:bodyPr wrap="square" lIns="0" tIns="0" rIns="0" bIns="0" rtlCol="0" anchor="ctr"/>
          <a:lstStyle/>
          <a:p>
            <a:pPr marL="0" indent="0">
              <a:buNone/>
            </a:pPr>
            <a:r>
              <a:rPr lang="en-US" sz="2000" b="1" dirty="0">
                <a:solidFill>
                  <a:schemeClr val="bg1"/>
                </a:solidFill>
              </a:rPr>
              <a:t>Shelter</a:t>
            </a:r>
            <a:endParaRPr lang="en-US" sz="2000" dirty="0"/>
          </a:p>
        </p:txBody>
      </p:sp>
      <p:sp>
        <p:nvSpPr>
          <p:cNvPr id="10" name="Text 7"/>
          <p:cNvSpPr txBox="1"/>
          <p:nvPr/>
        </p:nvSpPr>
        <p:spPr>
          <a:xfrm>
            <a:off x="1554480" y="2176272"/>
            <a:ext cx="3200400" cy="594360"/>
          </a:xfrm>
          <a:prstGeom prst="rect">
            <a:avLst/>
          </a:prstGeom>
          <a:noFill/>
          <a:ln/>
        </p:spPr>
        <p:txBody>
          <a:bodyPr wrap="square" lIns="0" tIns="0" rIns="0" bIns="0" rtlCol="0" anchor="t"/>
          <a:lstStyle/>
          <a:p>
            <a:pPr marL="0" indent="0">
              <a:buNone/>
            </a:pPr>
            <a:r>
              <a:rPr lang="en-US" sz="1400" dirty="0">
                <a:solidFill>
                  <a:schemeClr val="accent6"/>
                </a:solidFill>
              </a:rPr>
              <a:t>Cuts radiation. But nobody tends the greenhouse that day.</a:t>
            </a:r>
            <a:endParaRPr lang="en-US" sz="1400" dirty="0"/>
          </a:p>
        </p:txBody>
      </p:sp>
      <p:sp>
        <p:nvSpPr>
          <p:cNvPr id="11" name="Shape 8"/>
          <p:cNvSpPr/>
          <p:nvPr/>
        </p:nvSpPr>
        <p:spPr>
          <a:xfrm>
            <a:off x="457200" y="3063240"/>
            <a:ext cx="4480560" cy="1234440"/>
          </a:xfrm>
          <a:prstGeom prst="roundRect">
            <a:avLst>
              <a:gd name="adj" fmla="val 8889"/>
            </a:avLst>
          </a:prstGeom>
          <a:solidFill>
            <a:schemeClr val="tx2"/>
          </a:solidFill>
          <a:ln w="9525">
            <a:solidFill>
              <a:schemeClr val="accent3"/>
            </a:solidFill>
            <a:prstDash val="solid"/>
          </a:ln>
        </p:spPr>
      </p:sp>
      <p:sp>
        <p:nvSpPr>
          <p:cNvPr id="12" name="Shape 9"/>
          <p:cNvSpPr/>
          <p:nvPr/>
        </p:nvSpPr>
        <p:spPr>
          <a:xfrm>
            <a:off x="685800" y="3364992"/>
            <a:ext cx="640080" cy="640080"/>
          </a:xfrm>
          <a:prstGeom prst="ellipse">
            <a:avLst/>
          </a:prstGeom>
          <a:solidFill>
            <a:schemeClr val="accent1"/>
          </a:solidFill>
          <a:ln w="12700">
            <a:solidFill>
              <a:schemeClr val="accent1"/>
            </a:solidFill>
            <a:prstDash val="solid"/>
          </a:ln>
        </p:spPr>
      </p:sp>
      <p:pic>
        <p:nvPicPr>
          <p:cNvPr id="13" name="Image 1" descr="preencoded.png"/>
          <p:cNvPicPr>
            <a:picLocks noChangeAspect="1"/>
          </p:cNvPicPr>
          <p:nvPr/>
        </p:nvPicPr>
        <p:blipFill>
          <a:blip r:embed="rId4"/>
          <a:stretch>
            <a:fillRect/>
          </a:stretch>
        </p:blipFill>
        <p:spPr>
          <a:xfrm>
            <a:off x="845820" y="3525012"/>
            <a:ext cx="320040" cy="320040"/>
          </a:xfrm>
          <a:prstGeom prst="rect">
            <a:avLst/>
          </a:prstGeom>
        </p:spPr>
      </p:pic>
      <p:sp>
        <p:nvSpPr>
          <p:cNvPr id="14" name="Text 10"/>
          <p:cNvSpPr txBox="1"/>
          <p:nvPr/>
        </p:nvSpPr>
        <p:spPr>
          <a:xfrm>
            <a:off x="1554480" y="3200400"/>
            <a:ext cx="3200400" cy="365760"/>
          </a:xfrm>
          <a:prstGeom prst="rect">
            <a:avLst/>
          </a:prstGeom>
          <a:noFill/>
          <a:ln/>
        </p:spPr>
        <p:txBody>
          <a:bodyPr wrap="square" lIns="0" tIns="0" rIns="0" bIns="0" rtlCol="0" anchor="ctr"/>
          <a:lstStyle/>
          <a:p>
            <a:pPr marL="0" indent="0">
              <a:buNone/>
            </a:pPr>
            <a:r>
              <a:rPr lang="en-US" sz="2000" b="1" dirty="0">
                <a:solidFill>
                  <a:schemeClr val="bg1"/>
                </a:solidFill>
              </a:rPr>
              <a:t>Keep working</a:t>
            </a:r>
            <a:endParaRPr lang="en-US" sz="2000" dirty="0"/>
          </a:p>
        </p:txBody>
      </p:sp>
      <p:sp>
        <p:nvSpPr>
          <p:cNvPr id="15" name="Text 11"/>
          <p:cNvSpPr txBox="1"/>
          <p:nvPr/>
        </p:nvSpPr>
        <p:spPr>
          <a:xfrm>
            <a:off x="1554480" y="3593592"/>
            <a:ext cx="3200400" cy="594360"/>
          </a:xfrm>
          <a:prstGeom prst="rect">
            <a:avLst/>
          </a:prstGeom>
          <a:noFill/>
          <a:ln/>
        </p:spPr>
        <p:txBody>
          <a:bodyPr wrap="square" lIns="0" tIns="0" rIns="0" bIns="0" rtlCol="0" anchor="t"/>
          <a:lstStyle/>
          <a:p>
            <a:pPr marL="0" indent="0">
              <a:buNone/>
            </a:pPr>
            <a:r>
              <a:rPr lang="en-US" sz="1400" dirty="0">
                <a:solidFill>
                  <a:schemeClr val="accent6"/>
                </a:solidFill>
              </a:rPr>
              <a:t>The greenhouse is tended. But radiation can build up.</a:t>
            </a:r>
            <a:endParaRPr lang="en-US" sz="1400" dirty="0"/>
          </a:p>
        </p:txBody>
      </p:sp>
      <p:sp>
        <p:nvSpPr>
          <p:cNvPr id="16" name="Text 12"/>
          <p:cNvSpPr txBox="1"/>
          <p:nvPr/>
        </p:nvSpPr>
        <p:spPr>
          <a:xfrm>
            <a:off x="457200" y="4434840"/>
            <a:ext cx="4480560" cy="274320"/>
          </a:xfrm>
          <a:prstGeom prst="rect">
            <a:avLst/>
          </a:prstGeom>
          <a:noFill/>
          <a:ln/>
        </p:spPr>
        <p:txBody>
          <a:bodyPr wrap="square" lIns="0" tIns="0" rIns="0" bIns="0" rtlCol="0" anchor="ctr"/>
          <a:lstStyle/>
          <a:p>
            <a:pPr marL="0" indent="0">
              <a:buNone/>
            </a:pPr>
            <a:r>
              <a:rPr lang="en-US" sz="1600" i="1" dirty="0">
                <a:solidFill>
                  <a:schemeClr val="accent2"/>
                </a:solidFill>
              </a:rPr>
              <a:t>Every choice is a trade-off.</a:t>
            </a:r>
            <a:endParaRPr lang="en-US" sz="1600" dirty="0"/>
          </a:p>
        </p:txBody>
      </p:sp>
      <p:sp>
        <p:nvSpPr>
          <p:cNvPr id="17" name="Shape 13"/>
          <p:cNvSpPr/>
          <p:nvPr/>
        </p:nvSpPr>
        <p:spPr>
          <a:xfrm>
            <a:off x="5212080" y="1645920"/>
            <a:ext cx="3474720" cy="1956816"/>
          </a:xfrm>
          <a:prstGeom prst="roundRect">
            <a:avLst>
              <a:gd name="adj" fmla="val 4673"/>
            </a:avLst>
          </a:prstGeom>
          <a:solidFill>
            <a:schemeClr val="tx2"/>
          </a:solidFill>
          <a:ln w="15875">
            <a:solidFill>
              <a:schemeClr val="accent2"/>
            </a:solidFill>
            <a:prstDash val="dash"/>
          </a:ln>
        </p:spPr>
      </p:sp>
      <p:sp>
        <p:nvSpPr>
          <p:cNvPr id="21" name="Text 16"/>
          <p:cNvSpPr txBox="1"/>
          <p:nvPr/>
        </p:nvSpPr>
        <p:spPr>
          <a:xfrm>
            <a:off x="5212080" y="3843318"/>
            <a:ext cx="3474720" cy="822960"/>
          </a:xfrm>
          <a:prstGeom prst="rect">
            <a:avLst/>
          </a:prstGeom>
          <a:noFill/>
          <a:ln/>
        </p:spPr>
        <p:txBody>
          <a:bodyPr wrap="square" lIns="0" tIns="0" rIns="0" bIns="0" rtlCol="0" anchor="t"/>
          <a:lstStyle/>
          <a:p>
            <a:pPr marL="0" indent="0">
              <a:buNone/>
            </a:pPr>
            <a:r>
              <a:rPr lang="en-US" sz="1400" dirty="0">
                <a:solidFill>
                  <a:schemeClr val="accent6"/>
                </a:solidFill>
              </a:rPr>
              <a:t>Reach the radiation limit and the mission fails. A backup life support unit covers the fault.</a:t>
            </a:r>
            <a:endParaRPr lang="en-US" sz="1400" dirty="0"/>
          </a:p>
        </p:txBody>
      </p:sp>
      <p:pic>
        <p:nvPicPr>
          <p:cNvPr id="23" name="Picture 22">
            <a:extLst>
              <a:ext uri="{FF2B5EF4-FFF2-40B4-BE49-F238E27FC236}">
                <a16:creationId xmlns:a16="http://schemas.microsoft.com/office/drawing/2014/main" id="{006AA662-5A29-9177-6558-76204F3DC07A}"/>
              </a:ext>
            </a:extLst>
          </p:cNvPr>
          <p:cNvPicPr>
            <a:picLocks noChangeAspect="1"/>
          </p:cNvPicPr>
          <p:nvPr/>
        </p:nvPicPr>
        <p:blipFill>
          <a:blip r:embed="rId5"/>
          <a:stretch>
            <a:fillRect/>
          </a:stretch>
        </p:blipFill>
        <p:spPr>
          <a:xfrm>
            <a:off x="5098586" y="1346133"/>
            <a:ext cx="3679654" cy="2451233"/>
          </a:xfrm>
          <a:prstGeom prst="round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457200" y="292608"/>
            <a:ext cx="1280160" cy="329184"/>
          </a:xfrm>
          <a:prstGeom prst="roundRect">
            <a:avLst>
              <a:gd name="adj" fmla="val 50000"/>
            </a:avLst>
          </a:prstGeom>
          <a:solidFill>
            <a:schemeClr val="accent1"/>
          </a:solidFill>
          <a:ln w="12700">
            <a:solidFill>
              <a:schemeClr val="accent1"/>
            </a:solidFill>
            <a:prstDash val="solid"/>
          </a:ln>
        </p:spPr>
      </p:sp>
      <p:sp>
        <p:nvSpPr>
          <p:cNvPr id="3" name="Text 1"/>
          <p:cNvSpPr txBox="1"/>
          <p:nvPr/>
        </p:nvSpPr>
        <p:spPr>
          <a:xfrm>
            <a:off x="457200" y="292608"/>
            <a:ext cx="1280160" cy="329184"/>
          </a:xfrm>
          <a:prstGeom prst="rect">
            <a:avLst/>
          </a:prstGeom>
          <a:noFill/>
          <a:ln/>
        </p:spPr>
        <p:txBody>
          <a:bodyPr wrap="square" lIns="0" tIns="0" rIns="0" bIns="0" rtlCol="0" anchor="ctr"/>
          <a:lstStyle/>
          <a:p>
            <a:pPr marL="0" indent="0" algn="ctr">
              <a:buNone/>
            </a:pPr>
            <a:r>
              <a:rPr lang="en-US" sz="1300" b="1" kern="0" spc="100" dirty="0">
                <a:solidFill>
                  <a:schemeClr val="tx1"/>
                </a:solidFill>
              </a:rPr>
              <a:t>03  WHAT</a:t>
            </a:r>
            <a:endParaRPr lang="en-US" sz="1300" dirty="0"/>
          </a:p>
        </p:txBody>
      </p:sp>
      <p:sp>
        <p:nvSpPr>
          <p:cNvPr id="5" name="Text 1"/>
          <p:cNvSpPr>
            <a:spLocks noGrp="1"/>
          </p:cNvSpPr>
          <p:nvPr>
            <p:ph type="title" idx="101" hasCustomPrompt="1"/>
          </p:nvPr>
        </p:nvSpPr>
        <p:spPr>
          <a:xfrm>
            <a:off x="457200" y="731520"/>
            <a:ext cx="8229600" cy="731520"/>
          </a:xfrm>
          <a:prstGeom prst="rect">
            <a:avLst/>
          </a:prstGeom>
          <a:noFill/>
          <a:ln/>
        </p:spPr>
        <p:txBody>
          <a:bodyPr wrap="square" lIns="0" tIns="0" rIns="0" bIns="0" rtlCol="0" anchor="ctr"/>
          <a:lstStyle/>
          <a:p>
            <a:pPr marL="0" indent="0" algn="l">
              <a:buNone/>
            </a:pPr>
            <a:r>
              <a:rPr lang="en-US" sz="3600" b="1" dirty="0">
                <a:solidFill>
                  <a:schemeClr val="bg1"/>
                </a:solidFill>
              </a:rPr>
              <a:t>Report and lessons</a:t>
            </a:r>
            <a:endParaRPr lang="en-US" sz="3600" dirty="0"/>
          </a:p>
        </p:txBody>
      </p:sp>
      <p:sp>
        <p:nvSpPr>
          <p:cNvPr id="6" name="Shape 4"/>
          <p:cNvSpPr/>
          <p:nvPr/>
        </p:nvSpPr>
        <p:spPr>
          <a:xfrm>
            <a:off x="457200" y="1645920"/>
            <a:ext cx="548640" cy="548640"/>
          </a:xfrm>
          <a:prstGeom prst="ellipse">
            <a:avLst/>
          </a:prstGeom>
          <a:solidFill>
            <a:schemeClr val="accent2"/>
          </a:solidFill>
          <a:ln w="12700">
            <a:solidFill>
              <a:schemeClr val="accent2"/>
            </a:solidFill>
            <a:prstDash val="solid"/>
          </a:ln>
        </p:spPr>
      </p:sp>
      <p:pic>
        <p:nvPicPr>
          <p:cNvPr id="7" name="Image 0" descr="preencoded.png"/>
          <p:cNvPicPr>
            <a:picLocks noChangeAspect="1"/>
          </p:cNvPicPr>
          <p:nvPr/>
        </p:nvPicPr>
        <p:blipFill>
          <a:blip r:embed="rId3"/>
          <a:stretch>
            <a:fillRect/>
          </a:stretch>
        </p:blipFill>
        <p:spPr>
          <a:xfrm>
            <a:off x="594360" y="1783080"/>
            <a:ext cx="274320" cy="274320"/>
          </a:xfrm>
          <a:prstGeom prst="rect">
            <a:avLst/>
          </a:prstGeom>
        </p:spPr>
      </p:pic>
      <p:sp>
        <p:nvSpPr>
          <p:cNvPr id="8" name="Text 5"/>
          <p:cNvSpPr txBox="1"/>
          <p:nvPr/>
        </p:nvSpPr>
        <p:spPr>
          <a:xfrm>
            <a:off x="1188720" y="1645920"/>
            <a:ext cx="3566160" cy="548640"/>
          </a:xfrm>
          <a:prstGeom prst="rect">
            <a:avLst/>
          </a:prstGeom>
          <a:noFill/>
          <a:ln/>
        </p:spPr>
        <p:txBody>
          <a:bodyPr wrap="square" lIns="0" tIns="0" rIns="0" bIns="0" rtlCol="0" anchor="ctr"/>
          <a:lstStyle/>
          <a:p>
            <a:pPr marL="0" indent="0">
              <a:buNone/>
            </a:pPr>
            <a:r>
              <a:rPr lang="en-US" sz="1600" b="1" dirty="0">
                <a:solidFill>
                  <a:schemeClr val="bg1"/>
                </a:solidFill>
              </a:rPr>
              <a:t>Your score and stars</a:t>
            </a:r>
            <a:endParaRPr lang="en-US" sz="1600" dirty="0"/>
          </a:p>
        </p:txBody>
      </p:sp>
      <p:sp>
        <p:nvSpPr>
          <p:cNvPr id="9" name="Shape 6"/>
          <p:cNvSpPr/>
          <p:nvPr/>
        </p:nvSpPr>
        <p:spPr>
          <a:xfrm>
            <a:off x="457200" y="2395728"/>
            <a:ext cx="548640" cy="548640"/>
          </a:xfrm>
          <a:prstGeom prst="ellipse">
            <a:avLst/>
          </a:prstGeom>
          <a:solidFill>
            <a:schemeClr val="accent2"/>
          </a:solidFill>
          <a:ln w="12700">
            <a:solidFill>
              <a:schemeClr val="accent2"/>
            </a:solidFill>
            <a:prstDash val="solid"/>
          </a:ln>
        </p:spPr>
      </p:sp>
      <p:pic>
        <p:nvPicPr>
          <p:cNvPr id="10" name="Image 1" descr="preencoded.png"/>
          <p:cNvPicPr>
            <a:picLocks noChangeAspect="1"/>
          </p:cNvPicPr>
          <p:nvPr/>
        </p:nvPicPr>
        <p:blipFill>
          <a:blip r:embed="rId4"/>
          <a:stretch>
            <a:fillRect/>
          </a:stretch>
        </p:blipFill>
        <p:spPr>
          <a:xfrm>
            <a:off x="594360" y="2532888"/>
            <a:ext cx="274320" cy="274320"/>
          </a:xfrm>
          <a:prstGeom prst="rect">
            <a:avLst/>
          </a:prstGeom>
        </p:spPr>
      </p:pic>
      <p:sp>
        <p:nvSpPr>
          <p:cNvPr id="11" name="Text 7"/>
          <p:cNvSpPr txBox="1"/>
          <p:nvPr/>
        </p:nvSpPr>
        <p:spPr>
          <a:xfrm>
            <a:off x="1188720" y="2395728"/>
            <a:ext cx="3566160" cy="548640"/>
          </a:xfrm>
          <a:prstGeom prst="rect">
            <a:avLst/>
          </a:prstGeom>
          <a:noFill/>
          <a:ln/>
        </p:spPr>
        <p:txBody>
          <a:bodyPr wrap="square" lIns="0" tIns="0" rIns="0" bIns="0" rtlCol="0" anchor="ctr"/>
          <a:lstStyle/>
          <a:p>
            <a:pPr marL="0" indent="0">
              <a:buNone/>
            </a:pPr>
            <a:r>
              <a:rPr lang="en-US" sz="1600" b="1" dirty="0">
                <a:solidFill>
                  <a:schemeClr val="bg1"/>
                </a:solidFill>
              </a:rPr>
              <a:t>The cause of any failure</a:t>
            </a:r>
            <a:endParaRPr lang="en-US" sz="1600" dirty="0"/>
          </a:p>
        </p:txBody>
      </p:sp>
      <p:sp>
        <p:nvSpPr>
          <p:cNvPr id="12" name="Shape 8"/>
          <p:cNvSpPr/>
          <p:nvPr/>
        </p:nvSpPr>
        <p:spPr>
          <a:xfrm>
            <a:off x="457200" y="3145536"/>
            <a:ext cx="548640" cy="548640"/>
          </a:xfrm>
          <a:prstGeom prst="ellipse">
            <a:avLst/>
          </a:prstGeom>
          <a:solidFill>
            <a:schemeClr val="accent2"/>
          </a:solidFill>
          <a:ln w="12700">
            <a:solidFill>
              <a:schemeClr val="accent2"/>
            </a:solidFill>
            <a:prstDash val="solid"/>
          </a:ln>
        </p:spPr>
      </p:sp>
      <p:pic>
        <p:nvPicPr>
          <p:cNvPr id="13" name="Image 2" descr="preencoded.png"/>
          <p:cNvPicPr>
            <a:picLocks noChangeAspect="1"/>
          </p:cNvPicPr>
          <p:nvPr/>
        </p:nvPicPr>
        <p:blipFill>
          <a:blip r:embed="rId5"/>
          <a:stretch>
            <a:fillRect/>
          </a:stretch>
        </p:blipFill>
        <p:spPr>
          <a:xfrm>
            <a:off x="594360" y="3282696"/>
            <a:ext cx="274320" cy="274320"/>
          </a:xfrm>
          <a:prstGeom prst="rect">
            <a:avLst/>
          </a:prstGeom>
        </p:spPr>
      </p:pic>
      <p:sp>
        <p:nvSpPr>
          <p:cNvPr id="14" name="Text 9"/>
          <p:cNvSpPr txBox="1"/>
          <p:nvPr/>
        </p:nvSpPr>
        <p:spPr>
          <a:xfrm>
            <a:off x="1188720" y="3145536"/>
            <a:ext cx="3566160" cy="548640"/>
          </a:xfrm>
          <a:prstGeom prst="rect">
            <a:avLst/>
          </a:prstGeom>
          <a:noFill/>
          <a:ln/>
        </p:spPr>
        <p:txBody>
          <a:bodyPr wrap="square" lIns="0" tIns="0" rIns="0" bIns="0" rtlCol="0" anchor="ctr"/>
          <a:lstStyle/>
          <a:p>
            <a:pPr marL="0" indent="0">
              <a:buNone/>
            </a:pPr>
            <a:r>
              <a:rPr lang="en-US" sz="1600" b="1" dirty="0">
                <a:solidFill>
                  <a:schemeClr val="bg1"/>
                </a:solidFill>
              </a:rPr>
              <a:t>Radiation dose and power use</a:t>
            </a:r>
            <a:endParaRPr lang="en-US" sz="1600" dirty="0"/>
          </a:p>
        </p:txBody>
      </p:sp>
      <p:sp>
        <p:nvSpPr>
          <p:cNvPr id="15" name="Shape 10"/>
          <p:cNvSpPr/>
          <p:nvPr/>
        </p:nvSpPr>
        <p:spPr>
          <a:xfrm>
            <a:off x="457200" y="3895344"/>
            <a:ext cx="548640" cy="548640"/>
          </a:xfrm>
          <a:prstGeom prst="ellipse">
            <a:avLst/>
          </a:prstGeom>
          <a:solidFill>
            <a:schemeClr val="accent2"/>
          </a:solidFill>
          <a:ln w="12700">
            <a:solidFill>
              <a:schemeClr val="accent2"/>
            </a:solidFill>
            <a:prstDash val="solid"/>
          </a:ln>
        </p:spPr>
      </p:sp>
      <p:pic>
        <p:nvPicPr>
          <p:cNvPr id="16" name="Image 3" descr="preencoded.png"/>
          <p:cNvPicPr>
            <a:picLocks noChangeAspect="1"/>
          </p:cNvPicPr>
          <p:nvPr/>
        </p:nvPicPr>
        <p:blipFill>
          <a:blip r:embed="rId6"/>
          <a:stretch>
            <a:fillRect/>
          </a:stretch>
        </p:blipFill>
        <p:spPr>
          <a:xfrm>
            <a:off x="594360" y="4032504"/>
            <a:ext cx="274320" cy="274320"/>
          </a:xfrm>
          <a:prstGeom prst="rect">
            <a:avLst/>
          </a:prstGeom>
        </p:spPr>
      </p:pic>
      <p:sp>
        <p:nvSpPr>
          <p:cNvPr id="17" name="Text 11"/>
          <p:cNvSpPr txBox="1"/>
          <p:nvPr/>
        </p:nvSpPr>
        <p:spPr>
          <a:xfrm>
            <a:off x="1188720" y="3895344"/>
            <a:ext cx="3566160" cy="548640"/>
          </a:xfrm>
          <a:prstGeom prst="rect">
            <a:avLst/>
          </a:prstGeom>
          <a:noFill/>
          <a:ln/>
        </p:spPr>
        <p:txBody>
          <a:bodyPr wrap="square" lIns="0" tIns="0" rIns="0" bIns="0" rtlCol="0" anchor="ctr"/>
          <a:lstStyle/>
          <a:p>
            <a:pPr marL="0" indent="0">
              <a:buNone/>
            </a:pPr>
            <a:r>
              <a:rPr lang="en-US" sz="1600" b="1" dirty="0">
                <a:solidFill>
                  <a:schemeClr val="bg1"/>
                </a:solidFill>
              </a:rPr>
              <a:t>What you learned and what to try next</a:t>
            </a:r>
            <a:endParaRPr lang="en-US" sz="1600" dirty="0"/>
          </a:p>
        </p:txBody>
      </p:sp>
      <p:sp>
        <p:nvSpPr>
          <p:cNvPr id="18" name="Shape 12"/>
          <p:cNvSpPr/>
          <p:nvPr/>
        </p:nvSpPr>
        <p:spPr>
          <a:xfrm>
            <a:off x="5029200" y="1645920"/>
            <a:ext cx="3657600" cy="2057400"/>
          </a:xfrm>
          <a:prstGeom prst="roundRect">
            <a:avLst>
              <a:gd name="adj" fmla="val 4444"/>
            </a:avLst>
          </a:prstGeom>
          <a:solidFill>
            <a:schemeClr val="tx2"/>
          </a:solidFill>
          <a:ln w="15875">
            <a:solidFill>
              <a:schemeClr val="accent2"/>
            </a:solidFill>
            <a:prstDash val="dash"/>
          </a:ln>
        </p:spPr>
      </p:sp>
      <p:sp>
        <p:nvSpPr>
          <p:cNvPr id="22" name="Text 15"/>
          <p:cNvSpPr txBox="1"/>
          <p:nvPr/>
        </p:nvSpPr>
        <p:spPr>
          <a:xfrm>
            <a:off x="5117487" y="4306824"/>
            <a:ext cx="3657600" cy="640080"/>
          </a:xfrm>
          <a:prstGeom prst="rect">
            <a:avLst/>
          </a:prstGeom>
          <a:noFill/>
          <a:ln/>
        </p:spPr>
        <p:txBody>
          <a:bodyPr wrap="square" lIns="0" tIns="0" rIns="0" bIns="0" rtlCol="0" anchor="t"/>
          <a:lstStyle/>
          <a:p>
            <a:pPr marL="0" indent="0">
              <a:buNone/>
            </a:pPr>
            <a:r>
              <a:rPr lang="en-US" sz="1600" i="1" dirty="0">
                <a:solidFill>
                  <a:schemeClr val="accent2"/>
                </a:solidFill>
              </a:rPr>
              <a:t>Every run ends with a lesson. Then you try again.</a:t>
            </a:r>
            <a:endParaRPr lang="en-US" sz="1600" dirty="0"/>
          </a:p>
        </p:txBody>
      </p:sp>
      <p:pic>
        <p:nvPicPr>
          <p:cNvPr id="24" name="Picture 23">
            <a:extLst>
              <a:ext uri="{FF2B5EF4-FFF2-40B4-BE49-F238E27FC236}">
                <a16:creationId xmlns:a16="http://schemas.microsoft.com/office/drawing/2014/main" id="{A071A3AA-C757-B3CD-0916-2A8894659BF1}"/>
              </a:ext>
            </a:extLst>
          </p:cNvPr>
          <p:cNvPicPr>
            <a:picLocks noChangeAspect="1"/>
          </p:cNvPicPr>
          <p:nvPr/>
        </p:nvPicPr>
        <p:blipFill>
          <a:blip r:embed="rId7"/>
          <a:stretch>
            <a:fillRect/>
          </a:stretch>
        </p:blipFill>
        <p:spPr>
          <a:xfrm>
            <a:off x="4752736" y="457200"/>
            <a:ext cx="4115367" cy="3870703"/>
          </a:xfrm>
          <a:prstGeom prst="round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457200" y="292608"/>
            <a:ext cx="1280160" cy="329184"/>
          </a:xfrm>
          <a:prstGeom prst="roundRect">
            <a:avLst>
              <a:gd name="adj" fmla="val 50000"/>
            </a:avLst>
          </a:prstGeom>
          <a:solidFill>
            <a:schemeClr val="accent1"/>
          </a:solidFill>
          <a:ln w="12700">
            <a:solidFill>
              <a:schemeClr val="accent1"/>
            </a:solidFill>
            <a:prstDash val="solid"/>
          </a:ln>
        </p:spPr>
      </p:sp>
      <p:sp>
        <p:nvSpPr>
          <p:cNvPr id="3" name="Text 1"/>
          <p:cNvSpPr txBox="1"/>
          <p:nvPr/>
        </p:nvSpPr>
        <p:spPr>
          <a:xfrm>
            <a:off x="457200" y="292608"/>
            <a:ext cx="1280160" cy="329184"/>
          </a:xfrm>
          <a:prstGeom prst="rect">
            <a:avLst/>
          </a:prstGeom>
          <a:noFill/>
          <a:ln/>
        </p:spPr>
        <p:txBody>
          <a:bodyPr wrap="square" lIns="0" tIns="0" rIns="0" bIns="0" rtlCol="0" anchor="ctr"/>
          <a:lstStyle/>
          <a:p>
            <a:pPr marL="0" indent="0" algn="ctr">
              <a:buNone/>
            </a:pPr>
            <a:r>
              <a:rPr lang="en-US" sz="1300" b="1" kern="0" spc="100" dirty="0">
                <a:solidFill>
                  <a:schemeClr val="tx1"/>
                </a:solidFill>
              </a:rPr>
              <a:t>04  HOW</a:t>
            </a:r>
            <a:endParaRPr lang="en-US" sz="1300" dirty="0"/>
          </a:p>
        </p:txBody>
      </p:sp>
      <p:sp>
        <p:nvSpPr>
          <p:cNvPr id="5" name="Text 1"/>
          <p:cNvSpPr>
            <a:spLocks noGrp="1"/>
          </p:cNvSpPr>
          <p:nvPr>
            <p:ph type="title" idx="101" hasCustomPrompt="1"/>
          </p:nvPr>
        </p:nvSpPr>
        <p:spPr>
          <a:xfrm>
            <a:off x="457200" y="731520"/>
            <a:ext cx="8229600" cy="731520"/>
          </a:xfrm>
          <a:prstGeom prst="rect">
            <a:avLst/>
          </a:prstGeom>
          <a:noFill/>
          <a:ln/>
        </p:spPr>
        <p:txBody>
          <a:bodyPr wrap="square" lIns="0" tIns="0" rIns="0" bIns="0" rtlCol="0" anchor="ctr"/>
          <a:lstStyle/>
          <a:p>
            <a:pPr marL="0" indent="0" algn="l">
              <a:buNone/>
            </a:pPr>
            <a:r>
              <a:rPr lang="en-US" sz="3600" b="1" dirty="0">
                <a:solidFill>
                  <a:schemeClr val="bg1"/>
                </a:solidFill>
              </a:rPr>
              <a:t>What players learn</a:t>
            </a:r>
            <a:endParaRPr lang="en-US" sz="3600" dirty="0"/>
          </a:p>
        </p:txBody>
      </p:sp>
      <p:sp>
        <p:nvSpPr>
          <p:cNvPr id="6" name="Shape 4"/>
          <p:cNvSpPr/>
          <p:nvPr/>
        </p:nvSpPr>
        <p:spPr>
          <a:xfrm>
            <a:off x="457200" y="1645920"/>
            <a:ext cx="3931920" cy="1371600"/>
          </a:xfrm>
          <a:prstGeom prst="roundRect">
            <a:avLst>
              <a:gd name="adj" fmla="val 8000"/>
            </a:avLst>
          </a:prstGeom>
          <a:solidFill>
            <a:schemeClr val="tx2"/>
          </a:solidFill>
          <a:ln w="9525">
            <a:solidFill>
              <a:schemeClr val="accent3"/>
            </a:solidFill>
            <a:prstDash val="solid"/>
          </a:ln>
        </p:spPr>
      </p:sp>
      <p:sp>
        <p:nvSpPr>
          <p:cNvPr id="7" name="Shape 5"/>
          <p:cNvSpPr/>
          <p:nvPr/>
        </p:nvSpPr>
        <p:spPr>
          <a:xfrm>
            <a:off x="685800" y="2011680"/>
            <a:ext cx="640080" cy="640080"/>
          </a:xfrm>
          <a:prstGeom prst="ellipse">
            <a:avLst/>
          </a:prstGeom>
          <a:solidFill>
            <a:schemeClr val="accent1"/>
          </a:solidFill>
          <a:ln w="12700">
            <a:solidFill>
              <a:schemeClr val="accent1"/>
            </a:solidFill>
            <a:prstDash val="solid"/>
          </a:ln>
        </p:spPr>
      </p:sp>
      <p:pic>
        <p:nvPicPr>
          <p:cNvPr id="8" name="Image 0" descr="preencoded.png"/>
          <p:cNvPicPr>
            <a:picLocks noChangeAspect="1"/>
          </p:cNvPicPr>
          <p:nvPr/>
        </p:nvPicPr>
        <p:blipFill>
          <a:blip r:embed="rId3"/>
          <a:stretch>
            <a:fillRect/>
          </a:stretch>
        </p:blipFill>
        <p:spPr>
          <a:xfrm>
            <a:off x="845820" y="2171700"/>
            <a:ext cx="320040" cy="320040"/>
          </a:xfrm>
          <a:prstGeom prst="rect">
            <a:avLst/>
          </a:prstGeom>
        </p:spPr>
      </p:pic>
      <p:sp>
        <p:nvSpPr>
          <p:cNvPr id="9" name="Text 6"/>
          <p:cNvSpPr txBox="1"/>
          <p:nvPr/>
        </p:nvSpPr>
        <p:spPr>
          <a:xfrm>
            <a:off x="1554480" y="1828800"/>
            <a:ext cx="2697480" cy="365760"/>
          </a:xfrm>
          <a:prstGeom prst="rect">
            <a:avLst/>
          </a:prstGeom>
          <a:noFill/>
          <a:ln/>
        </p:spPr>
        <p:txBody>
          <a:bodyPr wrap="square" lIns="0" tIns="0" rIns="0" bIns="0" rtlCol="0" anchor="t"/>
          <a:lstStyle/>
          <a:p>
            <a:pPr marL="0" indent="0">
              <a:buNone/>
            </a:pPr>
            <a:r>
              <a:rPr lang="en-US" sz="1800" b="1" dirty="0">
                <a:solidFill>
                  <a:schemeClr val="bg1"/>
                </a:solidFill>
              </a:rPr>
              <a:t>Power runs everything</a:t>
            </a:r>
            <a:endParaRPr lang="en-US" sz="1800" dirty="0"/>
          </a:p>
        </p:txBody>
      </p:sp>
      <p:sp>
        <p:nvSpPr>
          <p:cNvPr id="10" name="Text 7"/>
          <p:cNvSpPr txBox="1"/>
          <p:nvPr/>
        </p:nvSpPr>
        <p:spPr>
          <a:xfrm>
            <a:off x="1554480" y="2212848"/>
            <a:ext cx="2697480" cy="685800"/>
          </a:xfrm>
          <a:prstGeom prst="rect">
            <a:avLst/>
          </a:prstGeom>
          <a:noFill/>
          <a:ln/>
        </p:spPr>
        <p:txBody>
          <a:bodyPr wrap="square" lIns="0" tIns="0" rIns="0" bIns="0" rtlCol="0" anchor="t"/>
          <a:lstStyle/>
          <a:p>
            <a:pPr marL="0" indent="0">
              <a:buNone/>
            </a:pPr>
            <a:r>
              <a:rPr lang="en-US" sz="1400" dirty="0">
                <a:solidFill>
                  <a:schemeClr val="accent6"/>
                </a:solidFill>
              </a:rPr>
              <a:t>Life support, heat and water all need it.</a:t>
            </a:r>
            <a:endParaRPr lang="en-US" sz="1400" dirty="0"/>
          </a:p>
        </p:txBody>
      </p:sp>
      <p:sp>
        <p:nvSpPr>
          <p:cNvPr id="11" name="Shape 8"/>
          <p:cNvSpPr/>
          <p:nvPr/>
        </p:nvSpPr>
        <p:spPr>
          <a:xfrm>
            <a:off x="4754880" y="1645920"/>
            <a:ext cx="3931920" cy="1371600"/>
          </a:xfrm>
          <a:prstGeom prst="roundRect">
            <a:avLst>
              <a:gd name="adj" fmla="val 8000"/>
            </a:avLst>
          </a:prstGeom>
          <a:solidFill>
            <a:schemeClr val="tx2"/>
          </a:solidFill>
          <a:ln w="9525">
            <a:solidFill>
              <a:schemeClr val="accent3"/>
            </a:solidFill>
            <a:prstDash val="solid"/>
          </a:ln>
        </p:spPr>
      </p:sp>
      <p:sp>
        <p:nvSpPr>
          <p:cNvPr id="12" name="Shape 9"/>
          <p:cNvSpPr/>
          <p:nvPr/>
        </p:nvSpPr>
        <p:spPr>
          <a:xfrm>
            <a:off x="4983480" y="2011680"/>
            <a:ext cx="640080" cy="640080"/>
          </a:xfrm>
          <a:prstGeom prst="ellipse">
            <a:avLst/>
          </a:prstGeom>
          <a:solidFill>
            <a:schemeClr val="accent1"/>
          </a:solidFill>
          <a:ln w="12700">
            <a:solidFill>
              <a:schemeClr val="accent1"/>
            </a:solidFill>
            <a:prstDash val="solid"/>
          </a:ln>
        </p:spPr>
      </p:sp>
      <p:pic>
        <p:nvPicPr>
          <p:cNvPr id="13" name="Image 1" descr="preencoded.png"/>
          <p:cNvPicPr>
            <a:picLocks noChangeAspect="1"/>
          </p:cNvPicPr>
          <p:nvPr/>
        </p:nvPicPr>
        <p:blipFill>
          <a:blip r:embed="rId4"/>
          <a:stretch>
            <a:fillRect/>
          </a:stretch>
        </p:blipFill>
        <p:spPr>
          <a:xfrm>
            <a:off x="5143500" y="2171700"/>
            <a:ext cx="320040" cy="320040"/>
          </a:xfrm>
          <a:prstGeom prst="rect">
            <a:avLst/>
          </a:prstGeom>
        </p:spPr>
      </p:pic>
      <p:sp>
        <p:nvSpPr>
          <p:cNvPr id="14" name="Text 10"/>
          <p:cNvSpPr txBox="1"/>
          <p:nvPr/>
        </p:nvSpPr>
        <p:spPr>
          <a:xfrm>
            <a:off x="5852160" y="1828800"/>
            <a:ext cx="2697480" cy="365760"/>
          </a:xfrm>
          <a:prstGeom prst="rect">
            <a:avLst/>
          </a:prstGeom>
          <a:noFill/>
          <a:ln/>
        </p:spPr>
        <p:txBody>
          <a:bodyPr wrap="square" lIns="0" tIns="0" rIns="0" bIns="0" rtlCol="0" anchor="t"/>
          <a:lstStyle/>
          <a:p>
            <a:pPr marL="0" indent="0">
              <a:buNone/>
            </a:pPr>
            <a:r>
              <a:rPr lang="en-US" sz="1800" b="1" dirty="0">
                <a:solidFill>
                  <a:schemeClr val="bg1"/>
                </a:solidFill>
              </a:rPr>
              <a:t>Radiation is real</a:t>
            </a:r>
            <a:endParaRPr lang="en-US" sz="1800" dirty="0"/>
          </a:p>
        </p:txBody>
      </p:sp>
      <p:sp>
        <p:nvSpPr>
          <p:cNvPr id="15" name="Text 11"/>
          <p:cNvSpPr txBox="1"/>
          <p:nvPr/>
        </p:nvSpPr>
        <p:spPr>
          <a:xfrm>
            <a:off x="5852160" y="2212848"/>
            <a:ext cx="2697480" cy="685800"/>
          </a:xfrm>
          <a:prstGeom prst="rect">
            <a:avLst/>
          </a:prstGeom>
          <a:noFill/>
          <a:ln/>
        </p:spPr>
        <p:txBody>
          <a:bodyPr wrap="square" lIns="0" tIns="0" rIns="0" bIns="0" rtlCol="0" anchor="t"/>
          <a:lstStyle/>
          <a:p>
            <a:pPr marL="0" indent="0">
              <a:buNone/>
            </a:pPr>
            <a:r>
              <a:rPr lang="en-US" sz="1400" dirty="0">
                <a:solidFill>
                  <a:schemeClr val="accent6"/>
                </a:solidFill>
              </a:rPr>
              <a:t>Invisible, but soil and shelter can block it.</a:t>
            </a:r>
            <a:endParaRPr lang="en-US" sz="1400" dirty="0"/>
          </a:p>
        </p:txBody>
      </p:sp>
      <p:sp>
        <p:nvSpPr>
          <p:cNvPr id="16" name="Shape 12"/>
          <p:cNvSpPr/>
          <p:nvPr/>
        </p:nvSpPr>
        <p:spPr>
          <a:xfrm>
            <a:off x="457200" y="3200400"/>
            <a:ext cx="3931920" cy="1371600"/>
          </a:xfrm>
          <a:prstGeom prst="roundRect">
            <a:avLst>
              <a:gd name="adj" fmla="val 8000"/>
            </a:avLst>
          </a:prstGeom>
          <a:solidFill>
            <a:schemeClr val="tx2"/>
          </a:solidFill>
          <a:ln w="9525">
            <a:solidFill>
              <a:schemeClr val="accent3"/>
            </a:solidFill>
            <a:prstDash val="solid"/>
          </a:ln>
        </p:spPr>
      </p:sp>
      <p:sp>
        <p:nvSpPr>
          <p:cNvPr id="17" name="Shape 13"/>
          <p:cNvSpPr/>
          <p:nvPr/>
        </p:nvSpPr>
        <p:spPr>
          <a:xfrm>
            <a:off x="685800" y="3566160"/>
            <a:ext cx="640080" cy="640080"/>
          </a:xfrm>
          <a:prstGeom prst="ellipse">
            <a:avLst/>
          </a:prstGeom>
          <a:solidFill>
            <a:schemeClr val="accent1"/>
          </a:solidFill>
          <a:ln w="12700">
            <a:solidFill>
              <a:schemeClr val="accent1"/>
            </a:solidFill>
            <a:prstDash val="solid"/>
          </a:ln>
        </p:spPr>
      </p:sp>
      <p:pic>
        <p:nvPicPr>
          <p:cNvPr id="18" name="Image 2" descr="preencoded.png"/>
          <p:cNvPicPr>
            <a:picLocks noChangeAspect="1"/>
          </p:cNvPicPr>
          <p:nvPr/>
        </p:nvPicPr>
        <p:blipFill>
          <a:blip r:embed="rId5"/>
          <a:stretch>
            <a:fillRect/>
          </a:stretch>
        </p:blipFill>
        <p:spPr>
          <a:xfrm>
            <a:off x="845820" y="3726180"/>
            <a:ext cx="320040" cy="320040"/>
          </a:xfrm>
          <a:prstGeom prst="rect">
            <a:avLst/>
          </a:prstGeom>
        </p:spPr>
      </p:pic>
      <p:sp>
        <p:nvSpPr>
          <p:cNvPr id="19" name="Text 14"/>
          <p:cNvSpPr txBox="1"/>
          <p:nvPr/>
        </p:nvSpPr>
        <p:spPr>
          <a:xfrm>
            <a:off x="1554480" y="3383280"/>
            <a:ext cx="2697480" cy="365760"/>
          </a:xfrm>
          <a:prstGeom prst="rect">
            <a:avLst/>
          </a:prstGeom>
          <a:noFill/>
          <a:ln/>
        </p:spPr>
        <p:txBody>
          <a:bodyPr wrap="square" lIns="0" tIns="0" rIns="0" bIns="0" rtlCol="0" anchor="t"/>
          <a:lstStyle/>
          <a:p>
            <a:pPr marL="0" indent="0">
              <a:buNone/>
            </a:pPr>
            <a:r>
              <a:rPr lang="en-US" sz="1800" b="1" dirty="0">
                <a:solidFill>
                  <a:schemeClr val="bg1"/>
                </a:solidFill>
              </a:rPr>
              <a:t>You cannot bring everything</a:t>
            </a:r>
            <a:endParaRPr lang="en-US" sz="1800" dirty="0"/>
          </a:p>
        </p:txBody>
      </p:sp>
      <p:sp>
        <p:nvSpPr>
          <p:cNvPr id="20" name="Text 15"/>
          <p:cNvSpPr txBox="1"/>
          <p:nvPr/>
        </p:nvSpPr>
        <p:spPr>
          <a:xfrm>
            <a:off x="1554480" y="3767328"/>
            <a:ext cx="2697480" cy="685800"/>
          </a:xfrm>
          <a:prstGeom prst="rect">
            <a:avLst/>
          </a:prstGeom>
          <a:noFill/>
          <a:ln/>
        </p:spPr>
        <p:txBody>
          <a:bodyPr wrap="square" lIns="0" tIns="0" rIns="0" bIns="0" rtlCol="0" anchor="t"/>
          <a:lstStyle/>
          <a:p>
            <a:pPr marL="0" indent="0">
              <a:buNone/>
            </a:pPr>
            <a:r>
              <a:rPr lang="en-US" sz="1400" dirty="0">
                <a:solidFill>
                  <a:schemeClr val="accent6"/>
                </a:solidFill>
              </a:rPr>
              <a:t>Choose wisely and plan backups.</a:t>
            </a:r>
            <a:endParaRPr lang="en-US" sz="1400" dirty="0"/>
          </a:p>
        </p:txBody>
      </p:sp>
      <p:sp>
        <p:nvSpPr>
          <p:cNvPr id="21" name="Shape 16"/>
          <p:cNvSpPr/>
          <p:nvPr/>
        </p:nvSpPr>
        <p:spPr>
          <a:xfrm>
            <a:off x="4754880" y="3200400"/>
            <a:ext cx="3931920" cy="1371600"/>
          </a:xfrm>
          <a:prstGeom prst="roundRect">
            <a:avLst>
              <a:gd name="adj" fmla="val 8000"/>
            </a:avLst>
          </a:prstGeom>
          <a:solidFill>
            <a:schemeClr val="tx2"/>
          </a:solidFill>
          <a:ln w="9525">
            <a:solidFill>
              <a:schemeClr val="accent3"/>
            </a:solidFill>
            <a:prstDash val="solid"/>
          </a:ln>
        </p:spPr>
      </p:sp>
      <p:sp>
        <p:nvSpPr>
          <p:cNvPr id="22" name="Shape 17"/>
          <p:cNvSpPr/>
          <p:nvPr/>
        </p:nvSpPr>
        <p:spPr>
          <a:xfrm>
            <a:off x="4983480" y="3566160"/>
            <a:ext cx="640080" cy="640080"/>
          </a:xfrm>
          <a:prstGeom prst="ellipse">
            <a:avLst/>
          </a:prstGeom>
          <a:solidFill>
            <a:schemeClr val="accent1"/>
          </a:solidFill>
          <a:ln w="12700">
            <a:solidFill>
              <a:schemeClr val="accent1"/>
            </a:solidFill>
            <a:prstDash val="solid"/>
          </a:ln>
        </p:spPr>
      </p:sp>
      <p:pic>
        <p:nvPicPr>
          <p:cNvPr id="23" name="Image 3" descr="preencoded.png"/>
          <p:cNvPicPr>
            <a:picLocks noChangeAspect="1"/>
          </p:cNvPicPr>
          <p:nvPr/>
        </p:nvPicPr>
        <p:blipFill>
          <a:blip r:embed="rId6"/>
          <a:stretch>
            <a:fillRect/>
          </a:stretch>
        </p:blipFill>
        <p:spPr>
          <a:xfrm>
            <a:off x="5143500" y="3726180"/>
            <a:ext cx="320040" cy="320040"/>
          </a:xfrm>
          <a:prstGeom prst="rect">
            <a:avLst/>
          </a:prstGeom>
        </p:spPr>
      </p:pic>
      <p:sp>
        <p:nvSpPr>
          <p:cNvPr id="24" name="Text 18"/>
          <p:cNvSpPr txBox="1"/>
          <p:nvPr/>
        </p:nvSpPr>
        <p:spPr>
          <a:xfrm>
            <a:off x="5852160" y="3383280"/>
            <a:ext cx="2697480" cy="365760"/>
          </a:xfrm>
          <a:prstGeom prst="rect">
            <a:avLst/>
          </a:prstGeom>
          <a:noFill/>
          <a:ln/>
        </p:spPr>
        <p:txBody>
          <a:bodyPr wrap="square" lIns="0" tIns="0" rIns="0" bIns="0" rtlCol="0" anchor="t"/>
          <a:lstStyle/>
          <a:p>
            <a:pPr marL="0" indent="0">
              <a:buNone/>
            </a:pPr>
            <a:r>
              <a:rPr lang="en-US" sz="1800" b="1" dirty="0">
                <a:solidFill>
                  <a:schemeClr val="bg1"/>
                </a:solidFill>
              </a:rPr>
              <a:t>Each world is different</a:t>
            </a:r>
            <a:endParaRPr lang="en-US" sz="1800" dirty="0"/>
          </a:p>
        </p:txBody>
      </p:sp>
      <p:sp>
        <p:nvSpPr>
          <p:cNvPr id="25" name="Text 19"/>
          <p:cNvSpPr txBox="1"/>
          <p:nvPr/>
        </p:nvSpPr>
        <p:spPr>
          <a:xfrm>
            <a:off x="5852160" y="3767328"/>
            <a:ext cx="2697480" cy="685800"/>
          </a:xfrm>
          <a:prstGeom prst="rect">
            <a:avLst/>
          </a:prstGeom>
          <a:noFill/>
          <a:ln/>
        </p:spPr>
        <p:txBody>
          <a:bodyPr wrap="square" lIns="0" tIns="0" rIns="0" bIns="0" rtlCol="0" anchor="t"/>
          <a:lstStyle/>
          <a:p>
            <a:pPr marL="0" indent="0">
              <a:buNone/>
            </a:pPr>
            <a:r>
              <a:rPr lang="en-US" sz="1400" dirty="0">
                <a:solidFill>
                  <a:schemeClr val="accent6"/>
                </a:solidFill>
              </a:rPr>
              <a:t>Moon: long night. Mars: weak sun, dust storms.</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457200" y="292608"/>
            <a:ext cx="1280160" cy="329184"/>
          </a:xfrm>
          <a:prstGeom prst="roundRect">
            <a:avLst>
              <a:gd name="adj" fmla="val 50000"/>
            </a:avLst>
          </a:prstGeom>
          <a:solidFill>
            <a:schemeClr val="accent1"/>
          </a:solidFill>
          <a:ln w="12700">
            <a:solidFill>
              <a:schemeClr val="accent1"/>
            </a:solidFill>
            <a:prstDash val="solid"/>
          </a:ln>
        </p:spPr>
      </p:sp>
      <p:sp>
        <p:nvSpPr>
          <p:cNvPr id="3" name="Text 1"/>
          <p:cNvSpPr txBox="1"/>
          <p:nvPr/>
        </p:nvSpPr>
        <p:spPr>
          <a:xfrm>
            <a:off x="457200" y="292608"/>
            <a:ext cx="1280160" cy="329184"/>
          </a:xfrm>
          <a:prstGeom prst="rect">
            <a:avLst/>
          </a:prstGeom>
          <a:noFill/>
          <a:ln/>
        </p:spPr>
        <p:txBody>
          <a:bodyPr wrap="square" lIns="0" tIns="0" rIns="0" bIns="0" rtlCol="0" anchor="ctr"/>
          <a:lstStyle/>
          <a:p>
            <a:pPr marL="0" indent="0" algn="ctr">
              <a:buNone/>
            </a:pPr>
            <a:r>
              <a:rPr lang="en-US" sz="1300" b="1" kern="0" spc="100" dirty="0">
                <a:solidFill>
                  <a:schemeClr val="tx1"/>
                </a:solidFill>
              </a:rPr>
              <a:t>04  HOW</a:t>
            </a:r>
            <a:endParaRPr lang="en-US" sz="1300" dirty="0"/>
          </a:p>
        </p:txBody>
      </p:sp>
      <p:sp>
        <p:nvSpPr>
          <p:cNvPr id="5" name="Text 1"/>
          <p:cNvSpPr>
            <a:spLocks noGrp="1"/>
          </p:cNvSpPr>
          <p:nvPr>
            <p:ph type="title" idx="101" hasCustomPrompt="1"/>
          </p:nvPr>
        </p:nvSpPr>
        <p:spPr>
          <a:xfrm>
            <a:off x="457200" y="731520"/>
            <a:ext cx="8229600" cy="731520"/>
          </a:xfrm>
          <a:prstGeom prst="rect">
            <a:avLst/>
          </a:prstGeom>
          <a:noFill/>
          <a:ln/>
        </p:spPr>
        <p:txBody>
          <a:bodyPr wrap="square" lIns="0" tIns="0" rIns="0" bIns="0" rtlCol="0" anchor="ctr"/>
          <a:lstStyle/>
          <a:p>
            <a:pPr marL="0" indent="0" algn="l">
              <a:buNone/>
            </a:pPr>
            <a:r>
              <a:rPr lang="en-US" sz="3600" b="1" dirty="0">
                <a:solidFill>
                  <a:schemeClr val="bg1"/>
                </a:solidFill>
              </a:rPr>
              <a:t>Skills and reach</a:t>
            </a:r>
            <a:endParaRPr lang="en-US" sz="3600" dirty="0"/>
          </a:p>
        </p:txBody>
      </p:sp>
      <p:sp>
        <p:nvSpPr>
          <p:cNvPr id="6" name="Shape 4"/>
          <p:cNvSpPr/>
          <p:nvPr/>
        </p:nvSpPr>
        <p:spPr>
          <a:xfrm>
            <a:off x="457200" y="1600200"/>
            <a:ext cx="3931920" cy="3017520"/>
          </a:xfrm>
          <a:prstGeom prst="roundRect">
            <a:avLst>
              <a:gd name="adj" fmla="val 3636"/>
            </a:avLst>
          </a:prstGeom>
          <a:solidFill>
            <a:schemeClr val="tx2"/>
          </a:solidFill>
          <a:ln w="9525">
            <a:solidFill>
              <a:schemeClr val="accent3"/>
            </a:solidFill>
            <a:prstDash val="solid"/>
          </a:ln>
        </p:spPr>
      </p:sp>
      <p:sp>
        <p:nvSpPr>
          <p:cNvPr id="7" name="Text 5"/>
          <p:cNvSpPr txBox="1"/>
          <p:nvPr/>
        </p:nvSpPr>
        <p:spPr>
          <a:xfrm>
            <a:off x="685800" y="1737360"/>
            <a:ext cx="3474720" cy="365760"/>
          </a:xfrm>
          <a:prstGeom prst="rect">
            <a:avLst/>
          </a:prstGeom>
          <a:noFill/>
          <a:ln/>
        </p:spPr>
        <p:txBody>
          <a:bodyPr wrap="square" lIns="0" tIns="0" rIns="0" bIns="0" rtlCol="0" anchor="ctr"/>
          <a:lstStyle/>
          <a:p>
            <a:pPr marL="0" indent="0">
              <a:buNone/>
            </a:pPr>
            <a:r>
              <a:rPr lang="en-US" sz="1800" b="1" dirty="0">
                <a:solidFill>
                  <a:schemeClr val="accent2"/>
                </a:solidFill>
              </a:rPr>
              <a:t>Builds skills, sparks curiosity</a:t>
            </a:r>
            <a:endParaRPr lang="en-US" sz="1800" dirty="0"/>
          </a:p>
        </p:txBody>
      </p:sp>
      <p:pic>
        <p:nvPicPr>
          <p:cNvPr id="8" name="Image 0" descr="preencoded.png"/>
          <p:cNvPicPr>
            <a:picLocks noChangeAspect="1"/>
          </p:cNvPicPr>
          <p:nvPr/>
        </p:nvPicPr>
        <p:blipFill>
          <a:blip r:embed="rId3"/>
          <a:stretch>
            <a:fillRect/>
          </a:stretch>
        </p:blipFill>
        <p:spPr>
          <a:xfrm>
            <a:off x="685800" y="2350008"/>
            <a:ext cx="274320" cy="274320"/>
          </a:xfrm>
          <a:prstGeom prst="rect">
            <a:avLst/>
          </a:prstGeom>
        </p:spPr>
      </p:pic>
      <p:sp>
        <p:nvSpPr>
          <p:cNvPr id="9" name="Text 6"/>
          <p:cNvSpPr txBox="1"/>
          <p:nvPr/>
        </p:nvSpPr>
        <p:spPr>
          <a:xfrm>
            <a:off x="1143000" y="2286000"/>
            <a:ext cx="3108960" cy="402336"/>
          </a:xfrm>
          <a:prstGeom prst="rect">
            <a:avLst/>
          </a:prstGeom>
          <a:noFill/>
          <a:ln/>
        </p:spPr>
        <p:txBody>
          <a:bodyPr wrap="square" lIns="0" tIns="0" rIns="0" bIns="0" rtlCol="0" anchor="ctr"/>
          <a:lstStyle/>
          <a:p>
            <a:pPr marL="0" indent="0">
              <a:buNone/>
            </a:pPr>
            <a:r>
              <a:rPr lang="en-US" sz="1600" b="1" dirty="0">
                <a:solidFill>
                  <a:schemeClr val="bg1"/>
                </a:solidFill>
              </a:rPr>
              <a:t>Planning on a budget</a:t>
            </a:r>
            <a:endParaRPr lang="en-US" sz="1600" dirty="0"/>
          </a:p>
        </p:txBody>
      </p:sp>
      <p:pic>
        <p:nvPicPr>
          <p:cNvPr id="10" name="Image 1" descr="preencoded.png"/>
          <p:cNvPicPr>
            <a:picLocks noChangeAspect="1"/>
          </p:cNvPicPr>
          <p:nvPr/>
        </p:nvPicPr>
        <p:blipFill>
          <a:blip r:embed="rId3"/>
          <a:stretch>
            <a:fillRect/>
          </a:stretch>
        </p:blipFill>
        <p:spPr>
          <a:xfrm>
            <a:off x="685800" y="2898648"/>
            <a:ext cx="274320" cy="274320"/>
          </a:xfrm>
          <a:prstGeom prst="rect">
            <a:avLst/>
          </a:prstGeom>
        </p:spPr>
      </p:pic>
      <p:sp>
        <p:nvSpPr>
          <p:cNvPr id="11" name="Text 7"/>
          <p:cNvSpPr txBox="1"/>
          <p:nvPr/>
        </p:nvSpPr>
        <p:spPr>
          <a:xfrm>
            <a:off x="1143000" y="2834640"/>
            <a:ext cx="3108960" cy="402336"/>
          </a:xfrm>
          <a:prstGeom prst="rect">
            <a:avLst/>
          </a:prstGeom>
          <a:noFill/>
          <a:ln/>
        </p:spPr>
        <p:txBody>
          <a:bodyPr wrap="square" lIns="0" tIns="0" rIns="0" bIns="0" rtlCol="0" anchor="ctr"/>
          <a:lstStyle/>
          <a:p>
            <a:pPr marL="0" indent="0">
              <a:buNone/>
            </a:pPr>
            <a:r>
              <a:rPr lang="en-US" sz="1600" b="1" dirty="0">
                <a:solidFill>
                  <a:schemeClr val="bg1"/>
                </a:solidFill>
              </a:rPr>
              <a:t>Weighing trade-offs</a:t>
            </a:r>
            <a:endParaRPr lang="en-US" sz="1600" dirty="0"/>
          </a:p>
        </p:txBody>
      </p:sp>
      <p:pic>
        <p:nvPicPr>
          <p:cNvPr id="12" name="Image 2" descr="preencoded.png"/>
          <p:cNvPicPr>
            <a:picLocks noChangeAspect="1"/>
          </p:cNvPicPr>
          <p:nvPr/>
        </p:nvPicPr>
        <p:blipFill>
          <a:blip r:embed="rId3"/>
          <a:stretch>
            <a:fillRect/>
          </a:stretch>
        </p:blipFill>
        <p:spPr>
          <a:xfrm>
            <a:off x="685800" y="3447288"/>
            <a:ext cx="274320" cy="274320"/>
          </a:xfrm>
          <a:prstGeom prst="rect">
            <a:avLst/>
          </a:prstGeom>
        </p:spPr>
      </p:pic>
      <p:sp>
        <p:nvSpPr>
          <p:cNvPr id="13" name="Text 8"/>
          <p:cNvSpPr txBox="1"/>
          <p:nvPr/>
        </p:nvSpPr>
        <p:spPr>
          <a:xfrm>
            <a:off x="1143000" y="3383280"/>
            <a:ext cx="3108960" cy="402336"/>
          </a:xfrm>
          <a:prstGeom prst="rect">
            <a:avLst/>
          </a:prstGeom>
          <a:noFill/>
          <a:ln/>
        </p:spPr>
        <p:txBody>
          <a:bodyPr wrap="square" lIns="0" tIns="0" rIns="0" bIns="0" rtlCol="0" anchor="ctr"/>
          <a:lstStyle/>
          <a:p>
            <a:pPr marL="0" indent="0">
              <a:buNone/>
            </a:pPr>
            <a:r>
              <a:rPr lang="en-US" sz="1600" b="1" dirty="0">
                <a:solidFill>
                  <a:schemeClr val="bg1"/>
                </a:solidFill>
              </a:rPr>
              <a:t>Preparing backups</a:t>
            </a:r>
            <a:endParaRPr lang="en-US" sz="1600" dirty="0"/>
          </a:p>
        </p:txBody>
      </p:sp>
      <p:pic>
        <p:nvPicPr>
          <p:cNvPr id="14" name="Image 3" descr="preencoded.png"/>
          <p:cNvPicPr>
            <a:picLocks noChangeAspect="1"/>
          </p:cNvPicPr>
          <p:nvPr/>
        </p:nvPicPr>
        <p:blipFill>
          <a:blip r:embed="rId3"/>
          <a:stretch>
            <a:fillRect/>
          </a:stretch>
        </p:blipFill>
        <p:spPr>
          <a:xfrm>
            <a:off x="685800" y="3995928"/>
            <a:ext cx="274320" cy="274320"/>
          </a:xfrm>
          <a:prstGeom prst="rect">
            <a:avLst/>
          </a:prstGeom>
        </p:spPr>
      </p:pic>
      <p:sp>
        <p:nvSpPr>
          <p:cNvPr id="15" name="Text 9"/>
          <p:cNvSpPr txBox="1"/>
          <p:nvPr/>
        </p:nvSpPr>
        <p:spPr>
          <a:xfrm>
            <a:off x="1143000" y="3931920"/>
            <a:ext cx="3108960" cy="402336"/>
          </a:xfrm>
          <a:prstGeom prst="rect">
            <a:avLst/>
          </a:prstGeom>
          <a:noFill/>
          <a:ln/>
        </p:spPr>
        <p:txBody>
          <a:bodyPr wrap="square" lIns="0" tIns="0" rIns="0" bIns="0" rtlCol="0" anchor="ctr"/>
          <a:lstStyle/>
          <a:p>
            <a:pPr marL="0" indent="0">
              <a:buNone/>
            </a:pPr>
            <a:r>
              <a:rPr lang="en-US" sz="1600" b="1" dirty="0">
                <a:solidFill>
                  <a:schemeClr val="bg1"/>
                </a:solidFill>
              </a:rPr>
              <a:t>Learning from failure</a:t>
            </a:r>
            <a:endParaRPr lang="en-US" sz="1600" dirty="0"/>
          </a:p>
        </p:txBody>
      </p:sp>
      <p:sp>
        <p:nvSpPr>
          <p:cNvPr id="16" name="Shape 10"/>
          <p:cNvSpPr/>
          <p:nvPr/>
        </p:nvSpPr>
        <p:spPr>
          <a:xfrm>
            <a:off x="4754880" y="1600200"/>
            <a:ext cx="3931920" cy="3017520"/>
          </a:xfrm>
          <a:prstGeom prst="roundRect">
            <a:avLst>
              <a:gd name="adj" fmla="val 3636"/>
            </a:avLst>
          </a:prstGeom>
          <a:solidFill>
            <a:schemeClr val="tx2"/>
          </a:solidFill>
          <a:ln w="9525">
            <a:solidFill>
              <a:schemeClr val="accent3"/>
            </a:solidFill>
            <a:prstDash val="solid"/>
          </a:ln>
        </p:spPr>
      </p:sp>
      <p:sp>
        <p:nvSpPr>
          <p:cNvPr id="17" name="Text 11"/>
          <p:cNvSpPr txBox="1"/>
          <p:nvPr/>
        </p:nvSpPr>
        <p:spPr>
          <a:xfrm>
            <a:off x="4983480" y="1737360"/>
            <a:ext cx="3474720" cy="365760"/>
          </a:xfrm>
          <a:prstGeom prst="rect">
            <a:avLst/>
          </a:prstGeom>
          <a:noFill/>
          <a:ln/>
        </p:spPr>
        <p:txBody>
          <a:bodyPr wrap="square" lIns="0" tIns="0" rIns="0" bIns="0" rtlCol="0" anchor="ctr"/>
          <a:lstStyle/>
          <a:p>
            <a:pPr marL="0" indent="0">
              <a:buNone/>
            </a:pPr>
            <a:r>
              <a:rPr lang="en-US" sz="1800" b="1" dirty="0">
                <a:solidFill>
                  <a:schemeClr val="accent2"/>
                </a:solidFill>
              </a:rPr>
              <a:t>Free and offline, for all</a:t>
            </a:r>
            <a:endParaRPr lang="en-US" sz="1800" dirty="0"/>
          </a:p>
        </p:txBody>
      </p:sp>
      <p:sp>
        <p:nvSpPr>
          <p:cNvPr id="18" name="Shape 12"/>
          <p:cNvSpPr/>
          <p:nvPr/>
        </p:nvSpPr>
        <p:spPr>
          <a:xfrm>
            <a:off x="4983480" y="2286000"/>
            <a:ext cx="3474720" cy="365760"/>
          </a:xfrm>
          <a:prstGeom prst="roundRect">
            <a:avLst>
              <a:gd name="adj" fmla="val 50000"/>
            </a:avLst>
          </a:prstGeom>
          <a:solidFill>
            <a:schemeClr val="accent3"/>
          </a:solidFill>
          <a:ln w="12700">
            <a:solidFill>
              <a:schemeClr val="accent3"/>
            </a:solidFill>
            <a:prstDash val="solid"/>
          </a:ln>
        </p:spPr>
      </p:sp>
      <p:sp>
        <p:nvSpPr>
          <p:cNvPr id="19" name="Text 13"/>
          <p:cNvSpPr txBox="1"/>
          <p:nvPr/>
        </p:nvSpPr>
        <p:spPr>
          <a:xfrm>
            <a:off x="4983480" y="2286000"/>
            <a:ext cx="3474720" cy="365760"/>
          </a:xfrm>
          <a:prstGeom prst="rect">
            <a:avLst/>
          </a:prstGeom>
          <a:noFill/>
          <a:ln/>
        </p:spPr>
        <p:txBody>
          <a:bodyPr wrap="square" lIns="0" tIns="0" rIns="0" bIns="0" rtlCol="0" anchor="ctr"/>
          <a:lstStyle/>
          <a:p>
            <a:pPr marL="0" indent="0" algn="ctr">
              <a:buNone/>
            </a:pPr>
            <a:r>
              <a:rPr lang="en-US" sz="1400" b="1" dirty="0">
                <a:solidFill>
                  <a:schemeClr val="bg1"/>
                </a:solidFill>
              </a:rPr>
              <a:t>Children and students</a:t>
            </a:r>
            <a:endParaRPr lang="en-US" sz="1400" dirty="0"/>
          </a:p>
        </p:txBody>
      </p:sp>
      <p:sp>
        <p:nvSpPr>
          <p:cNvPr id="20" name="Shape 14"/>
          <p:cNvSpPr/>
          <p:nvPr/>
        </p:nvSpPr>
        <p:spPr>
          <a:xfrm>
            <a:off x="4983480" y="2743200"/>
            <a:ext cx="3474720" cy="365760"/>
          </a:xfrm>
          <a:prstGeom prst="roundRect">
            <a:avLst>
              <a:gd name="adj" fmla="val 50000"/>
            </a:avLst>
          </a:prstGeom>
          <a:solidFill>
            <a:schemeClr val="accent3"/>
          </a:solidFill>
          <a:ln w="12700">
            <a:solidFill>
              <a:schemeClr val="accent3"/>
            </a:solidFill>
            <a:prstDash val="solid"/>
          </a:ln>
        </p:spPr>
      </p:sp>
      <p:sp>
        <p:nvSpPr>
          <p:cNvPr id="21" name="Text 15"/>
          <p:cNvSpPr txBox="1"/>
          <p:nvPr/>
        </p:nvSpPr>
        <p:spPr>
          <a:xfrm>
            <a:off x="4983480" y="2743200"/>
            <a:ext cx="3474720" cy="365760"/>
          </a:xfrm>
          <a:prstGeom prst="rect">
            <a:avLst/>
          </a:prstGeom>
          <a:noFill/>
          <a:ln/>
        </p:spPr>
        <p:txBody>
          <a:bodyPr wrap="square" lIns="0" tIns="0" rIns="0" bIns="0" rtlCol="0" anchor="ctr"/>
          <a:lstStyle/>
          <a:p>
            <a:pPr marL="0" indent="0" algn="ctr">
              <a:buNone/>
            </a:pPr>
            <a:r>
              <a:rPr lang="en-US" sz="1400" b="1" dirty="0">
                <a:solidFill>
                  <a:schemeClr val="bg1"/>
                </a:solidFill>
              </a:rPr>
              <a:t>Teachers</a:t>
            </a:r>
            <a:endParaRPr lang="en-US" sz="1400" dirty="0"/>
          </a:p>
        </p:txBody>
      </p:sp>
      <p:sp>
        <p:nvSpPr>
          <p:cNvPr id="22" name="Shape 16"/>
          <p:cNvSpPr/>
          <p:nvPr/>
        </p:nvSpPr>
        <p:spPr>
          <a:xfrm>
            <a:off x="4983480" y="3200400"/>
            <a:ext cx="3474720" cy="365760"/>
          </a:xfrm>
          <a:prstGeom prst="roundRect">
            <a:avLst>
              <a:gd name="adj" fmla="val 50000"/>
            </a:avLst>
          </a:prstGeom>
          <a:solidFill>
            <a:schemeClr val="accent3"/>
          </a:solidFill>
          <a:ln w="12700">
            <a:solidFill>
              <a:schemeClr val="accent3"/>
            </a:solidFill>
            <a:prstDash val="solid"/>
          </a:ln>
        </p:spPr>
      </p:sp>
      <p:sp>
        <p:nvSpPr>
          <p:cNvPr id="23" name="Text 17"/>
          <p:cNvSpPr txBox="1"/>
          <p:nvPr/>
        </p:nvSpPr>
        <p:spPr>
          <a:xfrm>
            <a:off x="4983480" y="3200400"/>
            <a:ext cx="3474720" cy="365760"/>
          </a:xfrm>
          <a:prstGeom prst="rect">
            <a:avLst/>
          </a:prstGeom>
          <a:noFill/>
          <a:ln/>
        </p:spPr>
        <p:txBody>
          <a:bodyPr wrap="square" lIns="0" tIns="0" rIns="0" bIns="0" rtlCol="0" anchor="ctr"/>
          <a:lstStyle/>
          <a:p>
            <a:pPr marL="0" indent="0" algn="ctr">
              <a:buNone/>
            </a:pPr>
            <a:r>
              <a:rPr lang="en-US" sz="1400" b="1" dirty="0">
                <a:solidFill>
                  <a:schemeClr val="bg1"/>
                </a:solidFill>
              </a:rPr>
              <a:t>Science clubs</a:t>
            </a:r>
            <a:endParaRPr lang="en-US" sz="1400" dirty="0"/>
          </a:p>
        </p:txBody>
      </p:sp>
      <p:sp>
        <p:nvSpPr>
          <p:cNvPr id="24" name="Shape 18"/>
          <p:cNvSpPr/>
          <p:nvPr/>
        </p:nvSpPr>
        <p:spPr>
          <a:xfrm>
            <a:off x="4983480" y="3657600"/>
            <a:ext cx="3474720" cy="365760"/>
          </a:xfrm>
          <a:prstGeom prst="roundRect">
            <a:avLst>
              <a:gd name="adj" fmla="val 50000"/>
            </a:avLst>
          </a:prstGeom>
          <a:solidFill>
            <a:schemeClr val="accent3"/>
          </a:solidFill>
          <a:ln w="12700">
            <a:solidFill>
              <a:schemeClr val="accent3"/>
            </a:solidFill>
            <a:prstDash val="solid"/>
          </a:ln>
        </p:spPr>
      </p:sp>
      <p:sp>
        <p:nvSpPr>
          <p:cNvPr id="25" name="Text 19"/>
          <p:cNvSpPr txBox="1"/>
          <p:nvPr/>
        </p:nvSpPr>
        <p:spPr>
          <a:xfrm>
            <a:off x="4983480" y="3657600"/>
            <a:ext cx="3474720" cy="365760"/>
          </a:xfrm>
          <a:prstGeom prst="rect">
            <a:avLst/>
          </a:prstGeom>
          <a:noFill/>
          <a:ln/>
        </p:spPr>
        <p:txBody>
          <a:bodyPr wrap="square" lIns="0" tIns="0" rIns="0" bIns="0" rtlCol="0" anchor="ctr"/>
          <a:lstStyle/>
          <a:p>
            <a:pPr marL="0" indent="0" algn="ctr">
              <a:buNone/>
            </a:pPr>
            <a:r>
              <a:rPr lang="en-US" sz="1400" b="1" dirty="0">
                <a:solidFill>
                  <a:schemeClr val="bg1"/>
                </a:solidFill>
              </a:rPr>
              <a:t>Families</a:t>
            </a:r>
            <a:endParaRPr lang="en-US" sz="1400" dirty="0"/>
          </a:p>
        </p:txBody>
      </p:sp>
      <p:sp>
        <p:nvSpPr>
          <p:cNvPr id="26" name="Shape 20"/>
          <p:cNvSpPr/>
          <p:nvPr/>
        </p:nvSpPr>
        <p:spPr>
          <a:xfrm>
            <a:off x="4983480" y="4114800"/>
            <a:ext cx="3474720" cy="365760"/>
          </a:xfrm>
          <a:prstGeom prst="roundRect">
            <a:avLst>
              <a:gd name="adj" fmla="val 50000"/>
            </a:avLst>
          </a:prstGeom>
          <a:solidFill>
            <a:schemeClr val="accent1"/>
          </a:solidFill>
          <a:ln w="12700">
            <a:solidFill>
              <a:schemeClr val="accent1"/>
            </a:solidFill>
            <a:prstDash val="solid"/>
          </a:ln>
        </p:spPr>
      </p:sp>
      <p:sp>
        <p:nvSpPr>
          <p:cNvPr id="27" name="Text 21"/>
          <p:cNvSpPr txBox="1"/>
          <p:nvPr/>
        </p:nvSpPr>
        <p:spPr>
          <a:xfrm>
            <a:off x="4983480" y="4114800"/>
            <a:ext cx="3474720" cy="365760"/>
          </a:xfrm>
          <a:prstGeom prst="rect">
            <a:avLst/>
          </a:prstGeom>
          <a:noFill/>
          <a:ln/>
        </p:spPr>
        <p:txBody>
          <a:bodyPr wrap="square" lIns="0" tIns="0" rIns="0" bIns="0" rtlCol="0" anchor="ctr"/>
          <a:lstStyle/>
          <a:p>
            <a:pPr marL="0" indent="0" algn="ctr">
              <a:buNone/>
            </a:pPr>
            <a:r>
              <a:rPr lang="en-US" sz="1400" b="1" dirty="0">
                <a:solidFill>
                  <a:schemeClr val="tx1"/>
                </a:solidFill>
              </a:rPr>
              <a:t>Low-resource communities</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457200" y="292608"/>
            <a:ext cx="1280160" cy="329184"/>
          </a:xfrm>
          <a:prstGeom prst="roundRect">
            <a:avLst>
              <a:gd name="adj" fmla="val 50000"/>
            </a:avLst>
          </a:prstGeom>
          <a:solidFill>
            <a:schemeClr val="accent1"/>
          </a:solidFill>
          <a:ln w="12700">
            <a:solidFill>
              <a:schemeClr val="accent1"/>
            </a:solidFill>
            <a:prstDash val="solid"/>
          </a:ln>
        </p:spPr>
      </p:sp>
      <p:sp>
        <p:nvSpPr>
          <p:cNvPr id="3" name="Text 1"/>
          <p:cNvSpPr txBox="1"/>
          <p:nvPr/>
        </p:nvSpPr>
        <p:spPr>
          <a:xfrm>
            <a:off x="457200" y="292608"/>
            <a:ext cx="1280160" cy="329184"/>
          </a:xfrm>
          <a:prstGeom prst="rect">
            <a:avLst/>
          </a:prstGeom>
          <a:noFill/>
          <a:ln/>
        </p:spPr>
        <p:txBody>
          <a:bodyPr wrap="square" lIns="0" tIns="0" rIns="0" bIns="0" rtlCol="0" anchor="ctr"/>
          <a:lstStyle/>
          <a:p>
            <a:pPr marL="0" indent="0" algn="ctr">
              <a:buNone/>
            </a:pPr>
            <a:r>
              <a:rPr lang="en-US" sz="1300" b="1" kern="0" spc="100" dirty="0">
                <a:solidFill>
                  <a:schemeClr val="tx1"/>
                </a:solidFill>
              </a:rPr>
              <a:t>04  HOW</a:t>
            </a:r>
            <a:endParaRPr lang="en-US" sz="1300" dirty="0"/>
          </a:p>
        </p:txBody>
      </p:sp>
      <p:sp>
        <p:nvSpPr>
          <p:cNvPr id="5" name="Text 1"/>
          <p:cNvSpPr>
            <a:spLocks noGrp="1"/>
          </p:cNvSpPr>
          <p:nvPr>
            <p:ph type="title" idx="101" hasCustomPrompt="1"/>
          </p:nvPr>
        </p:nvSpPr>
        <p:spPr>
          <a:xfrm>
            <a:off x="457200" y="731520"/>
            <a:ext cx="8229600" cy="731520"/>
          </a:xfrm>
          <a:prstGeom prst="rect">
            <a:avLst/>
          </a:prstGeom>
          <a:noFill/>
          <a:ln/>
        </p:spPr>
        <p:txBody>
          <a:bodyPr wrap="square" lIns="0" tIns="0" rIns="0" bIns="0" rtlCol="0" anchor="ctr"/>
          <a:lstStyle/>
          <a:p>
            <a:pPr marL="0" indent="0" algn="l">
              <a:buNone/>
            </a:pPr>
            <a:r>
              <a:rPr lang="en-US" sz="3600" b="1" dirty="0">
                <a:solidFill>
                  <a:schemeClr val="bg1"/>
                </a:solidFill>
              </a:rPr>
              <a:t>What comes next</a:t>
            </a:r>
            <a:endParaRPr lang="en-US" sz="3600" dirty="0"/>
          </a:p>
        </p:txBody>
      </p:sp>
      <p:sp>
        <p:nvSpPr>
          <p:cNvPr id="6" name="Shape 4"/>
          <p:cNvSpPr/>
          <p:nvPr/>
        </p:nvSpPr>
        <p:spPr>
          <a:xfrm>
            <a:off x="457200" y="1645920"/>
            <a:ext cx="2560320" cy="1371600"/>
          </a:xfrm>
          <a:prstGeom prst="roundRect">
            <a:avLst>
              <a:gd name="adj" fmla="val 8000"/>
            </a:avLst>
          </a:prstGeom>
          <a:solidFill>
            <a:schemeClr val="tx2"/>
          </a:solidFill>
          <a:ln w="9525">
            <a:solidFill>
              <a:schemeClr val="accent3"/>
            </a:solidFill>
            <a:prstDash val="solid"/>
          </a:ln>
        </p:spPr>
      </p:sp>
      <p:sp>
        <p:nvSpPr>
          <p:cNvPr id="7" name="Shape 5"/>
          <p:cNvSpPr/>
          <p:nvPr/>
        </p:nvSpPr>
        <p:spPr>
          <a:xfrm>
            <a:off x="640080" y="1920240"/>
            <a:ext cx="548640" cy="548640"/>
          </a:xfrm>
          <a:prstGeom prst="ellipse">
            <a:avLst/>
          </a:prstGeom>
          <a:solidFill>
            <a:schemeClr val="accent1"/>
          </a:solidFill>
          <a:ln w="12700">
            <a:solidFill>
              <a:schemeClr val="accent1"/>
            </a:solidFill>
            <a:prstDash val="solid"/>
          </a:ln>
        </p:spPr>
      </p:sp>
      <p:pic>
        <p:nvPicPr>
          <p:cNvPr id="8" name="Image 0" descr="preencoded.png"/>
          <p:cNvPicPr>
            <a:picLocks noChangeAspect="1"/>
          </p:cNvPicPr>
          <p:nvPr/>
        </p:nvPicPr>
        <p:blipFill>
          <a:blip r:embed="rId3"/>
          <a:stretch>
            <a:fillRect/>
          </a:stretch>
        </p:blipFill>
        <p:spPr>
          <a:xfrm>
            <a:off x="777240" y="2057400"/>
            <a:ext cx="274320" cy="274320"/>
          </a:xfrm>
          <a:prstGeom prst="rect">
            <a:avLst/>
          </a:prstGeom>
        </p:spPr>
      </p:pic>
      <p:sp>
        <p:nvSpPr>
          <p:cNvPr id="9" name="Text 6"/>
          <p:cNvSpPr txBox="1"/>
          <p:nvPr/>
        </p:nvSpPr>
        <p:spPr>
          <a:xfrm>
            <a:off x="1325880" y="1810512"/>
            <a:ext cx="1600200" cy="365760"/>
          </a:xfrm>
          <a:prstGeom prst="rect">
            <a:avLst/>
          </a:prstGeom>
          <a:noFill/>
          <a:ln/>
        </p:spPr>
        <p:txBody>
          <a:bodyPr wrap="square" lIns="0" tIns="0" rIns="0" bIns="0" rtlCol="0" anchor="t"/>
          <a:lstStyle/>
          <a:p>
            <a:pPr marL="0" indent="0">
              <a:buNone/>
            </a:pPr>
            <a:r>
              <a:rPr lang="en-US" sz="1800" b="1" dirty="0">
                <a:solidFill>
                  <a:schemeClr val="bg1"/>
                </a:solidFill>
              </a:rPr>
              <a:t>More worlds</a:t>
            </a:r>
            <a:endParaRPr lang="en-US" sz="1800" dirty="0"/>
          </a:p>
        </p:txBody>
      </p:sp>
      <p:sp>
        <p:nvSpPr>
          <p:cNvPr id="10" name="Text 7"/>
          <p:cNvSpPr txBox="1"/>
          <p:nvPr/>
        </p:nvSpPr>
        <p:spPr>
          <a:xfrm>
            <a:off x="1325880" y="2194560"/>
            <a:ext cx="1600200" cy="731520"/>
          </a:xfrm>
          <a:prstGeom prst="rect">
            <a:avLst/>
          </a:prstGeom>
          <a:noFill/>
          <a:ln/>
        </p:spPr>
        <p:txBody>
          <a:bodyPr wrap="square" lIns="0" tIns="0" rIns="0" bIns="0" rtlCol="0" anchor="t"/>
          <a:lstStyle/>
          <a:p>
            <a:pPr marL="0" indent="0">
              <a:buNone/>
            </a:pPr>
            <a:r>
              <a:rPr lang="en-US" sz="1400" dirty="0">
                <a:solidFill>
                  <a:schemeClr val="accent6"/>
                </a:solidFill>
              </a:rPr>
              <a:t>Mars moons, asteroids, stations</a:t>
            </a:r>
            <a:endParaRPr lang="en-US" sz="1400" dirty="0"/>
          </a:p>
        </p:txBody>
      </p:sp>
      <p:sp>
        <p:nvSpPr>
          <p:cNvPr id="11" name="Shape 8"/>
          <p:cNvSpPr/>
          <p:nvPr/>
        </p:nvSpPr>
        <p:spPr>
          <a:xfrm>
            <a:off x="3291840" y="1645920"/>
            <a:ext cx="2560320" cy="1371600"/>
          </a:xfrm>
          <a:prstGeom prst="roundRect">
            <a:avLst>
              <a:gd name="adj" fmla="val 8000"/>
            </a:avLst>
          </a:prstGeom>
          <a:solidFill>
            <a:schemeClr val="tx2"/>
          </a:solidFill>
          <a:ln w="9525">
            <a:solidFill>
              <a:schemeClr val="accent3"/>
            </a:solidFill>
            <a:prstDash val="solid"/>
          </a:ln>
        </p:spPr>
      </p:sp>
      <p:sp>
        <p:nvSpPr>
          <p:cNvPr id="12" name="Shape 9"/>
          <p:cNvSpPr/>
          <p:nvPr/>
        </p:nvSpPr>
        <p:spPr>
          <a:xfrm>
            <a:off x="3474720" y="1920240"/>
            <a:ext cx="548640" cy="548640"/>
          </a:xfrm>
          <a:prstGeom prst="ellipse">
            <a:avLst/>
          </a:prstGeom>
          <a:solidFill>
            <a:schemeClr val="accent1"/>
          </a:solidFill>
          <a:ln w="12700">
            <a:solidFill>
              <a:schemeClr val="accent1"/>
            </a:solidFill>
            <a:prstDash val="solid"/>
          </a:ln>
        </p:spPr>
      </p:sp>
      <p:pic>
        <p:nvPicPr>
          <p:cNvPr id="13" name="Image 1" descr="preencoded.png"/>
          <p:cNvPicPr>
            <a:picLocks noChangeAspect="1"/>
          </p:cNvPicPr>
          <p:nvPr/>
        </p:nvPicPr>
        <p:blipFill>
          <a:blip r:embed="rId4"/>
          <a:stretch>
            <a:fillRect/>
          </a:stretch>
        </p:blipFill>
        <p:spPr>
          <a:xfrm>
            <a:off x="3611880" y="2057400"/>
            <a:ext cx="274320" cy="274320"/>
          </a:xfrm>
          <a:prstGeom prst="rect">
            <a:avLst/>
          </a:prstGeom>
        </p:spPr>
      </p:pic>
      <p:sp>
        <p:nvSpPr>
          <p:cNvPr id="14" name="Text 10"/>
          <p:cNvSpPr txBox="1"/>
          <p:nvPr/>
        </p:nvSpPr>
        <p:spPr>
          <a:xfrm>
            <a:off x="4160520" y="1810512"/>
            <a:ext cx="1600200" cy="365760"/>
          </a:xfrm>
          <a:prstGeom prst="rect">
            <a:avLst/>
          </a:prstGeom>
          <a:noFill/>
          <a:ln/>
        </p:spPr>
        <p:txBody>
          <a:bodyPr wrap="square" lIns="0" tIns="0" rIns="0" bIns="0" rtlCol="0" anchor="t"/>
          <a:lstStyle/>
          <a:p>
            <a:pPr marL="0" indent="0">
              <a:buNone/>
            </a:pPr>
            <a:r>
              <a:rPr lang="en-US" sz="1800" b="1" dirty="0">
                <a:solidFill>
                  <a:schemeClr val="bg1"/>
                </a:solidFill>
              </a:rPr>
              <a:t>Real NASA data</a:t>
            </a:r>
            <a:endParaRPr lang="en-US" sz="1800" dirty="0"/>
          </a:p>
        </p:txBody>
      </p:sp>
      <p:sp>
        <p:nvSpPr>
          <p:cNvPr id="15" name="Text 11"/>
          <p:cNvSpPr txBox="1"/>
          <p:nvPr/>
        </p:nvSpPr>
        <p:spPr>
          <a:xfrm>
            <a:off x="4160520" y="2194560"/>
            <a:ext cx="1600200" cy="731520"/>
          </a:xfrm>
          <a:prstGeom prst="rect">
            <a:avLst/>
          </a:prstGeom>
          <a:noFill/>
          <a:ln/>
        </p:spPr>
        <p:txBody>
          <a:bodyPr wrap="square" lIns="0" tIns="0" rIns="0" bIns="0" rtlCol="0" anchor="t"/>
          <a:lstStyle/>
          <a:p>
            <a:pPr marL="0" indent="0">
              <a:buNone/>
            </a:pPr>
            <a:r>
              <a:rPr lang="en-US" sz="1400" dirty="0">
                <a:solidFill>
                  <a:schemeClr val="accent6"/>
                </a:solidFill>
              </a:rPr>
              <a:t>Closer to real measurements</a:t>
            </a:r>
            <a:endParaRPr lang="en-US" sz="1400" dirty="0"/>
          </a:p>
        </p:txBody>
      </p:sp>
      <p:sp>
        <p:nvSpPr>
          <p:cNvPr id="16" name="Shape 12"/>
          <p:cNvSpPr/>
          <p:nvPr/>
        </p:nvSpPr>
        <p:spPr>
          <a:xfrm>
            <a:off x="6126480" y="1645920"/>
            <a:ext cx="2560320" cy="1371600"/>
          </a:xfrm>
          <a:prstGeom prst="roundRect">
            <a:avLst>
              <a:gd name="adj" fmla="val 8000"/>
            </a:avLst>
          </a:prstGeom>
          <a:solidFill>
            <a:schemeClr val="tx2"/>
          </a:solidFill>
          <a:ln w="9525">
            <a:solidFill>
              <a:schemeClr val="accent3"/>
            </a:solidFill>
            <a:prstDash val="solid"/>
          </a:ln>
        </p:spPr>
      </p:sp>
      <p:sp>
        <p:nvSpPr>
          <p:cNvPr id="17" name="Shape 13"/>
          <p:cNvSpPr/>
          <p:nvPr/>
        </p:nvSpPr>
        <p:spPr>
          <a:xfrm>
            <a:off x="6309360" y="1920240"/>
            <a:ext cx="548640" cy="548640"/>
          </a:xfrm>
          <a:prstGeom prst="ellipse">
            <a:avLst/>
          </a:prstGeom>
          <a:solidFill>
            <a:schemeClr val="accent1"/>
          </a:solidFill>
          <a:ln w="12700">
            <a:solidFill>
              <a:schemeClr val="accent1"/>
            </a:solidFill>
            <a:prstDash val="solid"/>
          </a:ln>
        </p:spPr>
      </p:sp>
      <p:pic>
        <p:nvPicPr>
          <p:cNvPr id="18" name="Image 2" descr="preencoded.png"/>
          <p:cNvPicPr>
            <a:picLocks noChangeAspect="1"/>
          </p:cNvPicPr>
          <p:nvPr/>
        </p:nvPicPr>
        <p:blipFill>
          <a:blip r:embed="rId5"/>
          <a:stretch>
            <a:fillRect/>
          </a:stretch>
        </p:blipFill>
        <p:spPr>
          <a:xfrm>
            <a:off x="6446520" y="2057400"/>
            <a:ext cx="274320" cy="274320"/>
          </a:xfrm>
          <a:prstGeom prst="rect">
            <a:avLst/>
          </a:prstGeom>
        </p:spPr>
      </p:pic>
      <p:sp>
        <p:nvSpPr>
          <p:cNvPr id="19" name="Text 14"/>
          <p:cNvSpPr txBox="1"/>
          <p:nvPr/>
        </p:nvSpPr>
        <p:spPr>
          <a:xfrm>
            <a:off x="6995160" y="1810512"/>
            <a:ext cx="1600200" cy="365760"/>
          </a:xfrm>
          <a:prstGeom prst="rect">
            <a:avLst/>
          </a:prstGeom>
          <a:noFill/>
          <a:ln/>
        </p:spPr>
        <p:txBody>
          <a:bodyPr wrap="square" lIns="0" tIns="0" rIns="0" bIns="0" rtlCol="0" anchor="t"/>
          <a:lstStyle/>
          <a:p>
            <a:pPr marL="0" indent="0">
              <a:buNone/>
            </a:pPr>
            <a:r>
              <a:rPr lang="en-US" sz="1800" b="1" dirty="0">
                <a:solidFill>
                  <a:schemeClr val="bg1"/>
                </a:solidFill>
              </a:rPr>
              <a:t>Many languages</a:t>
            </a:r>
            <a:endParaRPr lang="en-US" sz="1800" dirty="0"/>
          </a:p>
        </p:txBody>
      </p:sp>
      <p:sp>
        <p:nvSpPr>
          <p:cNvPr id="20" name="Text 15"/>
          <p:cNvSpPr txBox="1"/>
          <p:nvPr/>
        </p:nvSpPr>
        <p:spPr>
          <a:xfrm>
            <a:off x="6995160" y="2194560"/>
            <a:ext cx="1600200" cy="731520"/>
          </a:xfrm>
          <a:prstGeom prst="rect">
            <a:avLst/>
          </a:prstGeom>
          <a:noFill/>
          <a:ln/>
        </p:spPr>
        <p:txBody>
          <a:bodyPr wrap="square" lIns="0" tIns="0" rIns="0" bIns="0" rtlCol="0" anchor="t"/>
          <a:lstStyle/>
          <a:p>
            <a:pPr marL="0" indent="0">
              <a:buNone/>
            </a:pPr>
            <a:r>
              <a:rPr lang="en-US" sz="1400" dirty="0">
                <a:solidFill>
                  <a:schemeClr val="accent6"/>
                </a:solidFill>
              </a:rPr>
              <a:t>For teachers and volunteers</a:t>
            </a:r>
            <a:endParaRPr lang="en-US" sz="1400" dirty="0"/>
          </a:p>
        </p:txBody>
      </p:sp>
      <p:sp>
        <p:nvSpPr>
          <p:cNvPr id="21" name="Shape 16"/>
          <p:cNvSpPr/>
          <p:nvPr/>
        </p:nvSpPr>
        <p:spPr>
          <a:xfrm>
            <a:off x="457200" y="3200400"/>
            <a:ext cx="2560320" cy="1371600"/>
          </a:xfrm>
          <a:prstGeom prst="roundRect">
            <a:avLst>
              <a:gd name="adj" fmla="val 8000"/>
            </a:avLst>
          </a:prstGeom>
          <a:solidFill>
            <a:schemeClr val="tx2"/>
          </a:solidFill>
          <a:ln w="9525">
            <a:solidFill>
              <a:schemeClr val="accent3"/>
            </a:solidFill>
            <a:prstDash val="solid"/>
          </a:ln>
        </p:spPr>
      </p:sp>
      <p:sp>
        <p:nvSpPr>
          <p:cNvPr id="22" name="Shape 17"/>
          <p:cNvSpPr/>
          <p:nvPr/>
        </p:nvSpPr>
        <p:spPr>
          <a:xfrm>
            <a:off x="640080" y="3474720"/>
            <a:ext cx="548640" cy="548640"/>
          </a:xfrm>
          <a:prstGeom prst="ellipse">
            <a:avLst/>
          </a:prstGeom>
          <a:solidFill>
            <a:schemeClr val="accent1"/>
          </a:solidFill>
          <a:ln w="12700">
            <a:solidFill>
              <a:schemeClr val="accent1"/>
            </a:solidFill>
            <a:prstDash val="solid"/>
          </a:ln>
        </p:spPr>
      </p:sp>
      <p:pic>
        <p:nvPicPr>
          <p:cNvPr id="23" name="Image 3" descr="preencoded.png"/>
          <p:cNvPicPr>
            <a:picLocks noChangeAspect="1"/>
          </p:cNvPicPr>
          <p:nvPr/>
        </p:nvPicPr>
        <p:blipFill>
          <a:blip r:embed="rId6"/>
          <a:stretch>
            <a:fillRect/>
          </a:stretch>
        </p:blipFill>
        <p:spPr>
          <a:xfrm>
            <a:off x="777240" y="3611880"/>
            <a:ext cx="274320" cy="274320"/>
          </a:xfrm>
          <a:prstGeom prst="rect">
            <a:avLst/>
          </a:prstGeom>
        </p:spPr>
      </p:pic>
      <p:sp>
        <p:nvSpPr>
          <p:cNvPr id="24" name="Text 18"/>
          <p:cNvSpPr txBox="1"/>
          <p:nvPr/>
        </p:nvSpPr>
        <p:spPr>
          <a:xfrm>
            <a:off x="1325880" y="3364992"/>
            <a:ext cx="1600200" cy="365760"/>
          </a:xfrm>
          <a:prstGeom prst="rect">
            <a:avLst/>
          </a:prstGeom>
          <a:noFill/>
          <a:ln/>
        </p:spPr>
        <p:txBody>
          <a:bodyPr wrap="square" lIns="0" tIns="0" rIns="0" bIns="0" rtlCol="0" anchor="t"/>
          <a:lstStyle/>
          <a:p>
            <a:pPr marL="0" indent="0">
              <a:buNone/>
            </a:pPr>
            <a:r>
              <a:rPr lang="en-US" sz="1800" b="1" dirty="0">
                <a:solidFill>
                  <a:schemeClr val="bg1"/>
                </a:solidFill>
              </a:rPr>
              <a:t>Classroom tools</a:t>
            </a:r>
            <a:endParaRPr lang="en-US" sz="1800" dirty="0"/>
          </a:p>
        </p:txBody>
      </p:sp>
      <p:sp>
        <p:nvSpPr>
          <p:cNvPr id="25" name="Text 19"/>
          <p:cNvSpPr txBox="1"/>
          <p:nvPr/>
        </p:nvSpPr>
        <p:spPr>
          <a:xfrm>
            <a:off x="1325880" y="3749040"/>
            <a:ext cx="1600200" cy="731520"/>
          </a:xfrm>
          <a:prstGeom prst="rect">
            <a:avLst/>
          </a:prstGeom>
          <a:noFill/>
          <a:ln/>
        </p:spPr>
        <p:txBody>
          <a:bodyPr wrap="square" lIns="0" tIns="0" rIns="0" bIns="0" rtlCol="0" anchor="t"/>
          <a:lstStyle/>
          <a:p>
            <a:pPr marL="0" indent="0">
              <a:buNone/>
            </a:pPr>
            <a:r>
              <a:rPr lang="en-US" sz="1400" dirty="0">
                <a:solidFill>
                  <a:schemeClr val="accent6"/>
                </a:solidFill>
              </a:rPr>
              <a:t>Guides, worksheets, challenges</a:t>
            </a:r>
            <a:endParaRPr lang="en-US" sz="1400" dirty="0"/>
          </a:p>
        </p:txBody>
      </p:sp>
      <p:sp>
        <p:nvSpPr>
          <p:cNvPr id="26" name="Shape 20"/>
          <p:cNvSpPr/>
          <p:nvPr/>
        </p:nvSpPr>
        <p:spPr>
          <a:xfrm>
            <a:off x="3291840" y="3200400"/>
            <a:ext cx="2560320" cy="1371600"/>
          </a:xfrm>
          <a:prstGeom prst="roundRect">
            <a:avLst>
              <a:gd name="adj" fmla="val 8000"/>
            </a:avLst>
          </a:prstGeom>
          <a:solidFill>
            <a:schemeClr val="tx2"/>
          </a:solidFill>
          <a:ln w="9525">
            <a:solidFill>
              <a:schemeClr val="accent3"/>
            </a:solidFill>
            <a:prstDash val="solid"/>
          </a:ln>
        </p:spPr>
      </p:sp>
      <p:sp>
        <p:nvSpPr>
          <p:cNvPr id="27" name="Shape 21"/>
          <p:cNvSpPr/>
          <p:nvPr/>
        </p:nvSpPr>
        <p:spPr>
          <a:xfrm>
            <a:off x="3474720" y="3474720"/>
            <a:ext cx="548640" cy="548640"/>
          </a:xfrm>
          <a:prstGeom prst="ellipse">
            <a:avLst/>
          </a:prstGeom>
          <a:solidFill>
            <a:schemeClr val="accent1"/>
          </a:solidFill>
          <a:ln w="12700">
            <a:solidFill>
              <a:schemeClr val="accent1"/>
            </a:solidFill>
            <a:prstDash val="solid"/>
          </a:ln>
        </p:spPr>
      </p:sp>
      <p:pic>
        <p:nvPicPr>
          <p:cNvPr id="28" name="Image 4" descr="preencoded.png"/>
          <p:cNvPicPr>
            <a:picLocks noChangeAspect="1"/>
          </p:cNvPicPr>
          <p:nvPr/>
        </p:nvPicPr>
        <p:blipFill>
          <a:blip r:embed="rId7"/>
          <a:stretch>
            <a:fillRect/>
          </a:stretch>
        </p:blipFill>
        <p:spPr>
          <a:xfrm>
            <a:off x="3611880" y="3611880"/>
            <a:ext cx="274320" cy="274320"/>
          </a:xfrm>
          <a:prstGeom prst="rect">
            <a:avLst/>
          </a:prstGeom>
        </p:spPr>
      </p:pic>
      <p:sp>
        <p:nvSpPr>
          <p:cNvPr id="29" name="Text 22"/>
          <p:cNvSpPr txBox="1"/>
          <p:nvPr/>
        </p:nvSpPr>
        <p:spPr>
          <a:xfrm>
            <a:off x="4160520" y="3364992"/>
            <a:ext cx="1600200" cy="365760"/>
          </a:xfrm>
          <a:prstGeom prst="rect">
            <a:avLst/>
          </a:prstGeom>
          <a:noFill/>
          <a:ln/>
        </p:spPr>
        <p:txBody>
          <a:bodyPr wrap="square" lIns="0" tIns="0" rIns="0" bIns="0" rtlCol="0" anchor="t"/>
          <a:lstStyle/>
          <a:p>
            <a:pPr marL="0" indent="0">
              <a:buNone/>
            </a:pPr>
            <a:r>
              <a:rPr lang="en-US" sz="1800" b="1" dirty="0">
                <a:solidFill>
                  <a:schemeClr val="bg1"/>
                </a:solidFill>
              </a:rPr>
              <a:t>Multiplayer</a:t>
            </a:r>
            <a:endParaRPr lang="en-US" sz="1800" dirty="0"/>
          </a:p>
        </p:txBody>
      </p:sp>
      <p:sp>
        <p:nvSpPr>
          <p:cNvPr id="30" name="Text 23"/>
          <p:cNvSpPr txBox="1"/>
          <p:nvPr/>
        </p:nvSpPr>
        <p:spPr>
          <a:xfrm>
            <a:off x="4160520" y="3749040"/>
            <a:ext cx="1600200" cy="731520"/>
          </a:xfrm>
          <a:prstGeom prst="rect">
            <a:avLst/>
          </a:prstGeom>
          <a:noFill/>
          <a:ln/>
        </p:spPr>
        <p:txBody>
          <a:bodyPr wrap="square" lIns="0" tIns="0" rIns="0" bIns="0" rtlCol="0" anchor="t"/>
          <a:lstStyle/>
          <a:p>
            <a:pPr marL="0" indent="0">
              <a:buNone/>
            </a:pPr>
            <a:r>
              <a:rPr lang="en-US" sz="1400" dirty="0">
                <a:solidFill>
                  <a:schemeClr val="accent6"/>
                </a:solidFill>
              </a:rPr>
              <a:t>Plan or compete together</a:t>
            </a:r>
            <a:endParaRPr lang="en-US" sz="1400" dirty="0"/>
          </a:p>
        </p:txBody>
      </p:sp>
      <p:sp>
        <p:nvSpPr>
          <p:cNvPr id="31" name="Shape 24"/>
          <p:cNvSpPr/>
          <p:nvPr/>
        </p:nvSpPr>
        <p:spPr>
          <a:xfrm>
            <a:off x="6126480" y="3200400"/>
            <a:ext cx="2560320" cy="1371600"/>
          </a:xfrm>
          <a:prstGeom prst="roundRect">
            <a:avLst>
              <a:gd name="adj" fmla="val 8000"/>
            </a:avLst>
          </a:prstGeom>
          <a:solidFill>
            <a:schemeClr val="tx2"/>
          </a:solidFill>
          <a:ln w="9525">
            <a:solidFill>
              <a:schemeClr val="accent3"/>
            </a:solidFill>
            <a:prstDash val="solid"/>
          </a:ln>
        </p:spPr>
      </p:sp>
      <p:sp>
        <p:nvSpPr>
          <p:cNvPr id="32" name="Shape 25"/>
          <p:cNvSpPr/>
          <p:nvPr/>
        </p:nvSpPr>
        <p:spPr>
          <a:xfrm>
            <a:off x="6309360" y="3474720"/>
            <a:ext cx="548640" cy="548640"/>
          </a:xfrm>
          <a:prstGeom prst="ellipse">
            <a:avLst/>
          </a:prstGeom>
          <a:solidFill>
            <a:schemeClr val="accent1"/>
          </a:solidFill>
          <a:ln w="12700">
            <a:solidFill>
              <a:schemeClr val="accent1"/>
            </a:solidFill>
            <a:prstDash val="solid"/>
          </a:ln>
        </p:spPr>
      </p:sp>
      <p:pic>
        <p:nvPicPr>
          <p:cNvPr id="33" name="Image 5" descr="preencoded.png"/>
          <p:cNvPicPr>
            <a:picLocks noChangeAspect="1"/>
          </p:cNvPicPr>
          <p:nvPr/>
        </p:nvPicPr>
        <p:blipFill>
          <a:blip r:embed="rId8"/>
          <a:stretch>
            <a:fillRect/>
          </a:stretch>
        </p:blipFill>
        <p:spPr>
          <a:xfrm>
            <a:off x="6446520" y="3611880"/>
            <a:ext cx="274320" cy="274320"/>
          </a:xfrm>
          <a:prstGeom prst="rect">
            <a:avLst/>
          </a:prstGeom>
        </p:spPr>
      </p:pic>
      <p:sp>
        <p:nvSpPr>
          <p:cNvPr id="34" name="Text 26"/>
          <p:cNvSpPr txBox="1"/>
          <p:nvPr/>
        </p:nvSpPr>
        <p:spPr>
          <a:xfrm>
            <a:off x="6995160" y="3364992"/>
            <a:ext cx="1600200" cy="365760"/>
          </a:xfrm>
          <a:prstGeom prst="rect">
            <a:avLst/>
          </a:prstGeom>
          <a:noFill/>
          <a:ln/>
        </p:spPr>
        <p:txBody>
          <a:bodyPr wrap="square" lIns="0" tIns="0" rIns="0" bIns="0" rtlCol="0" anchor="t"/>
          <a:lstStyle/>
          <a:p>
            <a:pPr marL="0" indent="0">
              <a:buNone/>
            </a:pPr>
            <a:r>
              <a:rPr lang="en-US" sz="1800" b="1" dirty="0">
                <a:solidFill>
                  <a:schemeClr val="bg1"/>
                </a:solidFill>
              </a:rPr>
              <a:t>Accessibility</a:t>
            </a:r>
            <a:endParaRPr lang="en-US" sz="1800" dirty="0"/>
          </a:p>
        </p:txBody>
      </p:sp>
      <p:sp>
        <p:nvSpPr>
          <p:cNvPr id="35" name="Text 27"/>
          <p:cNvSpPr txBox="1"/>
          <p:nvPr/>
        </p:nvSpPr>
        <p:spPr>
          <a:xfrm>
            <a:off x="6995160" y="3749040"/>
            <a:ext cx="1600200" cy="731520"/>
          </a:xfrm>
          <a:prstGeom prst="rect">
            <a:avLst/>
          </a:prstGeom>
          <a:noFill/>
          <a:ln/>
        </p:spPr>
        <p:txBody>
          <a:bodyPr wrap="square" lIns="0" tIns="0" rIns="0" bIns="0" rtlCol="0" anchor="t"/>
          <a:lstStyle/>
          <a:p>
            <a:pPr marL="0" indent="0">
              <a:buNone/>
            </a:pPr>
            <a:r>
              <a:rPr lang="en-US" sz="1400" dirty="0">
                <a:solidFill>
                  <a:schemeClr val="accent6"/>
                </a:solidFill>
              </a:rPr>
              <a:t>Read-aloud, bigger text</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457200" y="292608"/>
            <a:ext cx="1280160" cy="329184"/>
          </a:xfrm>
          <a:prstGeom prst="roundRect">
            <a:avLst>
              <a:gd name="adj" fmla="val 50000"/>
            </a:avLst>
          </a:prstGeom>
          <a:solidFill>
            <a:schemeClr val="accent1"/>
          </a:solidFill>
          <a:ln w="12700">
            <a:solidFill>
              <a:schemeClr val="accent1"/>
            </a:solidFill>
            <a:prstDash val="solid"/>
          </a:ln>
        </p:spPr>
      </p:sp>
      <p:sp>
        <p:nvSpPr>
          <p:cNvPr id="3" name="Text 1"/>
          <p:cNvSpPr txBox="1"/>
          <p:nvPr/>
        </p:nvSpPr>
        <p:spPr>
          <a:xfrm>
            <a:off x="457200" y="292608"/>
            <a:ext cx="1280160" cy="329184"/>
          </a:xfrm>
          <a:prstGeom prst="rect">
            <a:avLst/>
          </a:prstGeom>
          <a:noFill/>
          <a:ln/>
        </p:spPr>
        <p:txBody>
          <a:bodyPr wrap="square" lIns="0" tIns="0" rIns="0" bIns="0" rtlCol="0" anchor="ctr"/>
          <a:lstStyle/>
          <a:p>
            <a:pPr marL="0" indent="0" algn="ctr">
              <a:buNone/>
            </a:pPr>
            <a:r>
              <a:rPr lang="en-US" sz="1300" b="1" kern="0" spc="100" dirty="0">
                <a:solidFill>
                  <a:schemeClr val="tx1"/>
                </a:solidFill>
              </a:rPr>
              <a:t>04  HOW</a:t>
            </a:r>
            <a:endParaRPr lang="en-US" sz="1300" dirty="0"/>
          </a:p>
        </p:txBody>
      </p:sp>
      <p:sp>
        <p:nvSpPr>
          <p:cNvPr id="5" name="Text 1"/>
          <p:cNvSpPr>
            <a:spLocks noGrp="1"/>
          </p:cNvSpPr>
          <p:nvPr>
            <p:ph type="title" idx="101" hasCustomPrompt="1"/>
          </p:nvPr>
        </p:nvSpPr>
        <p:spPr>
          <a:xfrm>
            <a:off x="457200" y="731520"/>
            <a:ext cx="8229600" cy="731520"/>
          </a:xfrm>
          <a:prstGeom prst="rect">
            <a:avLst/>
          </a:prstGeom>
          <a:noFill/>
          <a:ln/>
        </p:spPr>
        <p:txBody>
          <a:bodyPr wrap="square" lIns="0" tIns="0" rIns="0" bIns="0" rtlCol="0" anchor="ctr"/>
          <a:lstStyle/>
          <a:p>
            <a:pPr marL="0" indent="0" algn="l">
              <a:buNone/>
            </a:pPr>
            <a:r>
              <a:rPr lang="en-US" sz="3600" b="1" dirty="0">
                <a:solidFill>
                  <a:schemeClr val="bg1"/>
                </a:solidFill>
              </a:rPr>
              <a:t>What we need next</a:t>
            </a:r>
            <a:endParaRPr lang="en-US" sz="3600" dirty="0"/>
          </a:p>
        </p:txBody>
      </p:sp>
      <p:sp>
        <p:nvSpPr>
          <p:cNvPr id="6" name="Shape 4"/>
          <p:cNvSpPr/>
          <p:nvPr/>
        </p:nvSpPr>
        <p:spPr>
          <a:xfrm>
            <a:off x="457200" y="1645920"/>
            <a:ext cx="2560320" cy="2468880"/>
          </a:xfrm>
          <a:prstGeom prst="roundRect">
            <a:avLst>
              <a:gd name="adj" fmla="val 4444"/>
            </a:avLst>
          </a:prstGeom>
          <a:solidFill>
            <a:schemeClr val="tx2"/>
          </a:solidFill>
          <a:ln w="19050">
            <a:solidFill>
              <a:schemeClr val="accent1"/>
            </a:solidFill>
            <a:prstDash val="solid"/>
          </a:ln>
        </p:spPr>
      </p:sp>
      <p:sp>
        <p:nvSpPr>
          <p:cNvPr id="7" name="Shape 5"/>
          <p:cNvSpPr/>
          <p:nvPr/>
        </p:nvSpPr>
        <p:spPr>
          <a:xfrm>
            <a:off x="731520" y="1874520"/>
            <a:ext cx="822960" cy="822960"/>
          </a:xfrm>
          <a:prstGeom prst="ellipse">
            <a:avLst/>
          </a:prstGeom>
          <a:solidFill>
            <a:schemeClr val="accent1"/>
          </a:solidFill>
          <a:ln w="12700">
            <a:solidFill>
              <a:schemeClr val="accent1"/>
            </a:solidFill>
            <a:prstDash val="solid"/>
          </a:ln>
        </p:spPr>
      </p:sp>
      <p:pic>
        <p:nvPicPr>
          <p:cNvPr id="8" name="Image 0" descr="preencoded.png"/>
          <p:cNvPicPr>
            <a:picLocks noChangeAspect="1"/>
          </p:cNvPicPr>
          <p:nvPr/>
        </p:nvPicPr>
        <p:blipFill>
          <a:blip r:embed="rId3"/>
          <a:stretch>
            <a:fillRect/>
          </a:stretch>
        </p:blipFill>
        <p:spPr>
          <a:xfrm>
            <a:off x="937260" y="2080260"/>
            <a:ext cx="411480" cy="411480"/>
          </a:xfrm>
          <a:prstGeom prst="rect">
            <a:avLst/>
          </a:prstGeom>
        </p:spPr>
      </p:pic>
      <p:sp>
        <p:nvSpPr>
          <p:cNvPr id="9" name="Text 6"/>
          <p:cNvSpPr txBox="1"/>
          <p:nvPr/>
        </p:nvSpPr>
        <p:spPr>
          <a:xfrm>
            <a:off x="731520" y="2834640"/>
            <a:ext cx="2103120" cy="365760"/>
          </a:xfrm>
          <a:prstGeom prst="rect">
            <a:avLst/>
          </a:prstGeom>
          <a:noFill/>
          <a:ln/>
        </p:spPr>
        <p:txBody>
          <a:bodyPr wrap="square" lIns="0" tIns="0" rIns="0" bIns="0" rtlCol="0" anchor="ctr"/>
          <a:lstStyle/>
          <a:p>
            <a:pPr marL="0" indent="0">
              <a:buNone/>
            </a:pPr>
            <a:r>
              <a:rPr lang="en-US" sz="2000" b="1" dirty="0">
                <a:solidFill>
                  <a:schemeClr val="bg1"/>
                </a:solidFill>
              </a:rPr>
              <a:t>Mentoring</a:t>
            </a:r>
            <a:endParaRPr lang="en-US" sz="2000" dirty="0"/>
          </a:p>
        </p:txBody>
      </p:sp>
      <p:sp>
        <p:nvSpPr>
          <p:cNvPr id="10" name="Text 7"/>
          <p:cNvSpPr txBox="1"/>
          <p:nvPr/>
        </p:nvSpPr>
        <p:spPr>
          <a:xfrm>
            <a:off x="731520" y="3246120"/>
            <a:ext cx="2103120" cy="777240"/>
          </a:xfrm>
          <a:prstGeom prst="rect">
            <a:avLst/>
          </a:prstGeom>
          <a:noFill/>
          <a:ln/>
        </p:spPr>
        <p:txBody>
          <a:bodyPr wrap="square" lIns="0" tIns="0" rIns="0" bIns="0" rtlCol="0" anchor="t"/>
          <a:lstStyle/>
          <a:p>
            <a:pPr marL="0" indent="0">
              <a:buNone/>
            </a:pPr>
            <a:r>
              <a:rPr lang="en-US" sz="1400" dirty="0">
                <a:solidFill>
                  <a:schemeClr val="accent6"/>
                </a:solidFill>
              </a:rPr>
              <a:t>Guidance from space and education experts</a:t>
            </a:r>
            <a:endParaRPr lang="en-US" sz="1400" dirty="0"/>
          </a:p>
        </p:txBody>
      </p:sp>
      <p:sp>
        <p:nvSpPr>
          <p:cNvPr id="11" name="Shape 8"/>
          <p:cNvSpPr/>
          <p:nvPr/>
        </p:nvSpPr>
        <p:spPr>
          <a:xfrm>
            <a:off x="3291840" y="1645920"/>
            <a:ext cx="2560320" cy="2468880"/>
          </a:xfrm>
          <a:prstGeom prst="roundRect">
            <a:avLst>
              <a:gd name="adj" fmla="val 4444"/>
            </a:avLst>
          </a:prstGeom>
          <a:solidFill>
            <a:schemeClr val="tx2"/>
          </a:solidFill>
          <a:ln w="19050">
            <a:solidFill>
              <a:schemeClr val="accent1"/>
            </a:solidFill>
            <a:prstDash val="solid"/>
          </a:ln>
        </p:spPr>
      </p:sp>
      <p:sp>
        <p:nvSpPr>
          <p:cNvPr id="12" name="Shape 9"/>
          <p:cNvSpPr/>
          <p:nvPr/>
        </p:nvSpPr>
        <p:spPr>
          <a:xfrm>
            <a:off x="3566160" y="1874520"/>
            <a:ext cx="822960" cy="822960"/>
          </a:xfrm>
          <a:prstGeom prst="ellipse">
            <a:avLst/>
          </a:prstGeom>
          <a:solidFill>
            <a:schemeClr val="accent1"/>
          </a:solidFill>
          <a:ln w="12700">
            <a:solidFill>
              <a:schemeClr val="accent1"/>
            </a:solidFill>
            <a:prstDash val="solid"/>
          </a:ln>
        </p:spPr>
      </p:sp>
      <p:pic>
        <p:nvPicPr>
          <p:cNvPr id="13" name="Image 1" descr="preencoded.png"/>
          <p:cNvPicPr>
            <a:picLocks noChangeAspect="1"/>
          </p:cNvPicPr>
          <p:nvPr/>
        </p:nvPicPr>
        <p:blipFill>
          <a:blip r:embed="rId4"/>
          <a:stretch>
            <a:fillRect/>
          </a:stretch>
        </p:blipFill>
        <p:spPr>
          <a:xfrm>
            <a:off x="3771900" y="2080260"/>
            <a:ext cx="411480" cy="411480"/>
          </a:xfrm>
          <a:prstGeom prst="rect">
            <a:avLst/>
          </a:prstGeom>
        </p:spPr>
      </p:pic>
      <p:sp>
        <p:nvSpPr>
          <p:cNvPr id="14" name="Text 10"/>
          <p:cNvSpPr txBox="1"/>
          <p:nvPr/>
        </p:nvSpPr>
        <p:spPr>
          <a:xfrm>
            <a:off x="3566160" y="2834640"/>
            <a:ext cx="2103120" cy="365760"/>
          </a:xfrm>
          <a:prstGeom prst="rect">
            <a:avLst/>
          </a:prstGeom>
          <a:noFill/>
          <a:ln/>
        </p:spPr>
        <p:txBody>
          <a:bodyPr wrap="square" lIns="0" tIns="0" rIns="0" bIns="0" rtlCol="0" anchor="ctr"/>
          <a:lstStyle/>
          <a:p>
            <a:pPr marL="0" indent="0">
              <a:buNone/>
            </a:pPr>
            <a:r>
              <a:rPr lang="en-US" sz="2000" b="1" dirty="0">
                <a:solidFill>
                  <a:schemeClr val="bg1"/>
                </a:solidFill>
              </a:rPr>
              <a:t>Classroom testing</a:t>
            </a:r>
            <a:endParaRPr lang="en-US" sz="2000" dirty="0"/>
          </a:p>
        </p:txBody>
      </p:sp>
      <p:sp>
        <p:nvSpPr>
          <p:cNvPr id="15" name="Text 11"/>
          <p:cNvSpPr txBox="1"/>
          <p:nvPr/>
        </p:nvSpPr>
        <p:spPr>
          <a:xfrm>
            <a:off x="3566160" y="3246120"/>
            <a:ext cx="2103120" cy="777240"/>
          </a:xfrm>
          <a:prstGeom prst="rect">
            <a:avLst/>
          </a:prstGeom>
          <a:noFill/>
          <a:ln/>
        </p:spPr>
        <p:txBody>
          <a:bodyPr wrap="square" lIns="0" tIns="0" rIns="0" bIns="0" rtlCol="0" anchor="t"/>
          <a:lstStyle/>
          <a:p>
            <a:pPr marL="0" indent="0">
              <a:buNone/>
            </a:pPr>
            <a:r>
              <a:rPr lang="en-US" sz="1400" dirty="0">
                <a:solidFill>
                  <a:schemeClr val="accent6"/>
                </a:solidFill>
              </a:rPr>
              <a:t>Try it with real students and teachers</a:t>
            </a:r>
            <a:endParaRPr lang="en-US" sz="1400" dirty="0"/>
          </a:p>
        </p:txBody>
      </p:sp>
      <p:sp>
        <p:nvSpPr>
          <p:cNvPr id="16" name="Shape 12"/>
          <p:cNvSpPr/>
          <p:nvPr/>
        </p:nvSpPr>
        <p:spPr>
          <a:xfrm>
            <a:off x="6126480" y="1645920"/>
            <a:ext cx="2560320" cy="2468880"/>
          </a:xfrm>
          <a:prstGeom prst="roundRect">
            <a:avLst>
              <a:gd name="adj" fmla="val 4444"/>
            </a:avLst>
          </a:prstGeom>
          <a:solidFill>
            <a:schemeClr val="tx2"/>
          </a:solidFill>
          <a:ln w="19050">
            <a:solidFill>
              <a:schemeClr val="accent1"/>
            </a:solidFill>
            <a:prstDash val="solid"/>
          </a:ln>
        </p:spPr>
      </p:sp>
      <p:sp>
        <p:nvSpPr>
          <p:cNvPr id="17" name="Shape 13"/>
          <p:cNvSpPr/>
          <p:nvPr/>
        </p:nvSpPr>
        <p:spPr>
          <a:xfrm>
            <a:off x="6400800" y="1874520"/>
            <a:ext cx="822960" cy="822960"/>
          </a:xfrm>
          <a:prstGeom prst="ellipse">
            <a:avLst/>
          </a:prstGeom>
          <a:solidFill>
            <a:schemeClr val="accent1"/>
          </a:solidFill>
          <a:ln w="12700">
            <a:solidFill>
              <a:schemeClr val="accent1"/>
            </a:solidFill>
            <a:prstDash val="solid"/>
          </a:ln>
        </p:spPr>
      </p:sp>
      <p:pic>
        <p:nvPicPr>
          <p:cNvPr id="18" name="Image 2" descr="preencoded.png"/>
          <p:cNvPicPr>
            <a:picLocks noChangeAspect="1"/>
          </p:cNvPicPr>
          <p:nvPr/>
        </p:nvPicPr>
        <p:blipFill>
          <a:blip r:embed="rId5"/>
          <a:stretch>
            <a:fillRect/>
          </a:stretch>
        </p:blipFill>
        <p:spPr>
          <a:xfrm>
            <a:off x="6606540" y="2080260"/>
            <a:ext cx="411480" cy="411480"/>
          </a:xfrm>
          <a:prstGeom prst="rect">
            <a:avLst/>
          </a:prstGeom>
        </p:spPr>
      </p:pic>
      <p:sp>
        <p:nvSpPr>
          <p:cNvPr id="19" name="Text 14"/>
          <p:cNvSpPr txBox="1"/>
          <p:nvPr/>
        </p:nvSpPr>
        <p:spPr>
          <a:xfrm>
            <a:off x="6400800" y="2834640"/>
            <a:ext cx="2103120" cy="365760"/>
          </a:xfrm>
          <a:prstGeom prst="rect">
            <a:avLst/>
          </a:prstGeom>
          <a:noFill/>
          <a:ln/>
        </p:spPr>
        <p:txBody>
          <a:bodyPr wrap="square" lIns="0" tIns="0" rIns="0" bIns="0" rtlCol="0" anchor="ctr"/>
          <a:lstStyle/>
          <a:p>
            <a:pPr marL="0" indent="0">
              <a:buNone/>
            </a:pPr>
            <a:r>
              <a:rPr lang="en-US" sz="2000" b="1" dirty="0">
                <a:solidFill>
                  <a:schemeClr val="bg1"/>
                </a:solidFill>
              </a:rPr>
              <a:t>Translation help</a:t>
            </a:r>
            <a:endParaRPr lang="en-US" sz="2000" dirty="0"/>
          </a:p>
        </p:txBody>
      </p:sp>
      <p:sp>
        <p:nvSpPr>
          <p:cNvPr id="20" name="Text 15"/>
          <p:cNvSpPr txBox="1"/>
          <p:nvPr/>
        </p:nvSpPr>
        <p:spPr>
          <a:xfrm>
            <a:off x="6400800" y="3246120"/>
            <a:ext cx="2103120" cy="777240"/>
          </a:xfrm>
          <a:prstGeom prst="rect">
            <a:avLst/>
          </a:prstGeom>
          <a:noFill/>
          <a:ln/>
        </p:spPr>
        <p:txBody>
          <a:bodyPr wrap="square" lIns="0" tIns="0" rIns="0" bIns="0" rtlCol="0" anchor="t"/>
          <a:lstStyle/>
          <a:p>
            <a:pPr marL="0" indent="0">
              <a:buNone/>
            </a:pPr>
            <a:r>
              <a:rPr lang="en-US" sz="1400" dirty="0">
                <a:solidFill>
                  <a:schemeClr val="accent6"/>
                </a:solidFill>
              </a:rPr>
              <a:t>Reach more local languages</a:t>
            </a:r>
            <a:endParaRPr lang="en-US" sz="1400" dirty="0"/>
          </a:p>
        </p:txBody>
      </p:sp>
      <p:sp>
        <p:nvSpPr>
          <p:cNvPr id="21" name="Text 16"/>
          <p:cNvSpPr txBox="1"/>
          <p:nvPr/>
        </p:nvSpPr>
        <p:spPr>
          <a:xfrm>
            <a:off x="457200" y="4297680"/>
            <a:ext cx="8229600" cy="365760"/>
          </a:xfrm>
          <a:prstGeom prst="rect">
            <a:avLst/>
          </a:prstGeom>
          <a:noFill/>
          <a:ln/>
        </p:spPr>
        <p:txBody>
          <a:bodyPr wrap="square" lIns="0" tIns="0" rIns="0" bIns="0" rtlCol="0" anchor="ctr"/>
          <a:lstStyle/>
          <a:p>
            <a:pPr marL="0" indent="0">
              <a:buNone/>
            </a:pPr>
            <a:r>
              <a:rPr lang="en-US" sz="1800" i="1" dirty="0">
                <a:solidFill>
                  <a:schemeClr val="accent2"/>
                </a:solidFill>
              </a:rPr>
              <a:t>Help us bring Outpost Commander to more classrooms.</a:t>
            </a: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457200" y="292608"/>
            <a:ext cx="1280160" cy="329184"/>
          </a:xfrm>
          <a:prstGeom prst="roundRect">
            <a:avLst>
              <a:gd name="adj" fmla="val 50000"/>
            </a:avLst>
          </a:prstGeom>
          <a:solidFill>
            <a:schemeClr val="accent1"/>
          </a:solidFill>
          <a:ln w="12700">
            <a:solidFill>
              <a:schemeClr val="accent1"/>
            </a:solidFill>
            <a:prstDash val="solid"/>
          </a:ln>
        </p:spPr>
      </p:sp>
      <p:sp>
        <p:nvSpPr>
          <p:cNvPr id="3" name="Text 1"/>
          <p:cNvSpPr txBox="1"/>
          <p:nvPr/>
        </p:nvSpPr>
        <p:spPr>
          <a:xfrm>
            <a:off x="457200" y="292608"/>
            <a:ext cx="1280160" cy="329184"/>
          </a:xfrm>
          <a:prstGeom prst="rect">
            <a:avLst/>
          </a:prstGeom>
          <a:noFill/>
          <a:ln/>
        </p:spPr>
        <p:txBody>
          <a:bodyPr wrap="square" lIns="0" tIns="0" rIns="0" bIns="0" rtlCol="0" anchor="ctr"/>
          <a:lstStyle/>
          <a:p>
            <a:pPr marL="0" indent="0" algn="ctr">
              <a:buNone/>
            </a:pPr>
            <a:r>
              <a:rPr lang="en-US" sz="1300" b="1" kern="0" spc="100" dirty="0">
                <a:solidFill>
                  <a:schemeClr val="tx1"/>
                </a:solidFill>
              </a:rPr>
              <a:t>04  HOW</a:t>
            </a:r>
            <a:endParaRPr lang="en-US" sz="1300" dirty="0"/>
          </a:p>
        </p:txBody>
      </p:sp>
      <p:sp>
        <p:nvSpPr>
          <p:cNvPr id="5" name="Text 3"/>
          <p:cNvSpPr txBox="1"/>
          <p:nvPr/>
        </p:nvSpPr>
        <p:spPr>
          <a:xfrm>
            <a:off x="457200" y="914400"/>
            <a:ext cx="8229600" cy="914400"/>
          </a:xfrm>
          <a:prstGeom prst="rect">
            <a:avLst/>
          </a:prstGeom>
          <a:noFill/>
          <a:ln/>
        </p:spPr>
        <p:txBody>
          <a:bodyPr wrap="square" lIns="0" tIns="0" rIns="0" bIns="0" rtlCol="0" anchor="ctr"/>
          <a:lstStyle/>
          <a:p>
            <a:pPr marL="0" indent="0">
              <a:buNone/>
            </a:pPr>
            <a:r>
              <a:rPr lang="en-US" sz="4400" b="1" dirty="0">
                <a:solidFill>
                  <a:schemeClr val="bg1"/>
                </a:solidFill>
              </a:rPr>
              <a:t>Learn space by </a:t>
            </a:r>
            <a:r>
              <a:rPr lang="en-US" sz="4400" b="1" dirty="0">
                <a:solidFill>
                  <a:schemeClr val="accent2"/>
                </a:solidFill>
              </a:rPr>
              <a:t>running it.</a:t>
            </a:r>
            <a:endParaRPr lang="en-US" sz="4400" dirty="0"/>
          </a:p>
        </p:txBody>
      </p:sp>
      <p:sp>
        <p:nvSpPr>
          <p:cNvPr id="6" name="Text 4"/>
          <p:cNvSpPr txBox="1"/>
          <p:nvPr/>
        </p:nvSpPr>
        <p:spPr>
          <a:xfrm>
            <a:off x="457200" y="2011680"/>
            <a:ext cx="4572000" cy="365760"/>
          </a:xfrm>
          <a:prstGeom prst="rect">
            <a:avLst/>
          </a:prstGeom>
          <a:noFill/>
          <a:ln/>
        </p:spPr>
        <p:txBody>
          <a:bodyPr wrap="square" lIns="0" tIns="0" rIns="0" bIns="0" rtlCol="0" anchor="ctr"/>
          <a:lstStyle/>
          <a:p>
            <a:pPr marL="0" indent="0">
              <a:buNone/>
            </a:pPr>
            <a:r>
              <a:rPr lang="en-US" sz="2200" b="1" kern="0" spc="400" dirty="0">
                <a:solidFill>
                  <a:schemeClr val="accent1"/>
                </a:solidFill>
              </a:rPr>
              <a:t>TEAM HOPE</a:t>
            </a:r>
            <a:endParaRPr lang="en-US" sz="2200" dirty="0"/>
          </a:p>
        </p:txBody>
      </p:sp>
      <p:sp>
        <p:nvSpPr>
          <p:cNvPr id="7" name="Text 5"/>
          <p:cNvSpPr txBox="1"/>
          <p:nvPr/>
        </p:nvSpPr>
        <p:spPr>
          <a:xfrm>
            <a:off x="457200" y="2468880"/>
            <a:ext cx="5486400" cy="822960"/>
          </a:xfrm>
          <a:prstGeom prst="rect">
            <a:avLst/>
          </a:prstGeom>
          <a:noFill/>
          <a:ln/>
        </p:spPr>
        <p:txBody>
          <a:bodyPr wrap="square" lIns="0" tIns="0" rIns="0" bIns="0" rtlCol="0" anchor="t"/>
          <a:lstStyle/>
          <a:p>
            <a:pPr marL="0" indent="0">
              <a:spcAft>
                <a:spcPts val="600"/>
              </a:spcAft>
              <a:buNone/>
            </a:pPr>
            <a:r>
              <a:rPr lang="en-US" sz="1800" b="1" dirty="0">
                <a:solidFill>
                  <a:schemeClr val="bg1"/>
                </a:solidFill>
              </a:rPr>
              <a:t>Tasnimul Jannat Niha</a:t>
            </a:r>
            <a:r>
              <a:rPr lang="en-US" sz="1800" dirty="0">
                <a:solidFill>
                  <a:schemeClr val="accent6"/>
                </a:solidFill>
              </a:rPr>
              <a:t> </a:t>
            </a:r>
            <a:endParaRPr lang="en-US" sz="1800" dirty="0"/>
          </a:p>
          <a:p>
            <a:pPr marL="0" indent="0">
              <a:spcAft>
                <a:spcPts val="600"/>
              </a:spcAft>
              <a:buNone/>
            </a:pPr>
            <a:r>
              <a:rPr lang="en-US" sz="1800" b="1" dirty="0">
                <a:solidFill>
                  <a:schemeClr val="bg1"/>
                </a:solidFill>
              </a:rPr>
              <a:t>Umme Kulsum Neha</a:t>
            </a:r>
            <a:r>
              <a:rPr lang="en-US" sz="1800" dirty="0">
                <a:solidFill>
                  <a:schemeClr val="accent6"/>
                </a:solidFill>
              </a:rPr>
              <a:t> </a:t>
            </a:r>
            <a:endParaRPr lang="en-US" sz="1800" dirty="0"/>
          </a:p>
        </p:txBody>
      </p:sp>
      <p:sp>
        <p:nvSpPr>
          <p:cNvPr id="8" name="Shape 6"/>
          <p:cNvSpPr/>
          <p:nvPr/>
        </p:nvSpPr>
        <p:spPr>
          <a:xfrm>
            <a:off x="457200" y="3611880"/>
            <a:ext cx="6035040" cy="594360"/>
          </a:xfrm>
          <a:prstGeom prst="roundRect">
            <a:avLst>
              <a:gd name="adj" fmla="val 49231"/>
            </a:avLst>
          </a:prstGeom>
          <a:solidFill>
            <a:schemeClr val="accent2"/>
          </a:solidFill>
          <a:ln w="12700">
            <a:solidFill>
              <a:schemeClr val="accent2"/>
            </a:solidFill>
            <a:prstDash val="solid"/>
          </a:ln>
        </p:spPr>
      </p:sp>
      <p:sp>
        <p:nvSpPr>
          <p:cNvPr id="9" name="Text 7"/>
          <p:cNvSpPr txBox="1"/>
          <p:nvPr/>
        </p:nvSpPr>
        <p:spPr>
          <a:xfrm>
            <a:off x="457200" y="3611880"/>
            <a:ext cx="6035040" cy="594360"/>
          </a:xfrm>
          <a:prstGeom prst="rect">
            <a:avLst/>
          </a:prstGeom>
          <a:noFill/>
          <a:ln/>
        </p:spPr>
        <p:txBody>
          <a:bodyPr wrap="square" lIns="0" tIns="0" rIns="0" bIns="0" rtlCol="0" anchor="ctr"/>
          <a:lstStyle/>
          <a:p>
            <a:pPr marL="0" indent="0" algn="ctr">
              <a:buNone/>
            </a:pPr>
            <a:r>
              <a:rPr lang="en-US" sz="2200" b="1" dirty="0">
                <a:solidFill>
                  <a:schemeClr val="tx1"/>
                </a:solidFill>
              </a:rPr>
              <a:t>neharvard.github.io/Outpost_Commander</a:t>
            </a:r>
            <a:endParaRPr lang="en-US" sz="2200" dirty="0"/>
          </a:p>
        </p:txBody>
      </p:sp>
      <p:sp>
        <p:nvSpPr>
          <p:cNvPr id="10" name="Text 8"/>
          <p:cNvSpPr txBox="1"/>
          <p:nvPr/>
        </p:nvSpPr>
        <p:spPr>
          <a:xfrm>
            <a:off x="457200" y="4526280"/>
            <a:ext cx="7315200" cy="228600"/>
          </a:xfrm>
          <a:prstGeom prst="rect">
            <a:avLst/>
          </a:prstGeom>
          <a:noFill/>
          <a:ln/>
        </p:spPr>
        <p:txBody>
          <a:bodyPr wrap="square" lIns="0" tIns="0" rIns="0" bIns="0" rtlCol="0" anchor="ctr"/>
          <a:lstStyle/>
          <a:p>
            <a:pPr marL="0" indent="0">
              <a:buNone/>
            </a:pPr>
            <a:r>
              <a:rPr lang="en-US" sz="1100" dirty="0">
                <a:solidFill>
                  <a:schemeClr val="accent6"/>
                </a:solidFill>
              </a:rPr>
              <a:t>Built for the NASA Space Apps Challenge. Game numbers are simplified for learning.</a:t>
            </a:r>
            <a:endParaRPr lang="en-US" sz="1100" dirty="0"/>
          </a:p>
        </p:txBody>
      </p:sp>
      <p:sp>
        <p:nvSpPr>
          <p:cNvPr id="11" name="Shape 9"/>
          <p:cNvSpPr/>
          <p:nvPr/>
        </p:nvSpPr>
        <p:spPr>
          <a:xfrm>
            <a:off x="7589520" y="2286000"/>
            <a:ext cx="914400" cy="914400"/>
          </a:xfrm>
          <a:prstGeom prst="ellipse">
            <a:avLst/>
          </a:prstGeom>
          <a:solidFill>
            <a:schemeClr val="accent1"/>
          </a:solidFill>
          <a:ln w="12700">
            <a:solidFill>
              <a:schemeClr val="accent1"/>
            </a:solidFill>
            <a:prstDash val="solid"/>
          </a:ln>
        </p:spPr>
      </p:sp>
      <p:pic>
        <p:nvPicPr>
          <p:cNvPr id="12" name="Image 0" descr="preencoded.png"/>
          <p:cNvPicPr>
            <a:picLocks noChangeAspect="1"/>
          </p:cNvPicPr>
          <p:nvPr/>
        </p:nvPicPr>
        <p:blipFill>
          <a:blip r:embed="rId3"/>
          <a:stretch>
            <a:fillRect/>
          </a:stretch>
        </p:blipFill>
        <p:spPr>
          <a:xfrm>
            <a:off x="7818120" y="2514600"/>
            <a:ext cx="457200" cy="457200"/>
          </a:xfrm>
          <a:prstGeom prst="rect">
            <a:avLst/>
          </a:prstGeom>
        </p:spPr>
      </p:pic>
    </p:spTree>
  </p:cSld>
  <p:clrMapOvr>
    <a:masterClrMapping/>
  </p:clrMapOvr>
</p:sld>
</file>

<file path=ppt/theme/theme1.xml><?xml version="1.0" encoding="utf-8"?>
<a:theme xmlns:a="http://schemas.openxmlformats.org/drawingml/2006/main" name="Outpost Commander">
  <a:themeElements>
    <a:clrScheme name="Outpost Commander">
      <a:dk1>
        <a:srgbClr val="0A0F2C"/>
      </a:dk1>
      <a:lt1>
        <a:srgbClr val="FFFFFF"/>
      </a:lt1>
      <a:dk2>
        <a:srgbClr val="151D52"/>
      </a:dk2>
      <a:lt2>
        <a:srgbClr val="E6EAFF"/>
      </a:lt2>
      <a:accent1>
        <a:srgbClr val="FF8A1F"/>
      </a:accent1>
      <a:accent2>
        <a:srgbClr val="FFC83D"/>
      </a:accent2>
      <a:accent3>
        <a:srgbClr val="3B4A9E"/>
      </a:accent3>
      <a:accent4>
        <a:srgbClr val="3DDC97"/>
      </a:accent4>
      <a:accent5>
        <a:srgbClr val="FF5C5C"/>
      </a:accent5>
      <a:accent6>
        <a:srgbClr val="AEB8E8"/>
      </a:accent6>
      <a:hlink>
        <a:srgbClr val="FFC83D"/>
      </a:hlink>
      <a:folHlink>
        <a:srgbClr val="AEB8E8"/>
      </a:folHlink>
    </a:clrScheme>
    <a:fontScheme name="Outpost Commander">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TotalTime>
  <Words>1919</Words>
  <Application>Microsoft Office PowerPoint</Application>
  <PresentationFormat>On-screen Show (16:9)</PresentationFormat>
  <Paragraphs>211</Paragraphs>
  <Slides>18</Slides>
  <Notes>18</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18</vt:i4>
      </vt:variant>
    </vt:vector>
  </HeadingPairs>
  <TitlesOfParts>
    <vt:vector size="20" baseType="lpstr">
      <vt:lpstr>Arial</vt:lpstr>
      <vt:lpstr>Outpost Commander</vt:lpstr>
      <vt:lpstr>PowerPoint Presentation</vt:lpstr>
      <vt:lpstr>PowerPoint Presentation</vt:lpstr>
      <vt:lpstr>Meet Team : Hope</vt:lpstr>
      <vt:lpstr>Why we built it</vt:lpstr>
      <vt:lpstr>The problem</vt:lpstr>
      <vt:lpstr>Who it affects</vt:lpstr>
      <vt:lpstr>One dusty week</vt:lpstr>
      <vt:lpstr>What is Outpost Commander?</vt:lpstr>
      <vt:lpstr>How it plays</vt:lpstr>
      <vt:lpstr>Build your base</vt:lpstr>
      <vt:lpstr>Survive 30 days</vt:lpstr>
      <vt:lpstr>Solar flare: your choice</vt:lpstr>
      <vt:lpstr>Report and lessons</vt:lpstr>
      <vt:lpstr>What players learn</vt:lpstr>
      <vt:lpstr>Skills and reach</vt:lpstr>
      <vt:lpstr>What comes next</vt:lpstr>
      <vt:lpstr>What we need next</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Outpost Commander - Team Hope</dc:title>
  <dc:subject>PptxGenJS Presentation</dc:subject>
  <dc:creator>Team Hope</dc:creator>
  <cp:lastModifiedBy>Asus</cp:lastModifiedBy>
  <cp:revision>3</cp:revision>
  <dcterms:created xsi:type="dcterms:W3CDTF">2026-10-10T14:09:31Z</dcterms:created>
  <dcterms:modified xsi:type="dcterms:W3CDTF">2026-10-10T14:44:58Z</dcterms:modified>
</cp:coreProperties>
</file>